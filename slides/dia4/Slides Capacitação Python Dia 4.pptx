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22.xml"/>
  <Override ContentType="application/vnd.openxmlformats-officedocument.presentationml.slide+xml" PartName="/ppt/slides/slide23.xml"/>
  <Override ContentType="application/vnd.openxmlformats-officedocument.presentationml.slide+xml" PartName="/ppt/slides/slide24.xml"/>
  <Override ContentType="application/vnd.openxmlformats-officedocument.presentationml.slide+xml" PartName="/ppt/slides/slide25.xml"/>
  <Override ContentType="application/vnd.openxmlformats-officedocument.presentationml.slide+xml" PartName="/ppt/slides/slide26.xml"/>
  <Override ContentType="application/vnd.openxmlformats-officedocument.presentationml.slide+xml" PartName="/ppt/slides/slide27.xml"/>
  <Override ContentType="application/vnd.openxmlformats-officedocument.presentationml.slide+xml" PartName="/ppt/slides/slide28.xml"/>
  <Override ContentType="application/vnd.openxmlformats-officedocument.presentationml.slide+xml" PartName="/ppt/slides/slide29.xml"/>
  <Override ContentType="application/vnd.openxmlformats-officedocument.presentationml.slide+xml" PartName="/ppt/slides/slide30.xml"/>
  <Override ContentType="application/vnd.openxmlformats-officedocument.presentationml.slide+xml" PartName="/ppt/slides/slide31.xml"/>
  <Override ContentType="application/vnd.openxmlformats-officedocument.presentationml.slide+xml" PartName="/ppt/slides/slide32.xml"/>
  <Override ContentType="application/vnd.openxmlformats-officedocument.presentationml.slide+xml" PartName="/ppt/slides/slide33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</p:sldIdLst>
  <p:sldSz cx="18288000" cy="10287000"/>
  <p:notesSz cx="6858000" cy="9144000"/>
  <p:embeddedFontLst>
    <p:embeddedFont>
      <p:font typeface="JetBrains Mono" charset="1" panose="02010509020102050004"/>
      <p:regular r:id="rId39"/>
    </p:embeddedFont>
    <p:embeddedFont>
      <p:font typeface="Lucida Console" charset="1" panose="020B0609040504020204"/>
      <p:regular r:id="rId40"/>
    </p:embeddedFont>
    <p:embeddedFont>
      <p:font typeface="Roboto Mono" charset="1" panose="00000000000000000000"/>
      <p:regular r:id="rId41"/>
    </p:embeddedFont>
    <p:embeddedFont>
      <p:font typeface="Roboto Mono Bold" charset="1" panose="00000000000000000000"/>
      <p:regular r:id="rId4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slides/slide18.xml" Type="http://schemas.openxmlformats.org/officeDocument/2006/relationships/slide"/><Relationship Id="rId24" Target="slides/slide19.xml" Type="http://schemas.openxmlformats.org/officeDocument/2006/relationships/slide"/><Relationship Id="rId25" Target="slides/slide20.xml" Type="http://schemas.openxmlformats.org/officeDocument/2006/relationships/slide"/><Relationship Id="rId26" Target="slides/slide21.xml" Type="http://schemas.openxmlformats.org/officeDocument/2006/relationships/slide"/><Relationship Id="rId27" Target="slides/slide22.xml" Type="http://schemas.openxmlformats.org/officeDocument/2006/relationships/slide"/><Relationship Id="rId28" Target="slides/slide23.xml" Type="http://schemas.openxmlformats.org/officeDocument/2006/relationships/slide"/><Relationship Id="rId29" Target="slides/slide24.xml" Type="http://schemas.openxmlformats.org/officeDocument/2006/relationships/slide"/><Relationship Id="rId3" Target="viewProps.xml" Type="http://schemas.openxmlformats.org/officeDocument/2006/relationships/viewProps"/><Relationship Id="rId30" Target="slides/slide25.xml" Type="http://schemas.openxmlformats.org/officeDocument/2006/relationships/slide"/><Relationship Id="rId31" Target="slides/slide26.xml" Type="http://schemas.openxmlformats.org/officeDocument/2006/relationships/slide"/><Relationship Id="rId32" Target="slides/slide27.xml" Type="http://schemas.openxmlformats.org/officeDocument/2006/relationships/slide"/><Relationship Id="rId33" Target="slides/slide28.xml" Type="http://schemas.openxmlformats.org/officeDocument/2006/relationships/slide"/><Relationship Id="rId34" Target="slides/slide29.xml" Type="http://schemas.openxmlformats.org/officeDocument/2006/relationships/slide"/><Relationship Id="rId35" Target="slides/slide30.xml" Type="http://schemas.openxmlformats.org/officeDocument/2006/relationships/slide"/><Relationship Id="rId36" Target="slides/slide31.xml" Type="http://schemas.openxmlformats.org/officeDocument/2006/relationships/slide"/><Relationship Id="rId37" Target="slides/slide32.xml" Type="http://schemas.openxmlformats.org/officeDocument/2006/relationships/slide"/><Relationship Id="rId38" Target="slides/slide33.xml" Type="http://schemas.openxmlformats.org/officeDocument/2006/relationships/slide"/><Relationship Id="rId39" Target="fonts/font39.fntdata" Type="http://schemas.openxmlformats.org/officeDocument/2006/relationships/font"/><Relationship Id="rId4" Target="theme/theme1.xml" Type="http://schemas.openxmlformats.org/officeDocument/2006/relationships/theme"/><Relationship Id="rId40" Target="fonts/font40.fntdata" Type="http://schemas.openxmlformats.org/officeDocument/2006/relationships/font"/><Relationship Id="rId41" Target="fonts/font41.fntdata" Type="http://schemas.openxmlformats.org/officeDocument/2006/relationships/font"/><Relationship Id="rId42" Target="fonts/font42.fntdata" Type="http://schemas.openxmlformats.org/officeDocument/2006/relationships/font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>
  <p:cSld>
    <p:bg>
      <p:bgPr>
        <a:solidFill>
          <a:srgbClr val="2222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69299" y="-93824"/>
            <a:ext cx="18426598" cy="10380824"/>
            <a:chOff x="0" y="0"/>
            <a:chExt cx="24568798" cy="13841099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568074"/>
              <a:ext cx="1868196" cy="13273025"/>
              <a:chOff x="0" y="0"/>
              <a:chExt cx="369026" cy="2621832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369026" cy="2621832"/>
              </a:xfrm>
              <a:custGeom>
                <a:avLst/>
                <a:gdLst/>
                <a:ahLst/>
                <a:cxnLst/>
                <a:rect r="r" b="b" t="t" l="l"/>
                <a:pathLst>
                  <a:path h="2621832" w="369026">
                    <a:moveTo>
                      <a:pt x="0" y="0"/>
                    </a:moveTo>
                    <a:lnTo>
                      <a:pt x="369026" y="0"/>
                    </a:lnTo>
                    <a:lnTo>
                      <a:pt x="369026" y="2621832"/>
                    </a:lnTo>
                    <a:lnTo>
                      <a:pt x="0" y="2621832"/>
                    </a:lnTo>
                    <a:close/>
                  </a:path>
                </a:pathLst>
              </a:custGeom>
              <a:solidFill>
                <a:srgbClr val="222222"/>
              </a:solidFill>
              <a:ln w="38100" cap="sq">
                <a:solidFill>
                  <a:srgbClr val="444444"/>
                </a:solidFill>
                <a:prstDash val="solid"/>
                <a:miter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161925"/>
                <a:ext cx="369026" cy="278375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r">
                  <a:lnSpc>
                    <a:spcPts val="5039"/>
                  </a:lnSpc>
                </a:pP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2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3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4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5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6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7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8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9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10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11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12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13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14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15 </a:t>
                </a: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61599" y="0"/>
              <a:ext cx="24507199" cy="1471299"/>
              <a:chOff x="0" y="0"/>
              <a:chExt cx="4840928" cy="290627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4840928" cy="290627"/>
              </a:xfrm>
              <a:custGeom>
                <a:avLst/>
                <a:gdLst/>
                <a:ahLst/>
                <a:cxnLst/>
                <a:rect r="r" b="b" t="t" l="l"/>
                <a:pathLst>
                  <a:path h="290627" w="4840928">
                    <a:moveTo>
                      <a:pt x="0" y="0"/>
                    </a:moveTo>
                    <a:lnTo>
                      <a:pt x="4840928" y="0"/>
                    </a:lnTo>
                    <a:lnTo>
                      <a:pt x="4840928" y="290627"/>
                    </a:lnTo>
                    <a:lnTo>
                      <a:pt x="0" y="290627"/>
                    </a:lnTo>
                    <a:close/>
                  </a:path>
                </a:pathLst>
              </a:custGeom>
              <a:solidFill>
                <a:srgbClr val="444444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4840928" cy="32872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302597" y="554790"/>
              <a:ext cx="361720" cy="361720"/>
              <a:chOff x="0" y="0"/>
              <a:chExt cx="812800" cy="812800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E85050"/>
              </a:solidFill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816759" y="554790"/>
              <a:ext cx="361720" cy="361720"/>
              <a:chOff x="0" y="0"/>
              <a:chExt cx="812800" cy="81280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4D074"/>
              </a:solidFill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1330879" y="554790"/>
              <a:ext cx="361720" cy="361720"/>
              <a:chOff x="0" y="0"/>
              <a:chExt cx="812800" cy="81280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56D673"/>
              </a:solidFill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8" id="18"/>
            <p:cNvGrpSpPr/>
            <p:nvPr/>
          </p:nvGrpSpPr>
          <p:grpSpPr>
            <a:xfrm rot="0">
              <a:off x="1868196" y="554790"/>
              <a:ext cx="5082789" cy="1043510"/>
              <a:chOff x="0" y="0"/>
              <a:chExt cx="1004008" cy="206125"/>
            </a:xfrm>
          </p:grpSpPr>
          <p:sp>
            <p:nvSpPr>
              <p:cNvPr name="Freeform 19" id="19"/>
              <p:cNvSpPr/>
              <p:nvPr/>
            </p:nvSpPr>
            <p:spPr>
              <a:xfrm flipH="false" flipV="false" rot="0">
                <a:off x="0" y="0"/>
                <a:ext cx="1004008" cy="206125"/>
              </a:xfrm>
              <a:custGeom>
                <a:avLst/>
                <a:gdLst/>
                <a:ahLst/>
                <a:cxnLst/>
                <a:rect r="r" b="b" t="t" l="l"/>
                <a:pathLst>
                  <a:path h="206125" w="1004008">
                    <a:moveTo>
                      <a:pt x="30463" y="0"/>
                    </a:moveTo>
                    <a:lnTo>
                      <a:pt x="973544" y="0"/>
                    </a:lnTo>
                    <a:cubicBezTo>
                      <a:pt x="990369" y="0"/>
                      <a:pt x="1004008" y="13639"/>
                      <a:pt x="1004008" y="30463"/>
                    </a:cubicBezTo>
                    <a:lnTo>
                      <a:pt x="1004008" y="175662"/>
                    </a:lnTo>
                    <a:cubicBezTo>
                      <a:pt x="1004008" y="192486"/>
                      <a:pt x="990369" y="206125"/>
                      <a:pt x="973544" y="206125"/>
                    </a:cubicBezTo>
                    <a:lnTo>
                      <a:pt x="30463" y="206125"/>
                    </a:lnTo>
                    <a:cubicBezTo>
                      <a:pt x="13639" y="206125"/>
                      <a:pt x="0" y="192486"/>
                      <a:pt x="0" y="175662"/>
                    </a:cubicBezTo>
                    <a:lnTo>
                      <a:pt x="0" y="30463"/>
                    </a:lnTo>
                    <a:cubicBezTo>
                      <a:pt x="0" y="13639"/>
                      <a:pt x="13639" y="0"/>
                      <a:pt x="30463" y="0"/>
                    </a:cubicBezTo>
                    <a:close/>
                  </a:path>
                </a:pathLst>
              </a:custGeom>
              <a:solidFill>
                <a:srgbClr val="222222"/>
              </a:solidFill>
            </p:spPr>
          </p:sp>
          <p:sp>
            <p:nvSpPr>
              <p:cNvPr name="TextBox 20" id="20"/>
              <p:cNvSpPr txBox="true"/>
              <p:nvPr/>
            </p:nvSpPr>
            <p:spPr>
              <a:xfrm>
                <a:off x="0" y="-38100"/>
                <a:ext cx="1004008" cy="2442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sp>
          <p:nvSpPr>
            <p:cNvPr name="TextBox 21" id="21"/>
            <p:cNvSpPr txBox="true"/>
            <p:nvPr/>
          </p:nvSpPr>
          <p:spPr>
            <a:xfrm rot="0">
              <a:off x="6477028" y="838445"/>
              <a:ext cx="224631" cy="49381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079"/>
                </a:lnSpc>
              </a:pPr>
              <a:r>
                <a:rPr lang="en-US" sz="2199">
                  <a:solidFill>
                    <a:srgbClr val="9B9B9B"/>
                  </a:solidFill>
                  <a:latin typeface="Lucida Console"/>
                  <a:ea typeface="Lucida Console"/>
                  <a:cs typeface="Lucida Console"/>
                  <a:sym typeface="Lucida Console"/>
                </a:rPr>
                <a:t>X</a:t>
              </a:r>
            </a:p>
          </p:txBody>
        </p:sp>
        <p:sp>
          <p:nvSpPr>
            <p:cNvPr name="TextBox 22" id="22"/>
            <p:cNvSpPr txBox="true"/>
            <p:nvPr/>
          </p:nvSpPr>
          <p:spPr>
            <a:xfrm rot="0">
              <a:off x="2069427" y="763092"/>
              <a:ext cx="4610634" cy="56917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640"/>
                </a:lnSpc>
              </a:pPr>
              <a:r>
                <a:rPr lang="en-US" sz="2600">
                  <a:solidFill>
                    <a:srgbClr val="E2E8E8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revisao_dia_3.py</a:t>
              </a: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1459671" y="819150"/>
            <a:ext cx="16576040" cy="11423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800"/>
              </a:lnSpc>
            </a:pPr>
            <a:r>
              <a:rPr lang="en-US" sz="5600" b="true">
                <a:solidFill>
                  <a:srgbClr val="42A458"/>
                </a:solidFill>
                <a:latin typeface="Roboto Mono Bold"/>
                <a:ea typeface="Roboto Mono Bold"/>
                <a:cs typeface="Roboto Mono Bold"/>
                <a:sym typeface="Roboto Mono Bold"/>
              </a:rPr>
              <a:t># Revisão do Dia 3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459671" y="2179002"/>
            <a:ext cx="16576040" cy="73767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 </a:t>
            </a: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# Listas</a:t>
            </a:r>
          </a:p>
          <a:p>
            <a:pPr algn="just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 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lst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: </a:t>
            </a:r>
            <a:r>
              <a:rPr lang="en-US" sz="2799">
                <a:solidFill>
                  <a:srgbClr val="0BFFA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list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[</a:t>
            </a:r>
            <a:r>
              <a:rPr lang="en-US" sz="2799">
                <a:solidFill>
                  <a:srgbClr val="0BFFA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int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] = [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2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, 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1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, 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4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]</a:t>
            </a:r>
          </a:p>
          <a:p>
            <a:pPr algn="just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 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lst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</a:t>
            </a:r>
            <a:r>
              <a:rPr lang="en-US" sz="2799">
                <a:solidFill>
                  <a:srgbClr val="F4D074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pop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()</a:t>
            </a:r>
          </a:p>
          <a:p>
            <a:pPr algn="just">
              <a:lnSpc>
                <a:spcPts val="4899"/>
              </a:lnSpc>
            </a:pP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4</a:t>
            </a:r>
          </a:p>
          <a:p>
            <a:pPr algn="just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 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lst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</a:t>
            </a:r>
            <a:r>
              <a:rPr lang="en-US" sz="2799">
                <a:solidFill>
                  <a:srgbClr val="F4D074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append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(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5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)</a:t>
            </a:r>
          </a:p>
          <a:p>
            <a:pPr algn="just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 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lst</a:t>
            </a:r>
          </a:p>
          <a:p>
            <a:pPr algn="just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[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2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, 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1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, 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5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]</a:t>
            </a:r>
          </a:p>
          <a:p>
            <a:pPr algn="just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 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lst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</a:t>
            </a:r>
            <a:r>
              <a:rPr lang="en-US" sz="2799">
                <a:solidFill>
                  <a:srgbClr val="F4D074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insert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(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2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, 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8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)</a:t>
            </a:r>
          </a:p>
          <a:p>
            <a:pPr algn="just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 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lst</a:t>
            </a:r>
          </a:p>
          <a:p>
            <a:pPr algn="just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[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2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,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1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,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8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,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5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]</a:t>
            </a:r>
          </a:p>
          <a:p>
            <a:pPr algn="just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 </a:t>
            </a:r>
            <a:r>
              <a:rPr lang="en-US" sz="2799">
                <a:solidFill>
                  <a:srgbClr val="F4D074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len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(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lst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)</a:t>
            </a:r>
          </a:p>
          <a:p>
            <a:pPr algn="just">
              <a:lnSpc>
                <a:spcPts val="4899"/>
              </a:lnSpc>
            </a:pP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4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8971280" y="2179002"/>
            <a:ext cx="16576040" cy="79959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 </a:t>
            </a: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# Laços de Repetição</a:t>
            </a:r>
          </a:p>
          <a:p>
            <a:pPr algn="just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 </a:t>
            </a: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# for i in lista</a:t>
            </a:r>
          </a:p>
          <a:p>
            <a:pPr algn="just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 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soma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: </a:t>
            </a:r>
            <a:r>
              <a:rPr lang="en-US" sz="2799">
                <a:solidFill>
                  <a:srgbClr val="0BFFA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int 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= 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</a:t>
            </a:r>
          </a:p>
          <a:p>
            <a:pPr algn="just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 </a:t>
            </a:r>
            <a:r>
              <a:rPr lang="en-US" sz="2799">
                <a:solidFill>
                  <a:srgbClr val="B45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for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num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</a:t>
            </a:r>
            <a:r>
              <a:rPr lang="en-US" sz="2799">
                <a:solidFill>
                  <a:srgbClr val="B45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in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lst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:</a:t>
            </a:r>
          </a:p>
          <a:p>
            <a:pPr algn="just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...     </a:t>
            </a:r>
            <a:r>
              <a:rPr lang="en-US" sz="2799">
                <a:solidFill>
                  <a:srgbClr val="F4D074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print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(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num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)</a:t>
            </a:r>
          </a:p>
          <a:p>
            <a:pPr algn="just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...     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soma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+= 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num</a:t>
            </a:r>
          </a:p>
          <a:p>
            <a:pPr algn="just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...</a:t>
            </a:r>
          </a:p>
          <a:p>
            <a:pPr algn="just">
              <a:lnSpc>
                <a:spcPts val="4899"/>
              </a:lnSpc>
            </a:pP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2</a:t>
            </a:r>
          </a:p>
          <a:p>
            <a:pPr algn="just">
              <a:lnSpc>
                <a:spcPts val="4899"/>
              </a:lnSpc>
            </a:pP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1</a:t>
            </a:r>
          </a:p>
          <a:p>
            <a:pPr algn="just">
              <a:lnSpc>
                <a:spcPts val="4899"/>
              </a:lnSpc>
            </a:pP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8</a:t>
            </a:r>
          </a:p>
          <a:p>
            <a:pPr algn="just">
              <a:lnSpc>
                <a:spcPts val="4899"/>
              </a:lnSpc>
            </a:pP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5</a:t>
            </a:r>
          </a:p>
          <a:p>
            <a:pPr algn="just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 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soma</a:t>
            </a:r>
          </a:p>
          <a:p>
            <a:pPr algn="just">
              <a:lnSpc>
                <a:spcPts val="4899"/>
              </a:lnSpc>
            </a:pP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16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bg>
      <p:bgPr>
        <a:solidFill>
          <a:srgbClr val="2222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69299" y="-93824"/>
            <a:ext cx="18426598" cy="10380824"/>
            <a:chOff x="0" y="0"/>
            <a:chExt cx="24568798" cy="13841099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568074"/>
              <a:ext cx="1868196" cy="13273025"/>
              <a:chOff x="0" y="0"/>
              <a:chExt cx="369026" cy="2621832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369026" cy="2621832"/>
              </a:xfrm>
              <a:custGeom>
                <a:avLst/>
                <a:gdLst/>
                <a:ahLst/>
                <a:cxnLst/>
                <a:rect r="r" b="b" t="t" l="l"/>
                <a:pathLst>
                  <a:path h="2621832" w="369026">
                    <a:moveTo>
                      <a:pt x="0" y="0"/>
                    </a:moveTo>
                    <a:lnTo>
                      <a:pt x="369026" y="0"/>
                    </a:lnTo>
                    <a:lnTo>
                      <a:pt x="369026" y="2621832"/>
                    </a:lnTo>
                    <a:lnTo>
                      <a:pt x="0" y="2621832"/>
                    </a:lnTo>
                    <a:close/>
                  </a:path>
                </a:pathLst>
              </a:custGeom>
              <a:solidFill>
                <a:srgbClr val="222222"/>
              </a:solidFill>
              <a:ln w="38100" cap="sq">
                <a:solidFill>
                  <a:srgbClr val="444444"/>
                </a:solidFill>
                <a:prstDash val="solid"/>
                <a:miter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161925"/>
                <a:ext cx="369026" cy="278375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r">
                  <a:lnSpc>
                    <a:spcPts val="5039"/>
                  </a:lnSpc>
                </a:pP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2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3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4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5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6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7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8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9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10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11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12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13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14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15 </a:t>
                </a: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61599" y="0"/>
              <a:ext cx="24507199" cy="1471299"/>
              <a:chOff x="0" y="0"/>
              <a:chExt cx="4840928" cy="290627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4840928" cy="290627"/>
              </a:xfrm>
              <a:custGeom>
                <a:avLst/>
                <a:gdLst/>
                <a:ahLst/>
                <a:cxnLst/>
                <a:rect r="r" b="b" t="t" l="l"/>
                <a:pathLst>
                  <a:path h="290627" w="4840928">
                    <a:moveTo>
                      <a:pt x="0" y="0"/>
                    </a:moveTo>
                    <a:lnTo>
                      <a:pt x="4840928" y="0"/>
                    </a:lnTo>
                    <a:lnTo>
                      <a:pt x="4840928" y="290627"/>
                    </a:lnTo>
                    <a:lnTo>
                      <a:pt x="0" y="290627"/>
                    </a:lnTo>
                    <a:close/>
                  </a:path>
                </a:pathLst>
              </a:custGeom>
              <a:solidFill>
                <a:srgbClr val="444444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4840928" cy="32872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302597" y="554790"/>
              <a:ext cx="361720" cy="361720"/>
              <a:chOff x="0" y="0"/>
              <a:chExt cx="812800" cy="812800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E85050"/>
              </a:solidFill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816759" y="554790"/>
              <a:ext cx="361720" cy="361720"/>
              <a:chOff x="0" y="0"/>
              <a:chExt cx="812800" cy="81280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4D074"/>
              </a:solidFill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1330879" y="554790"/>
              <a:ext cx="361720" cy="361720"/>
              <a:chOff x="0" y="0"/>
              <a:chExt cx="812800" cy="81280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56D673"/>
              </a:solidFill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8" id="18"/>
            <p:cNvGrpSpPr/>
            <p:nvPr/>
          </p:nvGrpSpPr>
          <p:grpSpPr>
            <a:xfrm rot="0">
              <a:off x="1868196" y="554790"/>
              <a:ext cx="5082789" cy="1043510"/>
              <a:chOff x="0" y="0"/>
              <a:chExt cx="1004008" cy="206125"/>
            </a:xfrm>
          </p:grpSpPr>
          <p:sp>
            <p:nvSpPr>
              <p:cNvPr name="Freeform 19" id="19"/>
              <p:cNvSpPr/>
              <p:nvPr/>
            </p:nvSpPr>
            <p:spPr>
              <a:xfrm flipH="false" flipV="false" rot="0">
                <a:off x="0" y="0"/>
                <a:ext cx="1004008" cy="206125"/>
              </a:xfrm>
              <a:custGeom>
                <a:avLst/>
                <a:gdLst/>
                <a:ahLst/>
                <a:cxnLst/>
                <a:rect r="r" b="b" t="t" l="l"/>
                <a:pathLst>
                  <a:path h="206125" w="1004008">
                    <a:moveTo>
                      <a:pt x="30463" y="0"/>
                    </a:moveTo>
                    <a:lnTo>
                      <a:pt x="973544" y="0"/>
                    </a:lnTo>
                    <a:cubicBezTo>
                      <a:pt x="990369" y="0"/>
                      <a:pt x="1004008" y="13639"/>
                      <a:pt x="1004008" y="30463"/>
                    </a:cubicBezTo>
                    <a:lnTo>
                      <a:pt x="1004008" y="175662"/>
                    </a:lnTo>
                    <a:cubicBezTo>
                      <a:pt x="1004008" y="192486"/>
                      <a:pt x="990369" y="206125"/>
                      <a:pt x="973544" y="206125"/>
                    </a:cubicBezTo>
                    <a:lnTo>
                      <a:pt x="30463" y="206125"/>
                    </a:lnTo>
                    <a:cubicBezTo>
                      <a:pt x="13639" y="206125"/>
                      <a:pt x="0" y="192486"/>
                      <a:pt x="0" y="175662"/>
                    </a:cubicBezTo>
                    <a:lnTo>
                      <a:pt x="0" y="30463"/>
                    </a:lnTo>
                    <a:cubicBezTo>
                      <a:pt x="0" y="13639"/>
                      <a:pt x="13639" y="0"/>
                      <a:pt x="30463" y="0"/>
                    </a:cubicBezTo>
                    <a:close/>
                  </a:path>
                </a:pathLst>
              </a:custGeom>
              <a:solidFill>
                <a:srgbClr val="222222"/>
              </a:solidFill>
            </p:spPr>
          </p:sp>
          <p:sp>
            <p:nvSpPr>
              <p:cNvPr name="TextBox 20" id="20"/>
              <p:cNvSpPr txBox="true"/>
              <p:nvPr/>
            </p:nvSpPr>
            <p:spPr>
              <a:xfrm>
                <a:off x="0" y="-38100"/>
                <a:ext cx="1004008" cy="2442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sp>
          <p:nvSpPr>
            <p:cNvPr name="TextBox 21" id="21"/>
            <p:cNvSpPr txBox="true"/>
            <p:nvPr/>
          </p:nvSpPr>
          <p:spPr>
            <a:xfrm rot="0">
              <a:off x="6477028" y="838445"/>
              <a:ext cx="224631" cy="49381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079"/>
                </a:lnSpc>
              </a:pPr>
              <a:r>
                <a:rPr lang="en-US" sz="2199">
                  <a:solidFill>
                    <a:srgbClr val="9B9B9B"/>
                  </a:solidFill>
                  <a:latin typeface="Lucida Console"/>
                  <a:ea typeface="Lucida Console"/>
                  <a:cs typeface="Lucida Console"/>
                  <a:sym typeface="Lucida Console"/>
                </a:rPr>
                <a:t>X</a:t>
              </a:r>
            </a:p>
          </p:txBody>
        </p:sp>
        <p:sp>
          <p:nvSpPr>
            <p:cNvPr name="TextBox 22" id="22"/>
            <p:cNvSpPr txBox="true"/>
            <p:nvPr/>
          </p:nvSpPr>
          <p:spPr>
            <a:xfrm rot="0">
              <a:off x="2069427" y="763092"/>
              <a:ext cx="4610634" cy="56917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640"/>
                </a:lnSpc>
              </a:pPr>
              <a:r>
                <a:rPr lang="en-US" sz="2600">
                  <a:solidFill>
                    <a:srgbClr val="E2E8E8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revisao_dia_3.py</a:t>
              </a: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1459671" y="1567180"/>
            <a:ext cx="16576040" cy="73767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 </a:t>
            </a: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# for i in range</a:t>
            </a:r>
          </a:p>
          <a:p>
            <a:pPr algn="just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 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soma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= 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</a:t>
            </a:r>
          </a:p>
          <a:p>
            <a:pPr algn="just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 </a:t>
            </a:r>
            <a:r>
              <a:rPr lang="en-US" sz="2799">
                <a:solidFill>
                  <a:srgbClr val="B45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for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i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</a:t>
            </a:r>
            <a:r>
              <a:rPr lang="en-US" sz="2799">
                <a:solidFill>
                  <a:srgbClr val="B45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in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</a:t>
            </a:r>
            <a:r>
              <a:rPr lang="en-US" sz="2799">
                <a:solidFill>
                  <a:srgbClr val="F4D074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range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(</a:t>
            </a:r>
            <a:r>
              <a:rPr lang="en-US" sz="2799">
                <a:solidFill>
                  <a:srgbClr val="F4D074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len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(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lst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)):</a:t>
            </a:r>
          </a:p>
          <a:p>
            <a:pPr algn="just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...     </a:t>
            </a:r>
            <a:r>
              <a:rPr lang="en-US" sz="2799">
                <a:solidFill>
                  <a:srgbClr val="F4D074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print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(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lst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[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i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])</a:t>
            </a:r>
          </a:p>
          <a:p>
            <a:pPr algn="just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...     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soma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+= 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lst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[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i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]</a:t>
            </a:r>
          </a:p>
          <a:p>
            <a:pPr algn="just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...</a:t>
            </a:r>
          </a:p>
          <a:p>
            <a:pPr algn="just">
              <a:lnSpc>
                <a:spcPts val="4899"/>
              </a:lnSpc>
            </a:pP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2</a:t>
            </a:r>
          </a:p>
          <a:p>
            <a:pPr algn="just">
              <a:lnSpc>
                <a:spcPts val="4899"/>
              </a:lnSpc>
            </a:pP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1</a:t>
            </a:r>
          </a:p>
          <a:p>
            <a:pPr algn="just">
              <a:lnSpc>
                <a:spcPts val="4899"/>
              </a:lnSpc>
            </a:pP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8</a:t>
            </a:r>
          </a:p>
          <a:p>
            <a:pPr algn="just">
              <a:lnSpc>
                <a:spcPts val="4899"/>
              </a:lnSpc>
            </a:pP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5</a:t>
            </a:r>
          </a:p>
          <a:p>
            <a:pPr algn="just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 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soma</a:t>
            </a:r>
          </a:p>
          <a:p>
            <a:pPr algn="just">
              <a:lnSpc>
                <a:spcPts val="4899"/>
              </a:lnSpc>
            </a:pP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16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8971280" y="1567180"/>
            <a:ext cx="16576040" cy="79959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 </a:t>
            </a: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# while *condição*</a:t>
            </a:r>
          </a:p>
          <a:p>
            <a:pPr algn="just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 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soma 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= 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</a:t>
            </a:r>
          </a:p>
          <a:p>
            <a:pPr algn="just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 </a:t>
            </a:r>
            <a:r>
              <a:rPr lang="en-US" sz="2799">
                <a:solidFill>
                  <a:srgbClr val="B45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while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i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&lt; </a:t>
            </a:r>
            <a:r>
              <a:rPr lang="en-US" sz="2799">
                <a:solidFill>
                  <a:srgbClr val="F4D074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len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(lst):</a:t>
            </a:r>
          </a:p>
          <a:p>
            <a:pPr algn="just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...     </a:t>
            </a:r>
            <a:r>
              <a:rPr lang="en-US" sz="2799">
                <a:solidFill>
                  <a:srgbClr val="F4D074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print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(lst[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i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]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, i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)</a:t>
            </a:r>
          </a:p>
          <a:p>
            <a:pPr algn="just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...     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soma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+= 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num</a:t>
            </a:r>
          </a:p>
          <a:p>
            <a:pPr algn="just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...     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i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+= 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1</a:t>
            </a:r>
          </a:p>
          <a:p>
            <a:pPr algn="just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...</a:t>
            </a:r>
          </a:p>
          <a:p>
            <a:pPr algn="just">
              <a:lnSpc>
                <a:spcPts val="4899"/>
              </a:lnSpc>
            </a:pP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2 0</a:t>
            </a:r>
          </a:p>
          <a:p>
            <a:pPr algn="just">
              <a:lnSpc>
                <a:spcPts val="4899"/>
              </a:lnSpc>
            </a:pP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1 1</a:t>
            </a:r>
          </a:p>
          <a:p>
            <a:pPr algn="just">
              <a:lnSpc>
                <a:spcPts val="4899"/>
              </a:lnSpc>
            </a:pP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8 2</a:t>
            </a:r>
          </a:p>
          <a:p>
            <a:pPr algn="just">
              <a:lnSpc>
                <a:spcPts val="4899"/>
              </a:lnSpc>
            </a:pP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5 3</a:t>
            </a:r>
          </a:p>
          <a:p>
            <a:pPr algn="just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 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soma</a:t>
            </a:r>
          </a:p>
          <a:p>
            <a:pPr algn="just">
              <a:lnSpc>
                <a:spcPts val="4899"/>
              </a:lnSpc>
            </a:pP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16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bg>
      <p:bgPr>
        <a:solidFill>
          <a:srgbClr val="2222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69299" y="-93824"/>
            <a:ext cx="18426598" cy="10380824"/>
            <a:chOff x="0" y="0"/>
            <a:chExt cx="24568798" cy="13841099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568074"/>
              <a:ext cx="1868196" cy="13273025"/>
              <a:chOff x="0" y="0"/>
              <a:chExt cx="369026" cy="2621832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369026" cy="2621832"/>
              </a:xfrm>
              <a:custGeom>
                <a:avLst/>
                <a:gdLst/>
                <a:ahLst/>
                <a:cxnLst/>
                <a:rect r="r" b="b" t="t" l="l"/>
                <a:pathLst>
                  <a:path h="2621832" w="369026">
                    <a:moveTo>
                      <a:pt x="0" y="0"/>
                    </a:moveTo>
                    <a:lnTo>
                      <a:pt x="369026" y="0"/>
                    </a:lnTo>
                    <a:lnTo>
                      <a:pt x="369026" y="2621832"/>
                    </a:lnTo>
                    <a:lnTo>
                      <a:pt x="0" y="2621832"/>
                    </a:lnTo>
                    <a:close/>
                  </a:path>
                </a:pathLst>
              </a:custGeom>
              <a:solidFill>
                <a:srgbClr val="222222"/>
              </a:solidFill>
              <a:ln w="38100" cap="sq">
                <a:solidFill>
                  <a:srgbClr val="444444"/>
                </a:solidFill>
                <a:prstDash val="solid"/>
                <a:miter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161925"/>
                <a:ext cx="369026" cy="278375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r">
                  <a:lnSpc>
                    <a:spcPts val="5039"/>
                  </a:lnSpc>
                </a:pP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2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3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4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5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6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7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8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9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10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11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12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13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14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15 </a:t>
                </a: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61599" y="0"/>
              <a:ext cx="24507199" cy="1471299"/>
              <a:chOff x="0" y="0"/>
              <a:chExt cx="4840928" cy="290627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4840928" cy="290627"/>
              </a:xfrm>
              <a:custGeom>
                <a:avLst/>
                <a:gdLst/>
                <a:ahLst/>
                <a:cxnLst/>
                <a:rect r="r" b="b" t="t" l="l"/>
                <a:pathLst>
                  <a:path h="290627" w="4840928">
                    <a:moveTo>
                      <a:pt x="0" y="0"/>
                    </a:moveTo>
                    <a:lnTo>
                      <a:pt x="4840928" y="0"/>
                    </a:lnTo>
                    <a:lnTo>
                      <a:pt x="4840928" y="290627"/>
                    </a:lnTo>
                    <a:lnTo>
                      <a:pt x="0" y="290627"/>
                    </a:lnTo>
                    <a:close/>
                  </a:path>
                </a:pathLst>
              </a:custGeom>
              <a:solidFill>
                <a:srgbClr val="444444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4840928" cy="32872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302597" y="554790"/>
              <a:ext cx="361720" cy="361720"/>
              <a:chOff x="0" y="0"/>
              <a:chExt cx="812800" cy="812800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E85050"/>
              </a:solidFill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816759" y="554790"/>
              <a:ext cx="361720" cy="361720"/>
              <a:chOff x="0" y="0"/>
              <a:chExt cx="812800" cy="81280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4D074"/>
              </a:solidFill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1330879" y="554790"/>
              <a:ext cx="361720" cy="361720"/>
              <a:chOff x="0" y="0"/>
              <a:chExt cx="812800" cy="81280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56D673"/>
              </a:solidFill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8" id="18"/>
            <p:cNvGrpSpPr/>
            <p:nvPr/>
          </p:nvGrpSpPr>
          <p:grpSpPr>
            <a:xfrm rot="0">
              <a:off x="1868196" y="554790"/>
              <a:ext cx="2897604" cy="1043510"/>
              <a:chOff x="0" y="0"/>
              <a:chExt cx="572366" cy="206125"/>
            </a:xfrm>
          </p:grpSpPr>
          <p:sp>
            <p:nvSpPr>
              <p:cNvPr name="Freeform 19" id="19"/>
              <p:cNvSpPr/>
              <p:nvPr/>
            </p:nvSpPr>
            <p:spPr>
              <a:xfrm flipH="false" flipV="false" rot="0">
                <a:off x="0" y="0"/>
                <a:ext cx="572366" cy="206125"/>
              </a:xfrm>
              <a:custGeom>
                <a:avLst/>
                <a:gdLst/>
                <a:ahLst/>
                <a:cxnLst/>
                <a:rect r="r" b="b" t="t" l="l"/>
                <a:pathLst>
                  <a:path h="206125" w="572366">
                    <a:moveTo>
                      <a:pt x="53437" y="0"/>
                    </a:moveTo>
                    <a:lnTo>
                      <a:pt x="518929" y="0"/>
                    </a:lnTo>
                    <a:cubicBezTo>
                      <a:pt x="548442" y="0"/>
                      <a:pt x="572366" y="23924"/>
                      <a:pt x="572366" y="53437"/>
                    </a:cubicBezTo>
                    <a:lnTo>
                      <a:pt x="572366" y="152689"/>
                    </a:lnTo>
                    <a:cubicBezTo>
                      <a:pt x="572366" y="182201"/>
                      <a:pt x="548442" y="206125"/>
                      <a:pt x="518929" y="206125"/>
                    </a:cubicBezTo>
                    <a:lnTo>
                      <a:pt x="53437" y="206125"/>
                    </a:lnTo>
                    <a:cubicBezTo>
                      <a:pt x="39264" y="206125"/>
                      <a:pt x="25673" y="200495"/>
                      <a:pt x="15651" y="190474"/>
                    </a:cubicBezTo>
                    <a:cubicBezTo>
                      <a:pt x="5630" y="180453"/>
                      <a:pt x="0" y="166861"/>
                      <a:pt x="0" y="152689"/>
                    </a:cubicBezTo>
                    <a:lnTo>
                      <a:pt x="0" y="53437"/>
                    </a:lnTo>
                    <a:cubicBezTo>
                      <a:pt x="0" y="39264"/>
                      <a:pt x="5630" y="25673"/>
                      <a:pt x="15651" y="15651"/>
                    </a:cubicBezTo>
                    <a:cubicBezTo>
                      <a:pt x="25673" y="5630"/>
                      <a:pt x="39264" y="0"/>
                      <a:pt x="53437" y="0"/>
                    </a:cubicBezTo>
                    <a:close/>
                  </a:path>
                </a:pathLst>
              </a:custGeom>
              <a:solidFill>
                <a:srgbClr val="222222"/>
              </a:solidFill>
            </p:spPr>
          </p:sp>
          <p:sp>
            <p:nvSpPr>
              <p:cNvPr name="TextBox 20" id="20"/>
              <p:cNvSpPr txBox="true"/>
              <p:nvPr/>
            </p:nvSpPr>
            <p:spPr>
              <a:xfrm>
                <a:off x="0" y="-38100"/>
                <a:ext cx="572366" cy="2442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sp>
          <p:nvSpPr>
            <p:cNvPr name="TextBox 21" id="21"/>
            <p:cNvSpPr txBox="true"/>
            <p:nvPr/>
          </p:nvSpPr>
          <p:spPr>
            <a:xfrm rot="0">
              <a:off x="4338873" y="838445"/>
              <a:ext cx="224631" cy="49381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079"/>
                </a:lnSpc>
              </a:pPr>
              <a:r>
                <a:rPr lang="en-US" sz="2199">
                  <a:solidFill>
                    <a:srgbClr val="9B9B9B"/>
                  </a:solidFill>
                  <a:latin typeface="Lucida Console"/>
                  <a:ea typeface="Lucida Console"/>
                  <a:cs typeface="Lucida Console"/>
                  <a:sym typeface="Lucida Console"/>
                </a:rPr>
                <a:t>X</a:t>
              </a:r>
            </a:p>
          </p:txBody>
        </p:sp>
        <p:sp>
          <p:nvSpPr>
            <p:cNvPr name="TextBox 22" id="22"/>
            <p:cNvSpPr txBox="true"/>
            <p:nvPr/>
          </p:nvSpPr>
          <p:spPr>
            <a:xfrm rot="0">
              <a:off x="2069427" y="763092"/>
              <a:ext cx="2340163" cy="56917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640"/>
                </a:lnSpc>
              </a:pPr>
              <a:r>
                <a:rPr lang="en-US" sz="2600">
                  <a:solidFill>
                    <a:srgbClr val="E2E8E8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dia_4.py</a:t>
              </a: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1450146" y="2786380"/>
            <a:ext cx="16576040" cy="61385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‘’’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Nós já vimos anteriormente como utilizar laços de repetição, mas como faríamos para reaproveitar uma mesma lógica em diferentes partes do programa de forma eficiente?</a:t>
            </a:r>
          </a:p>
          <a:p>
            <a:pPr algn="l">
              <a:lnSpc>
                <a:spcPts val="4899"/>
              </a:lnSpc>
            </a:pP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Vamos supor que o operador de multiplicação (*) não existisse na linguagem Python e que precisássemos fazer uma multiplicação por 2 em nosso programa. </a:t>
            </a:r>
          </a:p>
          <a:p>
            <a:pPr algn="l">
              <a:lnSpc>
                <a:spcPts val="4899"/>
              </a:lnSpc>
            </a:pP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Como fazer isso?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‘’’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459671" y="1000125"/>
            <a:ext cx="16576040" cy="9023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00"/>
              </a:lnSpc>
            </a:pPr>
            <a:r>
              <a:rPr lang="en-US" sz="4400" b="true">
                <a:solidFill>
                  <a:srgbClr val="42A458"/>
                </a:solidFill>
                <a:latin typeface="Roboto Mono Bold"/>
                <a:ea typeface="Roboto Mono Bold"/>
                <a:cs typeface="Roboto Mono Bold"/>
                <a:sym typeface="Roboto Mono Bold"/>
              </a:rPr>
              <a:t># Dia 4 – Funções e Tipos de Dados Personalizados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>
  <p:cSld>
    <p:bg>
      <p:bgPr>
        <a:solidFill>
          <a:srgbClr val="2222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69299" y="-93824"/>
            <a:ext cx="18426598" cy="10380824"/>
            <a:chOff x="0" y="0"/>
            <a:chExt cx="24568798" cy="13841099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568074"/>
              <a:ext cx="1868196" cy="13273025"/>
              <a:chOff x="0" y="0"/>
              <a:chExt cx="369026" cy="2621832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369026" cy="2621832"/>
              </a:xfrm>
              <a:custGeom>
                <a:avLst/>
                <a:gdLst/>
                <a:ahLst/>
                <a:cxnLst/>
                <a:rect r="r" b="b" t="t" l="l"/>
                <a:pathLst>
                  <a:path h="2621832" w="369026">
                    <a:moveTo>
                      <a:pt x="0" y="0"/>
                    </a:moveTo>
                    <a:lnTo>
                      <a:pt x="369026" y="0"/>
                    </a:lnTo>
                    <a:lnTo>
                      <a:pt x="369026" y="2621832"/>
                    </a:lnTo>
                    <a:lnTo>
                      <a:pt x="0" y="2621832"/>
                    </a:lnTo>
                    <a:close/>
                  </a:path>
                </a:pathLst>
              </a:custGeom>
              <a:solidFill>
                <a:srgbClr val="222222"/>
              </a:solidFill>
              <a:ln w="38100" cap="sq">
                <a:solidFill>
                  <a:srgbClr val="444444"/>
                </a:solidFill>
                <a:prstDash val="solid"/>
                <a:miter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161925"/>
                <a:ext cx="369026" cy="278375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r">
                  <a:lnSpc>
                    <a:spcPts val="5039"/>
                  </a:lnSpc>
                </a:pP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2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3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4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5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6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7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8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9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10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11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12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13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14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15 </a:t>
                </a: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61599" y="0"/>
              <a:ext cx="24507199" cy="1471299"/>
              <a:chOff x="0" y="0"/>
              <a:chExt cx="4840928" cy="290627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4840928" cy="290627"/>
              </a:xfrm>
              <a:custGeom>
                <a:avLst/>
                <a:gdLst/>
                <a:ahLst/>
                <a:cxnLst/>
                <a:rect r="r" b="b" t="t" l="l"/>
                <a:pathLst>
                  <a:path h="290627" w="4840928">
                    <a:moveTo>
                      <a:pt x="0" y="0"/>
                    </a:moveTo>
                    <a:lnTo>
                      <a:pt x="4840928" y="0"/>
                    </a:lnTo>
                    <a:lnTo>
                      <a:pt x="4840928" y="290627"/>
                    </a:lnTo>
                    <a:lnTo>
                      <a:pt x="0" y="290627"/>
                    </a:lnTo>
                    <a:close/>
                  </a:path>
                </a:pathLst>
              </a:custGeom>
              <a:solidFill>
                <a:srgbClr val="444444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4840928" cy="32872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302597" y="554790"/>
              <a:ext cx="361720" cy="361720"/>
              <a:chOff x="0" y="0"/>
              <a:chExt cx="812800" cy="812800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E85050"/>
              </a:solidFill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816759" y="554790"/>
              <a:ext cx="361720" cy="361720"/>
              <a:chOff x="0" y="0"/>
              <a:chExt cx="812800" cy="81280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4D074"/>
              </a:solidFill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1330879" y="554790"/>
              <a:ext cx="361720" cy="361720"/>
              <a:chOff x="0" y="0"/>
              <a:chExt cx="812800" cy="81280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56D673"/>
              </a:solidFill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8" id="18"/>
            <p:cNvGrpSpPr/>
            <p:nvPr/>
          </p:nvGrpSpPr>
          <p:grpSpPr>
            <a:xfrm rot="0">
              <a:off x="1868196" y="554790"/>
              <a:ext cx="2897604" cy="1043510"/>
              <a:chOff x="0" y="0"/>
              <a:chExt cx="572366" cy="206125"/>
            </a:xfrm>
          </p:grpSpPr>
          <p:sp>
            <p:nvSpPr>
              <p:cNvPr name="Freeform 19" id="19"/>
              <p:cNvSpPr/>
              <p:nvPr/>
            </p:nvSpPr>
            <p:spPr>
              <a:xfrm flipH="false" flipV="false" rot="0">
                <a:off x="0" y="0"/>
                <a:ext cx="572366" cy="206125"/>
              </a:xfrm>
              <a:custGeom>
                <a:avLst/>
                <a:gdLst/>
                <a:ahLst/>
                <a:cxnLst/>
                <a:rect r="r" b="b" t="t" l="l"/>
                <a:pathLst>
                  <a:path h="206125" w="572366">
                    <a:moveTo>
                      <a:pt x="53437" y="0"/>
                    </a:moveTo>
                    <a:lnTo>
                      <a:pt x="518929" y="0"/>
                    </a:lnTo>
                    <a:cubicBezTo>
                      <a:pt x="548442" y="0"/>
                      <a:pt x="572366" y="23924"/>
                      <a:pt x="572366" y="53437"/>
                    </a:cubicBezTo>
                    <a:lnTo>
                      <a:pt x="572366" y="152689"/>
                    </a:lnTo>
                    <a:cubicBezTo>
                      <a:pt x="572366" y="182201"/>
                      <a:pt x="548442" y="206125"/>
                      <a:pt x="518929" y="206125"/>
                    </a:cubicBezTo>
                    <a:lnTo>
                      <a:pt x="53437" y="206125"/>
                    </a:lnTo>
                    <a:cubicBezTo>
                      <a:pt x="39264" y="206125"/>
                      <a:pt x="25673" y="200495"/>
                      <a:pt x="15651" y="190474"/>
                    </a:cubicBezTo>
                    <a:cubicBezTo>
                      <a:pt x="5630" y="180453"/>
                      <a:pt x="0" y="166861"/>
                      <a:pt x="0" y="152689"/>
                    </a:cubicBezTo>
                    <a:lnTo>
                      <a:pt x="0" y="53437"/>
                    </a:lnTo>
                    <a:cubicBezTo>
                      <a:pt x="0" y="39264"/>
                      <a:pt x="5630" y="25673"/>
                      <a:pt x="15651" y="15651"/>
                    </a:cubicBezTo>
                    <a:cubicBezTo>
                      <a:pt x="25673" y="5630"/>
                      <a:pt x="39264" y="0"/>
                      <a:pt x="53437" y="0"/>
                    </a:cubicBezTo>
                    <a:close/>
                  </a:path>
                </a:pathLst>
              </a:custGeom>
              <a:solidFill>
                <a:srgbClr val="222222"/>
              </a:solidFill>
            </p:spPr>
          </p:sp>
          <p:sp>
            <p:nvSpPr>
              <p:cNvPr name="TextBox 20" id="20"/>
              <p:cNvSpPr txBox="true"/>
              <p:nvPr/>
            </p:nvSpPr>
            <p:spPr>
              <a:xfrm>
                <a:off x="0" y="-38100"/>
                <a:ext cx="572366" cy="2442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sp>
          <p:nvSpPr>
            <p:cNvPr name="TextBox 21" id="21"/>
            <p:cNvSpPr txBox="true"/>
            <p:nvPr/>
          </p:nvSpPr>
          <p:spPr>
            <a:xfrm rot="0">
              <a:off x="4338873" y="838445"/>
              <a:ext cx="224631" cy="49381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079"/>
                </a:lnSpc>
              </a:pPr>
              <a:r>
                <a:rPr lang="en-US" sz="2199">
                  <a:solidFill>
                    <a:srgbClr val="9B9B9B"/>
                  </a:solidFill>
                  <a:latin typeface="Lucida Console"/>
                  <a:ea typeface="Lucida Console"/>
                  <a:cs typeface="Lucida Console"/>
                  <a:sym typeface="Lucida Console"/>
                </a:rPr>
                <a:t>X</a:t>
              </a:r>
            </a:p>
          </p:txBody>
        </p:sp>
        <p:sp>
          <p:nvSpPr>
            <p:cNvPr name="TextBox 22" id="22"/>
            <p:cNvSpPr txBox="true"/>
            <p:nvPr/>
          </p:nvSpPr>
          <p:spPr>
            <a:xfrm rot="0">
              <a:off x="2069427" y="763092"/>
              <a:ext cx="2340163" cy="56917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640"/>
                </a:lnSpc>
              </a:pPr>
              <a:r>
                <a:rPr lang="en-US" sz="2600">
                  <a:solidFill>
                    <a:srgbClr val="E2E8E8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dia_4.py</a:t>
              </a: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1450146" y="938530"/>
            <a:ext cx="16576040" cy="92341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‘’’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Bem, esse problema é bem simples de resolvermos. Como a multiplicação é uma sequência de somas e queremos multiplicar um número por 2, basta somarmos ele com ele mesmo.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 n: int = int(input("Digite um número inteiro: "))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 dobro: int = n + n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 print("O dobro de " + str(n) + " é " + str(dobro))</a:t>
            </a:r>
          </a:p>
          <a:p>
            <a:pPr algn="l">
              <a:lnSpc>
                <a:spcPts val="4899"/>
              </a:lnSpc>
            </a:pP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Certo, agora imagine que a gente precise realizar diversas multiplicações que sejam maiores que o dobro. Provavelmente, ficar escrevendo n + n + n + ... + n o tempo todo pode ser meio incômodo e não é muito semântico, ou seja, não fica claro que o objetivo é calcular uma multiplicação.</a:t>
            </a:r>
          </a:p>
          <a:p>
            <a:pPr algn="l">
              <a:lnSpc>
                <a:spcPts val="4899"/>
              </a:lnSpc>
            </a:pP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Sendo assim, como resolver esse problema?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‘’’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>
  <p:cSld>
    <p:bg>
      <p:bgPr>
        <a:solidFill>
          <a:srgbClr val="2222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69299" y="-93824"/>
            <a:ext cx="18426598" cy="10380824"/>
            <a:chOff x="0" y="0"/>
            <a:chExt cx="24568798" cy="13841099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568074"/>
              <a:ext cx="1868196" cy="13273025"/>
              <a:chOff x="0" y="0"/>
              <a:chExt cx="369026" cy="2621832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369026" cy="2621832"/>
              </a:xfrm>
              <a:custGeom>
                <a:avLst/>
                <a:gdLst/>
                <a:ahLst/>
                <a:cxnLst/>
                <a:rect r="r" b="b" t="t" l="l"/>
                <a:pathLst>
                  <a:path h="2621832" w="369026">
                    <a:moveTo>
                      <a:pt x="0" y="0"/>
                    </a:moveTo>
                    <a:lnTo>
                      <a:pt x="369026" y="0"/>
                    </a:lnTo>
                    <a:lnTo>
                      <a:pt x="369026" y="2621832"/>
                    </a:lnTo>
                    <a:lnTo>
                      <a:pt x="0" y="2621832"/>
                    </a:lnTo>
                    <a:close/>
                  </a:path>
                </a:pathLst>
              </a:custGeom>
              <a:solidFill>
                <a:srgbClr val="222222"/>
              </a:solidFill>
              <a:ln w="38100" cap="sq">
                <a:solidFill>
                  <a:srgbClr val="444444"/>
                </a:solidFill>
                <a:prstDash val="solid"/>
                <a:miter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161925"/>
                <a:ext cx="369026" cy="278375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r">
                  <a:lnSpc>
                    <a:spcPts val="5039"/>
                  </a:lnSpc>
                </a:pP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2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3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4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5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6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7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8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9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10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11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12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13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14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15 </a:t>
                </a: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61599" y="0"/>
              <a:ext cx="24507199" cy="1471299"/>
              <a:chOff x="0" y="0"/>
              <a:chExt cx="4840928" cy="290627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4840928" cy="290627"/>
              </a:xfrm>
              <a:custGeom>
                <a:avLst/>
                <a:gdLst/>
                <a:ahLst/>
                <a:cxnLst/>
                <a:rect r="r" b="b" t="t" l="l"/>
                <a:pathLst>
                  <a:path h="290627" w="4840928">
                    <a:moveTo>
                      <a:pt x="0" y="0"/>
                    </a:moveTo>
                    <a:lnTo>
                      <a:pt x="4840928" y="0"/>
                    </a:lnTo>
                    <a:lnTo>
                      <a:pt x="4840928" y="290627"/>
                    </a:lnTo>
                    <a:lnTo>
                      <a:pt x="0" y="290627"/>
                    </a:lnTo>
                    <a:close/>
                  </a:path>
                </a:pathLst>
              </a:custGeom>
              <a:solidFill>
                <a:srgbClr val="444444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4840928" cy="32872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302597" y="554790"/>
              <a:ext cx="361720" cy="361720"/>
              <a:chOff x="0" y="0"/>
              <a:chExt cx="812800" cy="812800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E85050"/>
              </a:solidFill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816759" y="554790"/>
              <a:ext cx="361720" cy="361720"/>
              <a:chOff x="0" y="0"/>
              <a:chExt cx="812800" cy="81280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4D074"/>
              </a:solidFill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1330879" y="554790"/>
              <a:ext cx="361720" cy="361720"/>
              <a:chOff x="0" y="0"/>
              <a:chExt cx="812800" cy="81280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56D673"/>
              </a:solidFill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8" id="18"/>
            <p:cNvGrpSpPr/>
            <p:nvPr/>
          </p:nvGrpSpPr>
          <p:grpSpPr>
            <a:xfrm rot="0">
              <a:off x="1868196" y="554790"/>
              <a:ext cx="3443900" cy="1043510"/>
              <a:chOff x="0" y="0"/>
              <a:chExt cx="680277" cy="206125"/>
            </a:xfrm>
          </p:grpSpPr>
          <p:sp>
            <p:nvSpPr>
              <p:cNvPr name="Freeform 19" id="19"/>
              <p:cNvSpPr/>
              <p:nvPr/>
            </p:nvSpPr>
            <p:spPr>
              <a:xfrm flipH="false" flipV="false" rot="0">
                <a:off x="0" y="0"/>
                <a:ext cx="680277" cy="206125"/>
              </a:xfrm>
              <a:custGeom>
                <a:avLst/>
                <a:gdLst/>
                <a:ahLst/>
                <a:cxnLst/>
                <a:rect r="r" b="b" t="t" l="l"/>
                <a:pathLst>
                  <a:path h="206125" w="680277">
                    <a:moveTo>
                      <a:pt x="44960" y="0"/>
                    </a:moveTo>
                    <a:lnTo>
                      <a:pt x="635316" y="0"/>
                    </a:lnTo>
                    <a:cubicBezTo>
                      <a:pt x="660147" y="0"/>
                      <a:pt x="680277" y="20129"/>
                      <a:pt x="680277" y="44960"/>
                    </a:cubicBezTo>
                    <a:lnTo>
                      <a:pt x="680277" y="161165"/>
                    </a:lnTo>
                    <a:cubicBezTo>
                      <a:pt x="680277" y="185996"/>
                      <a:pt x="660147" y="206125"/>
                      <a:pt x="635316" y="206125"/>
                    </a:cubicBezTo>
                    <a:lnTo>
                      <a:pt x="44960" y="206125"/>
                    </a:lnTo>
                    <a:cubicBezTo>
                      <a:pt x="20129" y="206125"/>
                      <a:pt x="0" y="185996"/>
                      <a:pt x="0" y="161165"/>
                    </a:cubicBezTo>
                    <a:lnTo>
                      <a:pt x="0" y="44960"/>
                    </a:lnTo>
                    <a:cubicBezTo>
                      <a:pt x="0" y="20129"/>
                      <a:pt x="20129" y="0"/>
                      <a:pt x="44960" y="0"/>
                    </a:cubicBezTo>
                    <a:close/>
                  </a:path>
                </a:pathLst>
              </a:custGeom>
              <a:solidFill>
                <a:srgbClr val="222222"/>
              </a:solidFill>
            </p:spPr>
          </p:sp>
          <p:sp>
            <p:nvSpPr>
              <p:cNvPr name="TextBox 20" id="20"/>
              <p:cNvSpPr txBox="true"/>
              <p:nvPr/>
            </p:nvSpPr>
            <p:spPr>
              <a:xfrm>
                <a:off x="0" y="-38100"/>
                <a:ext cx="680277" cy="2442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sp>
          <p:nvSpPr>
            <p:cNvPr name="TextBox 21" id="21"/>
            <p:cNvSpPr txBox="true"/>
            <p:nvPr/>
          </p:nvSpPr>
          <p:spPr>
            <a:xfrm rot="0">
              <a:off x="4840259" y="838445"/>
              <a:ext cx="224631" cy="49381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079"/>
                </a:lnSpc>
              </a:pPr>
              <a:r>
                <a:rPr lang="en-US" sz="2199">
                  <a:solidFill>
                    <a:srgbClr val="9B9B9B"/>
                  </a:solidFill>
                  <a:latin typeface="Lucida Console"/>
                  <a:ea typeface="Lucida Console"/>
                  <a:cs typeface="Lucida Console"/>
                  <a:sym typeface="Lucida Console"/>
                </a:rPr>
                <a:t>X</a:t>
              </a:r>
            </a:p>
          </p:txBody>
        </p:sp>
        <p:sp>
          <p:nvSpPr>
            <p:cNvPr name="TextBox 22" id="22"/>
            <p:cNvSpPr txBox="true"/>
            <p:nvPr/>
          </p:nvSpPr>
          <p:spPr>
            <a:xfrm rot="0">
              <a:off x="2069427" y="763092"/>
              <a:ext cx="2866949" cy="56917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640"/>
                </a:lnSpc>
              </a:pPr>
              <a:r>
                <a:rPr lang="en-US" sz="2600">
                  <a:solidFill>
                    <a:srgbClr val="E2E8E8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funcoes.py</a:t>
              </a: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1459671" y="2164750"/>
            <a:ext cx="16576040" cy="73767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‘’’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Uma forma de resolvermos esse problema é com funções!</a:t>
            </a:r>
          </a:p>
          <a:p>
            <a:pPr algn="l">
              <a:lnSpc>
                <a:spcPts val="4899"/>
              </a:lnSpc>
            </a:pP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O conceito de função resume-se a um pedaço de código ao qual damos um nome e que podemos reutilizar quantas vezes quisermos no nosso programa. </a:t>
            </a: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Separar o nosso programa em múltiplas funções possui diversos benefícios: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- </a:t>
            </a: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Reduz a quantidade de código repetido. 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- </a:t>
            </a: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Facilita a leitura e a manutenção do código, além de agilizar a busca e 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 </a:t>
            </a: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correção de</a:t>
            </a: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bugs. 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- Encapsula as partes do nosso programa, separando-o em pequenos trechos 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 isolados que garantem maior estabilidade e menor chance de erros.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‘’’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459671" y="1000125"/>
            <a:ext cx="16576040" cy="9023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00"/>
              </a:lnSpc>
            </a:pPr>
            <a:r>
              <a:rPr lang="en-US" sz="4400" b="true">
                <a:solidFill>
                  <a:srgbClr val="42A458"/>
                </a:solidFill>
                <a:latin typeface="Roboto Mono Bold"/>
                <a:ea typeface="Roboto Mono Bold"/>
                <a:cs typeface="Roboto Mono Bold"/>
                <a:sym typeface="Roboto Mono Bold"/>
              </a:rPr>
              <a:t># Funções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>
  <p:cSld>
    <p:bg>
      <p:bgPr>
        <a:solidFill>
          <a:srgbClr val="2222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69299" y="-93824"/>
            <a:ext cx="18426598" cy="10380824"/>
            <a:chOff x="0" y="0"/>
            <a:chExt cx="24568798" cy="13841099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568074"/>
              <a:ext cx="1868196" cy="13273025"/>
              <a:chOff x="0" y="0"/>
              <a:chExt cx="369026" cy="2621832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369026" cy="2621832"/>
              </a:xfrm>
              <a:custGeom>
                <a:avLst/>
                <a:gdLst/>
                <a:ahLst/>
                <a:cxnLst/>
                <a:rect r="r" b="b" t="t" l="l"/>
                <a:pathLst>
                  <a:path h="2621832" w="369026">
                    <a:moveTo>
                      <a:pt x="0" y="0"/>
                    </a:moveTo>
                    <a:lnTo>
                      <a:pt x="369026" y="0"/>
                    </a:lnTo>
                    <a:lnTo>
                      <a:pt x="369026" y="2621832"/>
                    </a:lnTo>
                    <a:lnTo>
                      <a:pt x="0" y="2621832"/>
                    </a:lnTo>
                    <a:close/>
                  </a:path>
                </a:pathLst>
              </a:custGeom>
              <a:solidFill>
                <a:srgbClr val="222222"/>
              </a:solidFill>
              <a:ln w="38100" cap="sq">
                <a:solidFill>
                  <a:srgbClr val="444444"/>
                </a:solidFill>
                <a:prstDash val="solid"/>
                <a:miter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161925"/>
                <a:ext cx="369026" cy="278375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r">
                  <a:lnSpc>
                    <a:spcPts val="5039"/>
                  </a:lnSpc>
                </a:pP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2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3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4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5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6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7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8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9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10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11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12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13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14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15 </a:t>
                </a: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61599" y="0"/>
              <a:ext cx="24507199" cy="1471299"/>
              <a:chOff x="0" y="0"/>
              <a:chExt cx="4840928" cy="290627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4840928" cy="290627"/>
              </a:xfrm>
              <a:custGeom>
                <a:avLst/>
                <a:gdLst/>
                <a:ahLst/>
                <a:cxnLst/>
                <a:rect r="r" b="b" t="t" l="l"/>
                <a:pathLst>
                  <a:path h="290627" w="4840928">
                    <a:moveTo>
                      <a:pt x="0" y="0"/>
                    </a:moveTo>
                    <a:lnTo>
                      <a:pt x="4840928" y="0"/>
                    </a:lnTo>
                    <a:lnTo>
                      <a:pt x="4840928" y="290627"/>
                    </a:lnTo>
                    <a:lnTo>
                      <a:pt x="0" y="290627"/>
                    </a:lnTo>
                    <a:close/>
                  </a:path>
                </a:pathLst>
              </a:custGeom>
              <a:solidFill>
                <a:srgbClr val="444444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4840928" cy="32872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302597" y="554790"/>
              <a:ext cx="361720" cy="361720"/>
              <a:chOff x="0" y="0"/>
              <a:chExt cx="812800" cy="812800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E85050"/>
              </a:solidFill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816759" y="554790"/>
              <a:ext cx="361720" cy="361720"/>
              <a:chOff x="0" y="0"/>
              <a:chExt cx="812800" cy="81280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4D074"/>
              </a:solidFill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1330879" y="554790"/>
              <a:ext cx="361720" cy="361720"/>
              <a:chOff x="0" y="0"/>
              <a:chExt cx="812800" cy="81280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56D673"/>
              </a:solidFill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8" id="18"/>
            <p:cNvGrpSpPr/>
            <p:nvPr/>
          </p:nvGrpSpPr>
          <p:grpSpPr>
            <a:xfrm rot="0">
              <a:off x="1868196" y="554790"/>
              <a:ext cx="3443900" cy="1043510"/>
              <a:chOff x="0" y="0"/>
              <a:chExt cx="680277" cy="206125"/>
            </a:xfrm>
          </p:grpSpPr>
          <p:sp>
            <p:nvSpPr>
              <p:cNvPr name="Freeform 19" id="19"/>
              <p:cNvSpPr/>
              <p:nvPr/>
            </p:nvSpPr>
            <p:spPr>
              <a:xfrm flipH="false" flipV="false" rot="0">
                <a:off x="0" y="0"/>
                <a:ext cx="680277" cy="206125"/>
              </a:xfrm>
              <a:custGeom>
                <a:avLst/>
                <a:gdLst/>
                <a:ahLst/>
                <a:cxnLst/>
                <a:rect r="r" b="b" t="t" l="l"/>
                <a:pathLst>
                  <a:path h="206125" w="680277">
                    <a:moveTo>
                      <a:pt x="44960" y="0"/>
                    </a:moveTo>
                    <a:lnTo>
                      <a:pt x="635316" y="0"/>
                    </a:lnTo>
                    <a:cubicBezTo>
                      <a:pt x="660147" y="0"/>
                      <a:pt x="680277" y="20129"/>
                      <a:pt x="680277" y="44960"/>
                    </a:cubicBezTo>
                    <a:lnTo>
                      <a:pt x="680277" y="161165"/>
                    </a:lnTo>
                    <a:cubicBezTo>
                      <a:pt x="680277" y="185996"/>
                      <a:pt x="660147" y="206125"/>
                      <a:pt x="635316" y="206125"/>
                    </a:cubicBezTo>
                    <a:lnTo>
                      <a:pt x="44960" y="206125"/>
                    </a:lnTo>
                    <a:cubicBezTo>
                      <a:pt x="20129" y="206125"/>
                      <a:pt x="0" y="185996"/>
                      <a:pt x="0" y="161165"/>
                    </a:cubicBezTo>
                    <a:lnTo>
                      <a:pt x="0" y="44960"/>
                    </a:lnTo>
                    <a:cubicBezTo>
                      <a:pt x="0" y="20129"/>
                      <a:pt x="20129" y="0"/>
                      <a:pt x="44960" y="0"/>
                    </a:cubicBezTo>
                    <a:close/>
                  </a:path>
                </a:pathLst>
              </a:custGeom>
              <a:solidFill>
                <a:srgbClr val="222222"/>
              </a:solidFill>
            </p:spPr>
          </p:sp>
          <p:sp>
            <p:nvSpPr>
              <p:cNvPr name="TextBox 20" id="20"/>
              <p:cNvSpPr txBox="true"/>
              <p:nvPr/>
            </p:nvSpPr>
            <p:spPr>
              <a:xfrm>
                <a:off x="0" y="-38100"/>
                <a:ext cx="680277" cy="2442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sp>
          <p:nvSpPr>
            <p:cNvPr name="TextBox 21" id="21"/>
            <p:cNvSpPr txBox="true"/>
            <p:nvPr/>
          </p:nvSpPr>
          <p:spPr>
            <a:xfrm rot="0">
              <a:off x="4840259" y="838445"/>
              <a:ext cx="224631" cy="49381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079"/>
                </a:lnSpc>
              </a:pPr>
              <a:r>
                <a:rPr lang="en-US" sz="2199">
                  <a:solidFill>
                    <a:srgbClr val="9B9B9B"/>
                  </a:solidFill>
                  <a:latin typeface="Lucida Console"/>
                  <a:ea typeface="Lucida Console"/>
                  <a:cs typeface="Lucida Console"/>
                  <a:sym typeface="Lucida Console"/>
                </a:rPr>
                <a:t>X</a:t>
              </a:r>
            </a:p>
          </p:txBody>
        </p:sp>
        <p:sp>
          <p:nvSpPr>
            <p:cNvPr name="TextBox 22" id="22"/>
            <p:cNvSpPr txBox="true"/>
            <p:nvPr/>
          </p:nvSpPr>
          <p:spPr>
            <a:xfrm rot="0">
              <a:off x="2069427" y="763092"/>
              <a:ext cx="2866949" cy="56917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640"/>
                </a:lnSpc>
              </a:pPr>
              <a:r>
                <a:rPr lang="en-US" sz="2600">
                  <a:solidFill>
                    <a:srgbClr val="E2E8E8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funcoes.py</a:t>
              </a: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1450146" y="2177290"/>
            <a:ext cx="16576040" cy="86150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‘’’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Uma função em Python é definida usando a palavra reservada def e possui as seguintes partes: nome, parâmetros, tipo de retorno e o corpo da função. 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Os parâmetros são as variáveis que declaramos para receber os valores de entrada que a função precisa para trabalhar. </a:t>
            </a:r>
          </a:p>
          <a:p>
            <a:pPr algn="l">
              <a:lnSpc>
                <a:spcPts val="4899"/>
              </a:lnSpc>
            </a:pP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 def nome_funcao(parametro1: tipo1, parametro2: tipo2) -&gt; tipo_retorno: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...     # * corpo função *   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...     return valor_retorno</a:t>
            </a:r>
          </a:p>
          <a:p>
            <a:pPr algn="l">
              <a:lnSpc>
                <a:spcPts val="4899"/>
              </a:lnSpc>
            </a:pP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Após a execução da lógica no corpo da função, usamos a palavra return para retornar o valor final que a nossa função calculou.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‘’’</a:t>
            </a:r>
          </a:p>
          <a:p>
            <a:pPr algn="l">
              <a:lnSpc>
                <a:spcPts val="4899"/>
              </a:lnSpc>
            </a:pPr>
          </a:p>
        </p:txBody>
      </p:sp>
      <p:sp>
        <p:nvSpPr>
          <p:cNvPr name="TextBox 24" id="24"/>
          <p:cNvSpPr txBox="true"/>
          <p:nvPr/>
        </p:nvSpPr>
        <p:spPr>
          <a:xfrm rot="0">
            <a:off x="1459671" y="1000125"/>
            <a:ext cx="16576040" cy="9023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00"/>
              </a:lnSpc>
            </a:pPr>
            <a:r>
              <a:rPr lang="en-US" sz="4400" b="true">
                <a:solidFill>
                  <a:srgbClr val="42A458"/>
                </a:solidFill>
                <a:latin typeface="Roboto Mono Bold"/>
                <a:ea typeface="Roboto Mono Bold"/>
                <a:cs typeface="Roboto Mono Bold"/>
                <a:sym typeface="Roboto Mono Bold"/>
              </a:rPr>
              <a:t># Estrutura e Parâmetros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>
  <p:cSld>
    <p:bg>
      <p:bgPr>
        <a:solidFill>
          <a:srgbClr val="2222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69299" y="-93824"/>
            <a:ext cx="18426598" cy="10380824"/>
            <a:chOff x="0" y="0"/>
            <a:chExt cx="24568798" cy="13841099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568074"/>
              <a:ext cx="1868196" cy="13273025"/>
              <a:chOff x="0" y="0"/>
              <a:chExt cx="369026" cy="2621832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369026" cy="2621832"/>
              </a:xfrm>
              <a:custGeom>
                <a:avLst/>
                <a:gdLst/>
                <a:ahLst/>
                <a:cxnLst/>
                <a:rect r="r" b="b" t="t" l="l"/>
                <a:pathLst>
                  <a:path h="2621832" w="369026">
                    <a:moveTo>
                      <a:pt x="0" y="0"/>
                    </a:moveTo>
                    <a:lnTo>
                      <a:pt x="369026" y="0"/>
                    </a:lnTo>
                    <a:lnTo>
                      <a:pt x="369026" y="2621832"/>
                    </a:lnTo>
                    <a:lnTo>
                      <a:pt x="0" y="2621832"/>
                    </a:lnTo>
                    <a:close/>
                  </a:path>
                </a:pathLst>
              </a:custGeom>
              <a:solidFill>
                <a:srgbClr val="222222"/>
              </a:solidFill>
              <a:ln w="38100" cap="sq">
                <a:solidFill>
                  <a:srgbClr val="444444"/>
                </a:solidFill>
                <a:prstDash val="solid"/>
                <a:miter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161925"/>
                <a:ext cx="369026" cy="278375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r">
                  <a:lnSpc>
                    <a:spcPts val="5039"/>
                  </a:lnSpc>
                </a:pP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2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3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4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5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6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7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8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9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10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11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12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13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14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15 </a:t>
                </a: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61599" y="0"/>
              <a:ext cx="24507199" cy="1471299"/>
              <a:chOff x="0" y="0"/>
              <a:chExt cx="4840928" cy="290627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4840928" cy="290627"/>
              </a:xfrm>
              <a:custGeom>
                <a:avLst/>
                <a:gdLst/>
                <a:ahLst/>
                <a:cxnLst/>
                <a:rect r="r" b="b" t="t" l="l"/>
                <a:pathLst>
                  <a:path h="290627" w="4840928">
                    <a:moveTo>
                      <a:pt x="0" y="0"/>
                    </a:moveTo>
                    <a:lnTo>
                      <a:pt x="4840928" y="0"/>
                    </a:lnTo>
                    <a:lnTo>
                      <a:pt x="4840928" y="290627"/>
                    </a:lnTo>
                    <a:lnTo>
                      <a:pt x="0" y="290627"/>
                    </a:lnTo>
                    <a:close/>
                  </a:path>
                </a:pathLst>
              </a:custGeom>
              <a:solidFill>
                <a:srgbClr val="444444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4840928" cy="32872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302597" y="554790"/>
              <a:ext cx="361720" cy="361720"/>
              <a:chOff x="0" y="0"/>
              <a:chExt cx="812800" cy="812800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E85050"/>
              </a:solidFill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816759" y="554790"/>
              <a:ext cx="361720" cy="361720"/>
              <a:chOff x="0" y="0"/>
              <a:chExt cx="812800" cy="81280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4D074"/>
              </a:solidFill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1330879" y="554790"/>
              <a:ext cx="361720" cy="361720"/>
              <a:chOff x="0" y="0"/>
              <a:chExt cx="812800" cy="81280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56D673"/>
              </a:solidFill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8" id="18"/>
            <p:cNvGrpSpPr/>
            <p:nvPr/>
          </p:nvGrpSpPr>
          <p:grpSpPr>
            <a:xfrm rot="0">
              <a:off x="1868196" y="554790"/>
              <a:ext cx="3443900" cy="1043510"/>
              <a:chOff x="0" y="0"/>
              <a:chExt cx="680277" cy="206125"/>
            </a:xfrm>
          </p:grpSpPr>
          <p:sp>
            <p:nvSpPr>
              <p:cNvPr name="Freeform 19" id="19"/>
              <p:cNvSpPr/>
              <p:nvPr/>
            </p:nvSpPr>
            <p:spPr>
              <a:xfrm flipH="false" flipV="false" rot="0">
                <a:off x="0" y="0"/>
                <a:ext cx="680277" cy="206125"/>
              </a:xfrm>
              <a:custGeom>
                <a:avLst/>
                <a:gdLst/>
                <a:ahLst/>
                <a:cxnLst/>
                <a:rect r="r" b="b" t="t" l="l"/>
                <a:pathLst>
                  <a:path h="206125" w="680277">
                    <a:moveTo>
                      <a:pt x="44960" y="0"/>
                    </a:moveTo>
                    <a:lnTo>
                      <a:pt x="635316" y="0"/>
                    </a:lnTo>
                    <a:cubicBezTo>
                      <a:pt x="660147" y="0"/>
                      <a:pt x="680277" y="20129"/>
                      <a:pt x="680277" y="44960"/>
                    </a:cubicBezTo>
                    <a:lnTo>
                      <a:pt x="680277" y="161165"/>
                    </a:lnTo>
                    <a:cubicBezTo>
                      <a:pt x="680277" y="185996"/>
                      <a:pt x="660147" y="206125"/>
                      <a:pt x="635316" y="206125"/>
                    </a:cubicBezTo>
                    <a:lnTo>
                      <a:pt x="44960" y="206125"/>
                    </a:lnTo>
                    <a:cubicBezTo>
                      <a:pt x="20129" y="206125"/>
                      <a:pt x="0" y="185996"/>
                      <a:pt x="0" y="161165"/>
                    </a:cubicBezTo>
                    <a:lnTo>
                      <a:pt x="0" y="44960"/>
                    </a:lnTo>
                    <a:cubicBezTo>
                      <a:pt x="0" y="20129"/>
                      <a:pt x="20129" y="0"/>
                      <a:pt x="44960" y="0"/>
                    </a:cubicBezTo>
                    <a:close/>
                  </a:path>
                </a:pathLst>
              </a:custGeom>
              <a:solidFill>
                <a:srgbClr val="222222"/>
              </a:solidFill>
            </p:spPr>
          </p:sp>
          <p:sp>
            <p:nvSpPr>
              <p:cNvPr name="TextBox 20" id="20"/>
              <p:cNvSpPr txBox="true"/>
              <p:nvPr/>
            </p:nvSpPr>
            <p:spPr>
              <a:xfrm>
                <a:off x="0" y="-38100"/>
                <a:ext cx="680277" cy="2442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sp>
          <p:nvSpPr>
            <p:cNvPr name="TextBox 21" id="21"/>
            <p:cNvSpPr txBox="true"/>
            <p:nvPr/>
          </p:nvSpPr>
          <p:spPr>
            <a:xfrm rot="0">
              <a:off x="4840259" y="838445"/>
              <a:ext cx="224631" cy="49381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079"/>
                </a:lnSpc>
              </a:pPr>
              <a:r>
                <a:rPr lang="en-US" sz="2199">
                  <a:solidFill>
                    <a:srgbClr val="9B9B9B"/>
                  </a:solidFill>
                  <a:latin typeface="Lucida Console"/>
                  <a:ea typeface="Lucida Console"/>
                  <a:cs typeface="Lucida Console"/>
                  <a:sym typeface="Lucida Console"/>
                </a:rPr>
                <a:t>X</a:t>
              </a:r>
            </a:p>
          </p:txBody>
        </p:sp>
        <p:sp>
          <p:nvSpPr>
            <p:cNvPr name="TextBox 22" id="22"/>
            <p:cNvSpPr txBox="true"/>
            <p:nvPr/>
          </p:nvSpPr>
          <p:spPr>
            <a:xfrm rot="0">
              <a:off x="2069427" y="763092"/>
              <a:ext cx="2866949" cy="56917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640"/>
                </a:lnSpc>
              </a:pPr>
              <a:r>
                <a:rPr lang="en-US" sz="2600">
                  <a:solidFill>
                    <a:srgbClr val="E2E8E8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funcoes.py</a:t>
              </a: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1459671" y="2186815"/>
            <a:ext cx="16576040" cy="67576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‘’’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Vejamos como podemos implementar a função de multiplicar que mencionamos no início: 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‘’’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 </a:t>
            </a:r>
            <a:r>
              <a:rPr lang="en-US" sz="2799">
                <a:solidFill>
                  <a:srgbClr val="38B6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def</a:t>
            </a:r>
            <a:r>
              <a:rPr lang="en-US" sz="2799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</a:t>
            </a:r>
            <a:r>
              <a:rPr lang="en-US" sz="2799">
                <a:solidFill>
                  <a:srgbClr val="F4D074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multiplica</a:t>
            </a:r>
            <a:r>
              <a:rPr lang="en-US" sz="2799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(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</a:t>
            </a:r>
            <a:r>
              <a:rPr lang="en-US" sz="2799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: </a:t>
            </a:r>
            <a:r>
              <a:rPr lang="en-US" sz="2799">
                <a:solidFill>
                  <a:srgbClr val="0BFFA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int</a:t>
            </a:r>
            <a:r>
              <a:rPr lang="en-US" sz="2799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, 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vezes</a:t>
            </a:r>
            <a:r>
              <a:rPr lang="en-US" sz="2799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: </a:t>
            </a:r>
            <a:r>
              <a:rPr lang="en-US" sz="2799">
                <a:solidFill>
                  <a:srgbClr val="0BFFA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int</a:t>
            </a:r>
            <a:r>
              <a:rPr lang="en-US" sz="2799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) -&gt; </a:t>
            </a:r>
            <a:r>
              <a:rPr lang="en-US" sz="2799">
                <a:solidFill>
                  <a:srgbClr val="0BFFA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int</a:t>
            </a:r>
            <a:r>
              <a:rPr lang="en-US" sz="2799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: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...     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multiplicado</a:t>
            </a:r>
            <a:r>
              <a:rPr lang="en-US" sz="2799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: </a:t>
            </a:r>
            <a:r>
              <a:rPr lang="en-US" sz="2799">
                <a:solidFill>
                  <a:srgbClr val="0BFFA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int</a:t>
            </a:r>
            <a:r>
              <a:rPr lang="en-US" sz="2799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= 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...     </a:t>
            </a:r>
            <a:r>
              <a:rPr lang="en-US" sz="2799">
                <a:solidFill>
                  <a:srgbClr val="B45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for</a:t>
            </a:r>
            <a:r>
              <a:rPr lang="en-US" sz="2799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i</a:t>
            </a:r>
            <a:r>
              <a:rPr lang="en-US" sz="2799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</a:t>
            </a:r>
            <a:r>
              <a:rPr lang="en-US" sz="2799">
                <a:solidFill>
                  <a:srgbClr val="B45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in</a:t>
            </a:r>
            <a:r>
              <a:rPr lang="en-US" sz="2799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</a:t>
            </a:r>
            <a:r>
              <a:rPr lang="en-US" sz="2799">
                <a:solidFill>
                  <a:srgbClr val="B45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range</a:t>
            </a:r>
            <a:r>
              <a:rPr lang="en-US" sz="2799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(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vezes</a:t>
            </a:r>
            <a:r>
              <a:rPr lang="en-US" sz="2799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):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...         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multiplicado</a:t>
            </a:r>
            <a:r>
              <a:rPr lang="en-US" sz="2799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+= 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...     </a:t>
            </a:r>
            <a:r>
              <a:rPr lang="en-US" sz="2799">
                <a:solidFill>
                  <a:srgbClr val="38B6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return</a:t>
            </a:r>
            <a:r>
              <a:rPr lang="en-US" sz="2799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multiplicado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...</a:t>
            </a:r>
          </a:p>
          <a:p>
            <a:pPr algn="l">
              <a:lnSpc>
                <a:spcPts val="4899"/>
              </a:lnSpc>
            </a:pP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>
  <p:cSld>
    <p:bg>
      <p:bgPr>
        <a:solidFill>
          <a:srgbClr val="2222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69299" y="-93824"/>
            <a:ext cx="18426598" cy="10380824"/>
            <a:chOff x="0" y="0"/>
            <a:chExt cx="24568798" cy="13841099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568074"/>
              <a:ext cx="1868196" cy="13273025"/>
              <a:chOff x="0" y="0"/>
              <a:chExt cx="369026" cy="2621832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369026" cy="2621832"/>
              </a:xfrm>
              <a:custGeom>
                <a:avLst/>
                <a:gdLst/>
                <a:ahLst/>
                <a:cxnLst/>
                <a:rect r="r" b="b" t="t" l="l"/>
                <a:pathLst>
                  <a:path h="2621832" w="369026">
                    <a:moveTo>
                      <a:pt x="0" y="0"/>
                    </a:moveTo>
                    <a:lnTo>
                      <a:pt x="369026" y="0"/>
                    </a:lnTo>
                    <a:lnTo>
                      <a:pt x="369026" y="2621832"/>
                    </a:lnTo>
                    <a:lnTo>
                      <a:pt x="0" y="2621832"/>
                    </a:lnTo>
                    <a:close/>
                  </a:path>
                </a:pathLst>
              </a:custGeom>
              <a:solidFill>
                <a:srgbClr val="222222"/>
              </a:solidFill>
              <a:ln w="38100" cap="sq">
                <a:solidFill>
                  <a:srgbClr val="444444"/>
                </a:solidFill>
                <a:prstDash val="solid"/>
                <a:miter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161925"/>
                <a:ext cx="369026" cy="278375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r">
                  <a:lnSpc>
                    <a:spcPts val="5039"/>
                  </a:lnSpc>
                </a:pP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2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3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4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5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6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7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8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9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10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11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12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13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14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15 </a:t>
                </a: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61599" y="0"/>
              <a:ext cx="24507199" cy="1471299"/>
              <a:chOff x="0" y="0"/>
              <a:chExt cx="4840928" cy="290627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4840928" cy="290627"/>
              </a:xfrm>
              <a:custGeom>
                <a:avLst/>
                <a:gdLst/>
                <a:ahLst/>
                <a:cxnLst/>
                <a:rect r="r" b="b" t="t" l="l"/>
                <a:pathLst>
                  <a:path h="290627" w="4840928">
                    <a:moveTo>
                      <a:pt x="0" y="0"/>
                    </a:moveTo>
                    <a:lnTo>
                      <a:pt x="4840928" y="0"/>
                    </a:lnTo>
                    <a:lnTo>
                      <a:pt x="4840928" y="290627"/>
                    </a:lnTo>
                    <a:lnTo>
                      <a:pt x="0" y="290627"/>
                    </a:lnTo>
                    <a:close/>
                  </a:path>
                </a:pathLst>
              </a:custGeom>
              <a:solidFill>
                <a:srgbClr val="444444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4840928" cy="32872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302597" y="554790"/>
              <a:ext cx="361720" cy="361720"/>
              <a:chOff x="0" y="0"/>
              <a:chExt cx="812800" cy="812800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E85050"/>
              </a:solidFill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816759" y="554790"/>
              <a:ext cx="361720" cy="361720"/>
              <a:chOff x="0" y="0"/>
              <a:chExt cx="812800" cy="81280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4D074"/>
              </a:solidFill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1330879" y="554790"/>
              <a:ext cx="361720" cy="361720"/>
              <a:chOff x="0" y="0"/>
              <a:chExt cx="812800" cy="81280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56D673"/>
              </a:solidFill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8" id="18"/>
            <p:cNvGrpSpPr/>
            <p:nvPr/>
          </p:nvGrpSpPr>
          <p:grpSpPr>
            <a:xfrm rot="0">
              <a:off x="1868196" y="554790"/>
              <a:ext cx="3443900" cy="1043510"/>
              <a:chOff x="0" y="0"/>
              <a:chExt cx="680277" cy="206125"/>
            </a:xfrm>
          </p:grpSpPr>
          <p:sp>
            <p:nvSpPr>
              <p:cNvPr name="Freeform 19" id="19"/>
              <p:cNvSpPr/>
              <p:nvPr/>
            </p:nvSpPr>
            <p:spPr>
              <a:xfrm flipH="false" flipV="false" rot="0">
                <a:off x="0" y="0"/>
                <a:ext cx="680277" cy="206125"/>
              </a:xfrm>
              <a:custGeom>
                <a:avLst/>
                <a:gdLst/>
                <a:ahLst/>
                <a:cxnLst/>
                <a:rect r="r" b="b" t="t" l="l"/>
                <a:pathLst>
                  <a:path h="206125" w="680277">
                    <a:moveTo>
                      <a:pt x="44960" y="0"/>
                    </a:moveTo>
                    <a:lnTo>
                      <a:pt x="635316" y="0"/>
                    </a:lnTo>
                    <a:cubicBezTo>
                      <a:pt x="660147" y="0"/>
                      <a:pt x="680277" y="20129"/>
                      <a:pt x="680277" y="44960"/>
                    </a:cubicBezTo>
                    <a:lnTo>
                      <a:pt x="680277" y="161165"/>
                    </a:lnTo>
                    <a:cubicBezTo>
                      <a:pt x="680277" y="185996"/>
                      <a:pt x="660147" y="206125"/>
                      <a:pt x="635316" y="206125"/>
                    </a:cubicBezTo>
                    <a:lnTo>
                      <a:pt x="44960" y="206125"/>
                    </a:lnTo>
                    <a:cubicBezTo>
                      <a:pt x="20129" y="206125"/>
                      <a:pt x="0" y="185996"/>
                      <a:pt x="0" y="161165"/>
                    </a:cubicBezTo>
                    <a:lnTo>
                      <a:pt x="0" y="44960"/>
                    </a:lnTo>
                    <a:cubicBezTo>
                      <a:pt x="0" y="20129"/>
                      <a:pt x="20129" y="0"/>
                      <a:pt x="44960" y="0"/>
                    </a:cubicBezTo>
                    <a:close/>
                  </a:path>
                </a:pathLst>
              </a:custGeom>
              <a:solidFill>
                <a:srgbClr val="222222"/>
              </a:solidFill>
            </p:spPr>
          </p:sp>
          <p:sp>
            <p:nvSpPr>
              <p:cNvPr name="TextBox 20" id="20"/>
              <p:cNvSpPr txBox="true"/>
              <p:nvPr/>
            </p:nvSpPr>
            <p:spPr>
              <a:xfrm>
                <a:off x="0" y="-38100"/>
                <a:ext cx="680277" cy="2442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sp>
          <p:nvSpPr>
            <p:cNvPr name="TextBox 21" id="21"/>
            <p:cNvSpPr txBox="true"/>
            <p:nvPr/>
          </p:nvSpPr>
          <p:spPr>
            <a:xfrm rot="0">
              <a:off x="4840259" y="838445"/>
              <a:ext cx="224631" cy="49381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079"/>
                </a:lnSpc>
              </a:pPr>
              <a:r>
                <a:rPr lang="en-US" sz="2199">
                  <a:solidFill>
                    <a:srgbClr val="9B9B9B"/>
                  </a:solidFill>
                  <a:latin typeface="Lucida Console"/>
                  <a:ea typeface="Lucida Console"/>
                  <a:cs typeface="Lucida Console"/>
                  <a:sym typeface="Lucida Console"/>
                </a:rPr>
                <a:t>X</a:t>
              </a:r>
            </a:p>
          </p:txBody>
        </p:sp>
        <p:sp>
          <p:nvSpPr>
            <p:cNvPr name="TextBox 22" id="22"/>
            <p:cNvSpPr txBox="true"/>
            <p:nvPr/>
          </p:nvSpPr>
          <p:spPr>
            <a:xfrm rot="0">
              <a:off x="2069427" y="763092"/>
              <a:ext cx="2866949" cy="56917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640"/>
                </a:lnSpc>
              </a:pPr>
              <a:r>
                <a:rPr lang="en-US" sz="2600">
                  <a:solidFill>
                    <a:srgbClr val="E2E8E8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funcoes.py</a:t>
              </a: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1459671" y="2123315"/>
            <a:ext cx="16576040" cy="67576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 </a:t>
            </a: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# Agora podemos multiplicar um número da seguinte forma: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 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: </a:t>
            </a:r>
            <a:r>
              <a:rPr lang="en-US" sz="2799">
                <a:solidFill>
                  <a:srgbClr val="0BFFA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int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= </a:t>
            </a:r>
            <a:r>
              <a:rPr lang="en-US" sz="2799">
                <a:solidFill>
                  <a:srgbClr val="0BFFA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int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(</a:t>
            </a:r>
            <a:r>
              <a:rPr lang="en-US" sz="2799">
                <a:solidFill>
                  <a:srgbClr val="F4D074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input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(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"Digite o número que deseja multiplicar: "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))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 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vezes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: </a:t>
            </a:r>
            <a:r>
              <a:rPr lang="en-US" sz="2799">
                <a:solidFill>
                  <a:srgbClr val="0BFFA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int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= </a:t>
            </a:r>
            <a:r>
              <a:rPr lang="en-US" sz="2799">
                <a:solidFill>
                  <a:srgbClr val="0BFFA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int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(</a:t>
            </a:r>
            <a:r>
              <a:rPr lang="en-US" sz="2799">
                <a:solidFill>
                  <a:srgbClr val="F4D074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input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(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"Por quantas vezes deseja multiplicar: "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))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 </a:t>
            </a: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# Multiplicando o valor de n pelo valor de vezes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 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multiplicado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: </a:t>
            </a:r>
            <a:r>
              <a:rPr lang="en-US" sz="2799">
                <a:solidFill>
                  <a:srgbClr val="0BFFA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int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= </a:t>
            </a:r>
            <a:r>
              <a:rPr lang="en-US" sz="2799">
                <a:solidFill>
                  <a:srgbClr val="F4D074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multiplica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(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, 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vezes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) 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 </a:t>
            </a:r>
            <a:r>
              <a:rPr lang="en-US" sz="2799">
                <a:solidFill>
                  <a:srgbClr val="F4D074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print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(</a:t>
            </a:r>
            <a:r>
              <a:rPr lang="en-US" sz="2799">
                <a:solidFill>
                  <a:srgbClr val="0BFFA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str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(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) + 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" X "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+ </a:t>
            </a:r>
            <a:r>
              <a:rPr lang="en-US" sz="2799">
                <a:solidFill>
                  <a:srgbClr val="F4D074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str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(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vezes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) + 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" = "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+ </a:t>
            </a:r>
            <a:r>
              <a:rPr lang="en-US" sz="2799">
                <a:solidFill>
                  <a:srgbClr val="F4D074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str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(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multiplicado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))</a:t>
            </a:r>
          </a:p>
          <a:p>
            <a:pPr algn="l">
              <a:lnSpc>
                <a:spcPts val="4899"/>
              </a:lnSpc>
            </a:pP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‘’’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Mas espera, nós já não usamos n, vezes e multiplicado como nome de variáveis antes na função? Isso não pode gerar algum problema?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‘’’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>
  <p:cSld>
    <p:bg>
      <p:bgPr>
        <a:solidFill>
          <a:srgbClr val="2222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69299" y="-93824"/>
            <a:ext cx="18426598" cy="10380824"/>
            <a:chOff x="0" y="0"/>
            <a:chExt cx="24568798" cy="13841099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568074"/>
              <a:ext cx="1868196" cy="13273025"/>
              <a:chOff x="0" y="0"/>
              <a:chExt cx="369026" cy="2621832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369026" cy="2621832"/>
              </a:xfrm>
              <a:custGeom>
                <a:avLst/>
                <a:gdLst/>
                <a:ahLst/>
                <a:cxnLst/>
                <a:rect r="r" b="b" t="t" l="l"/>
                <a:pathLst>
                  <a:path h="2621832" w="369026">
                    <a:moveTo>
                      <a:pt x="0" y="0"/>
                    </a:moveTo>
                    <a:lnTo>
                      <a:pt x="369026" y="0"/>
                    </a:lnTo>
                    <a:lnTo>
                      <a:pt x="369026" y="2621832"/>
                    </a:lnTo>
                    <a:lnTo>
                      <a:pt x="0" y="2621832"/>
                    </a:lnTo>
                    <a:close/>
                  </a:path>
                </a:pathLst>
              </a:custGeom>
              <a:solidFill>
                <a:srgbClr val="222222"/>
              </a:solidFill>
              <a:ln w="38100" cap="sq">
                <a:solidFill>
                  <a:srgbClr val="444444"/>
                </a:solidFill>
                <a:prstDash val="solid"/>
                <a:miter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161925"/>
                <a:ext cx="369026" cy="278375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r">
                  <a:lnSpc>
                    <a:spcPts val="5039"/>
                  </a:lnSpc>
                </a:pP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2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3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4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5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6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7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8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9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10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11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12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13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14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15 </a:t>
                </a: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61599" y="0"/>
              <a:ext cx="24507199" cy="1471299"/>
              <a:chOff x="0" y="0"/>
              <a:chExt cx="4840928" cy="290627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4840928" cy="290627"/>
              </a:xfrm>
              <a:custGeom>
                <a:avLst/>
                <a:gdLst/>
                <a:ahLst/>
                <a:cxnLst/>
                <a:rect r="r" b="b" t="t" l="l"/>
                <a:pathLst>
                  <a:path h="290627" w="4840928">
                    <a:moveTo>
                      <a:pt x="0" y="0"/>
                    </a:moveTo>
                    <a:lnTo>
                      <a:pt x="4840928" y="0"/>
                    </a:lnTo>
                    <a:lnTo>
                      <a:pt x="4840928" y="290627"/>
                    </a:lnTo>
                    <a:lnTo>
                      <a:pt x="0" y="290627"/>
                    </a:lnTo>
                    <a:close/>
                  </a:path>
                </a:pathLst>
              </a:custGeom>
              <a:solidFill>
                <a:srgbClr val="444444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4840928" cy="32872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302597" y="554790"/>
              <a:ext cx="361720" cy="361720"/>
              <a:chOff x="0" y="0"/>
              <a:chExt cx="812800" cy="812800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E85050"/>
              </a:solidFill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816759" y="554790"/>
              <a:ext cx="361720" cy="361720"/>
              <a:chOff x="0" y="0"/>
              <a:chExt cx="812800" cy="81280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4D074"/>
              </a:solidFill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1330879" y="554790"/>
              <a:ext cx="361720" cy="361720"/>
              <a:chOff x="0" y="0"/>
              <a:chExt cx="812800" cy="81280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56D673"/>
              </a:solidFill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8" id="18"/>
            <p:cNvGrpSpPr/>
            <p:nvPr/>
          </p:nvGrpSpPr>
          <p:grpSpPr>
            <a:xfrm rot="0">
              <a:off x="1868196" y="554790"/>
              <a:ext cx="3443900" cy="1043510"/>
              <a:chOff x="0" y="0"/>
              <a:chExt cx="680277" cy="206125"/>
            </a:xfrm>
          </p:grpSpPr>
          <p:sp>
            <p:nvSpPr>
              <p:cNvPr name="Freeform 19" id="19"/>
              <p:cNvSpPr/>
              <p:nvPr/>
            </p:nvSpPr>
            <p:spPr>
              <a:xfrm flipH="false" flipV="false" rot="0">
                <a:off x="0" y="0"/>
                <a:ext cx="680277" cy="206125"/>
              </a:xfrm>
              <a:custGeom>
                <a:avLst/>
                <a:gdLst/>
                <a:ahLst/>
                <a:cxnLst/>
                <a:rect r="r" b="b" t="t" l="l"/>
                <a:pathLst>
                  <a:path h="206125" w="680277">
                    <a:moveTo>
                      <a:pt x="44960" y="0"/>
                    </a:moveTo>
                    <a:lnTo>
                      <a:pt x="635316" y="0"/>
                    </a:lnTo>
                    <a:cubicBezTo>
                      <a:pt x="660147" y="0"/>
                      <a:pt x="680277" y="20129"/>
                      <a:pt x="680277" y="44960"/>
                    </a:cubicBezTo>
                    <a:lnTo>
                      <a:pt x="680277" y="161165"/>
                    </a:lnTo>
                    <a:cubicBezTo>
                      <a:pt x="680277" y="185996"/>
                      <a:pt x="660147" y="206125"/>
                      <a:pt x="635316" y="206125"/>
                    </a:cubicBezTo>
                    <a:lnTo>
                      <a:pt x="44960" y="206125"/>
                    </a:lnTo>
                    <a:cubicBezTo>
                      <a:pt x="20129" y="206125"/>
                      <a:pt x="0" y="185996"/>
                      <a:pt x="0" y="161165"/>
                    </a:cubicBezTo>
                    <a:lnTo>
                      <a:pt x="0" y="44960"/>
                    </a:lnTo>
                    <a:cubicBezTo>
                      <a:pt x="0" y="20129"/>
                      <a:pt x="20129" y="0"/>
                      <a:pt x="44960" y="0"/>
                    </a:cubicBezTo>
                    <a:close/>
                  </a:path>
                </a:pathLst>
              </a:custGeom>
              <a:solidFill>
                <a:srgbClr val="222222"/>
              </a:solidFill>
            </p:spPr>
          </p:sp>
          <p:sp>
            <p:nvSpPr>
              <p:cNvPr name="TextBox 20" id="20"/>
              <p:cNvSpPr txBox="true"/>
              <p:nvPr/>
            </p:nvSpPr>
            <p:spPr>
              <a:xfrm>
                <a:off x="0" y="-38100"/>
                <a:ext cx="680277" cy="2442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sp>
          <p:nvSpPr>
            <p:cNvPr name="TextBox 21" id="21"/>
            <p:cNvSpPr txBox="true"/>
            <p:nvPr/>
          </p:nvSpPr>
          <p:spPr>
            <a:xfrm rot="0">
              <a:off x="4840259" y="838445"/>
              <a:ext cx="224631" cy="49381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079"/>
                </a:lnSpc>
              </a:pPr>
              <a:r>
                <a:rPr lang="en-US" sz="2199">
                  <a:solidFill>
                    <a:srgbClr val="9B9B9B"/>
                  </a:solidFill>
                  <a:latin typeface="Lucida Console"/>
                  <a:ea typeface="Lucida Console"/>
                  <a:cs typeface="Lucida Console"/>
                  <a:sym typeface="Lucida Console"/>
                </a:rPr>
                <a:t>X</a:t>
              </a:r>
            </a:p>
          </p:txBody>
        </p:sp>
        <p:sp>
          <p:nvSpPr>
            <p:cNvPr name="TextBox 22" id="22"/>
            <p:cNvSpPr txBox="true"/>
            <p:nvPr/>
          </p:nvSpPr>
          <p:spPr>
            <a:xfrm rot="0">
              <a:off x="2069427" y="763092"/>
              <a:ext cx="2866949" cy="56917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640"/>
                </a:lnSpc>
              </a:pPr>
              <a:r>
                <a:rPr lang="en-US" sz="2600">
                  <a:solidFill>
                    <a:srgbClr val="E2E8E8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funcoes.py</a:t>
              </a: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1459671" y="2786380"/>
            <a:ext cx="16576040" cy="61385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‘’’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 resposta é não!</a:t>
            </a:r>
          </a:p>
          <a:p>
            <a:pPr algn="l">
              <a:lnSpc>
                <a:spcPts val="4899"/>
              </a:lnSpc>
            </a:pP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Existe um conceito chamado escopo de variáveis, que garante que nenhuma variável dentro de uma função possa ser acessada fora dela.</a:t>
            </a:r>
          </a:p>
          <a:p>
            <a:pPr algn="l">
              <a:lnSpc>
                <a:spcPts val="4899"/>
              </a:lnSpc>
            </a:pP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Isso significa que as variáveis que definimos na função não podem ser usadas fora dela, sendo assim variáveis com o mesmo nome dentro e fora de uma função são completamente diferentes!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‘’’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459671" y="1000125"/>
            <a:ext cx="16576040" cy="9023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00"/>
              </a:lnSpc>
            </a:pPr>
            <a:r>
              <a:rPr lang="en-US" sz="4400" b="true">
                <a:solidFill>
                  <a:srgbClr val="42A458"/>
                </a:solidFill>
                <a:latin typeface="Roboto Mono Bold"/>
                <a:ea typeface="Roboto Mono Bold"/>
                <a:cs typeface="Roboto Mono Bold"/>
                <a:sym typeface="Roboto Mono Bold"/>
              </a:rPr>
              <a:t># Escopo de Variáveis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>
  <p:cSld>
    <p:bg>
      <p:bgPr>
        <a:solidFill>
          <a:srgbClr val="2222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69299" y="-93824"/>
            <a:ext cx="18426598" cy="10380824"/>
            <a:chOff x="0" y="0"/>
            <a:chExt cx="24568798" cy="13841099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568074"/>
              <a:ext cx="1868196" cy="13273025"/>
              <a:chOff x="0" y="0"/>
              <a:chExt cx="369026" cy="2621832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369026" cy="2621832"/>
              </a:xfrm>
              <a:custGeom>
                <a:avLst/>
                <a:gdLst/>
                <a:ahLst/>
                <a:cxnLst/>
                <a:rect r="r" b="b" t="t" l="l"/>
                <a:pathLst>
                  <a:path h="2621832" w="369026">
                    <a:moveTo>
                      <a:pt x="0" y="0"/>
                    </a:moveTo>
                    <a:lnTo>
                      <a:pt x="369026" y="0"/>
                    </a:lnTo>
                    <a:lnTo>
                      <a:pt x="369026" y="2621832"/>
                    </a:lnTo>
                    <a:lnTo>
                      <a:pt x="0" y="2621832"/>
                    </a:lnTo>
                    <a:close/>
                  </a:path>
                </a:pathLst>
              </a:custGeom>
              <a:solidFill>
                <a:srgbClr val="222222"/>
              </a:solidFill>
              <a:ln w="38100" cap="sq">
                <a:solidFill>
                  <a:srgbClr val="444444"/>
                </a:solidFill>
                <a:prstDash val="solid"/>
                <a:miter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161925"/>
                <a:ext cx="369026" cy="278375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r">
                  <a:lnSpc>
                    <a:spcPts val="5039"/>
                  </a:lnSpc>
                </a:pP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2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3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4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5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6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7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8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9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10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11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12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13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14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15 </a:t>
                </a: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61599" y="0"/>
              <a:ext cx="24507199" cy="1471299"/>
              <a:chOff x="0" y="0"/>
              <a:chExt cx="4840928" cy="290627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4840928" cy="290627"/>
              </a:xfrm>
              <a:custGeom>
                <a:avLst/>
                <a:gdLst/>
                <a:ahLst/>
                <a:cxnLst/>
                <a:rect r="r" b="b" t="t" l="l"/>
                <a:pathLst>
                  <a:path h="290627" w="4840928">
                    <a:moveTo>
                      <a:pt x="0" y="0"/>
                    </a:moveTo>
                    <a:lnTo>
                      <a:pt x="4840928" y="0"/>
                    </a:lnTo>
                    <a:lnTo>
                      <a:pt x="4840928" y="290627"/>
                    </a:lnTo>
                    <a:lnTo>
                      <a:pt x="0" y="290627"/>
                    </a:lnTo>
                    <a:close/>
                  </a:path>
                </a:pathLst>
              </a:custGeom>
              <a:solidFill>
                <a:srgbClr val="444444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4840928" cy="32872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302597" y="554790"/>
              <a:ext cx="361720" cy="361720"/>
              <a:chOff x="0" y="0"/>
              <a:chExt cx="812800" cy="812800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E85050"/>
              </a:solidFill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816759" y="554790"/>
              <a:ext cx="361720" cy="361720"/>
              <a:chOff x="0" y="0"/>
              <a:chExt cx="812800" cy="81280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4D074"/>
              </a:solidFill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1330879" y="554790"/>
              <a:ext cx="361720" cy="361720"/>
              <a:chOff x="0" y="0"/>
              <a:chExt cx="812800" cy="81280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56D673"/>
              </a:solidFill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8" id="18"/>
            <p:cNvGrpSpPr/>
            <p:nvPr/>
          </p:nvGrpSpPr>
          <p:grpSpPr>
            <a:xfrm rot="0">
              <a:off x="1868196" y="554790"/>
              <a:ext cx="3443900" cy="1043510"/>
              <a:chOff x="0" y="0"/>
              <a:chExt cx="680277" cy="206125"/>
            </a:xfrm>
          </p:grpSpPr>
          <p:sp>
            <p:nvSpPr>
              <p:cNvPr name="Freeform 19" id="19"/>
              <p:cNvSpPr/>
              <p:nvPr/>
            </p:nvSpPr>
            <p:spPr>
              <a:xfrm flipH="false" flipV="false" rot="0">
                <a:off x="0" y="0"/>
                <a:ext cx="680277" cy="206125"/>
              </a:xfrm>
              <a:custGeom>
                <a:avLst/>
                <a:gdLst/>
                <a:ahLst/>
                <a:cxnLst/>
                <a:rect r="r" b="b" t="t" l="l"/>
                <a:pathLst>
                  <a:path h="206125" w="680277">
                    <a:moveTo>
                      <a:pt x="44960" y="0"/>
                    </a:moveTo>
                    <a:lnTo>
                      <a:pt x="635316" y="0"/>
                    </a:lnTo>
                    <a:cubicBezTo>
                      <a:pt x="660147" y="0"/>
                      <a:pt x="680277" y="20129"/>
                      <a:pt x="680277" y="44960"/>
                    </a:cubicBezTo>
                    <a:lnTo>
                      <a:pt x="680277" y="161165"/>
                    </a:lnTo>
                    <a:cubicBezTo>
                      <a:pt x="680277" y="185996"/>
                      <a:pt x="660147" y="206125"/>
                      <a:pt x="635316" y="206125"/>
                    </a:cubicBezTo>
                    <a:lnTo>
                      <a:pt x="44960" y="206125"/>
                    </a:lnTo>
                    <a:cubicBezTo>
                      <a:pt x="20129" y="206125"/>
                      <a:pt x="0" y="185996"/>
                      <a:pt x="0" y="161165"/>
                    </a:cubicBezTo>
                    <a:lnTo>
                      <a:pt x="0" y="44960"/>
                    </a:lnTo>
                    <a:cubicBezTo>
                      <a:pt x="0" y="20129"/>
                      <a:pt x="20129" y="0"/>
                      <a:pt x="44960" y="0"/>
                    </a:cubicBezTo>
                    <a:close/>
                  </a:path>
                </a:pathLst>
              </a:custGeom>
              <a:solidFill>
                <a:srgbClr val="222222"/>
              </a:solidFill>
            </p:spPr>
          </p:sp>
          <p:sp>
            <p:nvSpPr>
              <p:cNvPr name="TextBox 20" id="20"/>
              <p:cNvSpPr txBox="true"/>
              <p:nvPr/>
            </p:nvSpPr>
            <p:spPr>
              <a:xfrm>
                <a:off x="0" y="-38100"/>
                <a:ext cx="680277" cy="2442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sp>
          <p:nvSpPr>
            <p:cNvPr name="TextBox 21" id="21"/>
            <p:cNvSpPr txBox="true"/>
            <p:nvPr/>
          </p:nvSpPr>
          <p:spPr>
            <a:xfrm rot="0">
              <a:off x="4840259" y="838445"/>
              <a:ext cx="224631" cy="49381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079"/>
                </a:lnSpc>
              </a:pPr>
              <a:r>
                <a:rPr lang="en-US" sz="2199">
                  <a:solidFill>
                    <a:srgbClr val="9B9B9B"/>
                  </a:solidFill>
                  <a:latin typeface="Lucida Console"/>
                  <a:ea typeface="Lucida Console"/>
                  <a:cs typeface="Lucida Console"/>
                  <a:sym typeface="Lucida Console"/>
                </a:rPr>
                <a:t>X</a:t>
              </a:r>
            </a:p>
          </p:txBody>
        </p:sp>
        <p:sp>
          <p:nvSpPr>
            <p:cNvPr name="TextBox 22" id="22"/>
            <p:cNvSpPr txBox="true"/>
            <p:nvPr/>
          </p:nvSpPr>
          <p:spPr>
            <a:xfrm rot="0">
              <a:off x="2069427" y="763092"/>
              <a:ext cx="2866949" cy="56917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640"/>
                </a:lnSpc>
              </a:pPr>
              <a:r>
                <a:rPr lang="en-US" sz="2600">
                  <a:solidFill>
                    <a:srgbClr val="E2E8E8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funcoes.py</a:t>
              </a: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1459671" y="1557655"/>
            <a:ext cx="16576040" cy="79959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‘’’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Exemplo: criar uma função que receba o nome de uma pessoa e exiba “bom dia” para essa pessoa.</a:t>
            </a:r>
          </a:p>
          <a:p>
            <a:pPr algn="l">
              <a:lnSpc>
                <a:spcPts val="4899"/>
              </a:lnSpc>
            </a:pP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Esse é um caso específico onde uma função não possui valor de retorno, pois não há a necessidade de se retornar nada, apenas exibir a mensagem de bom dia usando print.</a:t>
            </a:r>
          </a:p>
          <a:p>
            <a:pPr algn="l">
              <a:lnSpc>
                <a:spcPts val="4899"/>
              </a:lnSpc>
            </a:pP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Como definimos o tipo de retorno e o que colocamos no return da nossa função?</a:t>
            </a:r>
          </a:p>
          <a:p>
            <a:pPr algn="l">
              <a:lnSpc>
                <a:spcPts val="4899"/>
              </a:lnSpc>
            </a:pP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Simples: nada!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‘’’</a:t>
            </a:r>
          </a:p>
          <a:p>
            <a:pPr algn="l">
              <a:lnSpc>
                <a:spcPts val="4899"/>
              </a:lnSpc>
            </a:pP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>
  <p:cSld>
    <p:bg>
      <p:bgPr>
        <a:solidFill>
          <a:srgbClr val="2222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69299" y="-93824"/>
            <a:ext cx="18426598" cy="10380824"/>
            <a:chOff x="0" y="0"/>
            <a:chExt cx="24568798" cy="13841099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568074"/>
              <a:ext cx="1868196" cy="13273025"/>
              <a:chOff x="0" y="0"/>
              <a:chExt cx="369026" cy="2621832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369026" cy="2621832"/>
              </a:xfrm>
              <a:custGeom>
                <a:avLst/>
                <a:gdLst/>
                <a:ahLst/>
                <a:cxnLst/>
                <a:rect r="r" b="b" t="t" l="l"/>
                <a:pathLst>
                  <a:path h="2621832" w="369026">
                    <a:moveTo>
                      <a:pt x="0" y="0"/>
                    </a:moveTo>
                    <a:lnTo>
                      <a:pt x="369026" y="0"/>
                    </a:lnTo>
                    <a:lnTo>
                      <a:pt x="369026" y="2621832"/>
                    </a:lnTo>
                    <a:lnTo>
                      <a:pt x="0" y="2621832"/>
                    </a:lnTo>
                    <a:close/>
                  </a:path>
                </a:pathLst>
              </a:custGeom>
              <a:solidFill>
                <a:srgbClr val="222222"/>
              </a:solidFill>
              <a:ln w="38100" cap="sq">
                <a:solidFill>
                  <a:srgbClr val="444444"/>
                </a:solidFill>
                <a:prstDash val="solid"/>
                <a:miter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161925"/>
                <a:ext cx="369026" cy="278375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r">
                  <a:lnSpc>
                    <a:spcPts val="5039"/>
                  </a:lnSpc>
                </a:pP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2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3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4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5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6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7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8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9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10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11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12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13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14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15 </a:t>
                </a: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61599" y="0"/>
              <a:ext cx="24507199" cy="1471299"/>
              <a:chOff x="0" y="0"/>
              <a:chExt cx="4840928" cy="290627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4840928" cy="290627"/>
              </a:xfrm>
              <a:custGeom>
                <a:avLst/>
                <a:gdLst/>
                <a:ahLst/>
                <a:cxnLst/>
                <a:rect r="r" b="b" t="t" l="l"/>
                <a:pathLst>
                  <a:path h="290627" w="4840928">
                    <a:moveTo>
                      <a:pt x="0" y="0"/>
                    </a:moveTo>
                    <a:lnTo>
                      <a:pt x="4840928" y="0"/>
                    </a:lnTo>
                    <a:lnTo>
                      <a:pt x="4840928" y="290627"/>
                    </a:lnTo>
                    <a:lnTo>
                      <a:pt x="0" y="290627"/>
                    </a:lnTo>
                    <a:close/>
                  </a:path>
                </a:pathLst>
              </a:custGeom>
              <a:solidFill>
                <a:srgbClr val="444444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4840928" cy="32872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302597" y="554790"/>
              <a:ext cx="361720" cy="361720"/>
              <a:chOff x="0" y="0"/>
              <a:chExt cx="812800" cy="812800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E85050"/>
              </a:solidFill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816759" y="554790"/>
              <a:ext cx="361720" cy="361720"/>
              <a:chOff x="0" y="0"/>
              <a:chExt cx="812800" cy="81280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4D074"/>
              </a:solidFill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1330879" y="554790"/>
              <a:ext cx="361720" cy="361720"/>
              <a:chOff x="0" y="0"/>
              <a:chExt cx="812800" cy="81280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56D673"/>
              </a:solidFill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8" id="18"/>
            <p:cNvGrpSpPr/>
            <p:nvPr/>
          </p:nvGrpSpPr>
          <p:grpSpPr>
            <a:xfrm rot="0">
              <a:off x="1868196" y="554790"/>
              <a:ext cx="3443900" cy="1043510"/>
              <a:chOff x="0" y="0"/>
              <a:chExt cx="680277" cy="206125"/>
            </a:xfrm>
          </p:grpSpPr>
          <p:sp>
            <p:nvSpPr>
              <p:cNvPr name="Freeform 19" id="19"/>
              <p:cNvSpPr/>
              <p:nvPr/>
            </p:nvSpPr>
            <p:spPr>
              <a:xfrm flipH="false" flipV="false" rot="0">
                <a:off x="0" y="0"/>
                <a:ext cx="680277" cy="206125"/>
              </a:xfrm>
              <a:custGeom>
                <a:avLst/>
                <a:gdLst/>
                <a:ahLst/>
                <a:cxnLst/>
                <a:rect r="r" b="b" t="t" l="l"/>
                <a:pathLst>
                  <a:path h="206125" w="680277">
                    <a:moveTo>
                      <a:pt x="44960" y="0"/>
                    </a:moveTo>
                    <a:lnTo>
                      <a:pt x="635316" y="0"/>
                    </a:lnTo>
                    <a:cubicBezTo>
                      <a:pt x="660147" y="0"/>
                      <a:pt x="680277" y="20129"/>
                      <a:pt x="680277" y="44960"/>
                    </a:cubicBezTo>
                    <a:lnTo>
                      <a:pt x="680277" y="161165"/>
                    </a:lnTo>
                    <a:cubicBezTo>
                      <a:pt x="680277" y="185996"/>
                      <a:pt x="660147" y="206125"/>
                      <a:pt x="635316" y="206125"/>
                    </a:cubicBezTo>
                    <a:lnTo>
                      <a:pt x="44960" y="206125"/>
                    </a:lnTo>
                    <a:cubicBezTo>
                      <a:pt x="20129" y="206125"/>
                      <a:pt x="0" y="185996"/>
                      <a:pt x="0" y="161165"/>
                    </a:cubicBezTo>
                    <a:lnTo>
                      <a:pt x="0" y="44960"/>
                    </a:lnTo>
                    <a:cubicBezTo>
                      <a:pt x="0" y="20129"/>
                      <a:pt x="20129" y="0"/>
                      <a:pt x="44960" y="0"/>
                    </a:cubicBezTo>
                    <a:close/>
                  </a:path>
                </a:pathLst>
              </a:custGeom>
              <a:solidFill>
                <a:srgbClr val="222222"/>
              </a:solidFill>
            </p:spPr>
          </p:sp>
          <p:sp>
            <p:nvSpPr>
              <p:cNvPr name="TextBox 20" id="20"/>
              <p:cNvSpPr txBox="true"/>
              <p:nvPr/>
            </p:nvSpPr>
            <p:spPr>
              <a:xfrm>
                <a:off x="0" y="-38100"/>
                <a:ext cx="680277" cy="2442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sp>
          <p:nvSpPr>
            <p:cNvPr name="TextBox 21" id="21"/>
            <p:cNvSpPr txBox="true"/>
            <p:nvPr/>
          </p:nvSpPr>
          <p:spPr>
            <a:xfrm rot="0">
              <a:off x="4840259" y="838445"/>
              <a:ext cx="224631" cy="49381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079"/>
                </a:lnSpc>
              </a:pPr>
              <a:r>
                <a:rPr lang="en-US" sz="2199">
                  <a:solidFill>
                    <a:srgbClr val="9B9B9B"/>
                  </a:solidFill>
                  <a:latin typeface="Lucida Console"/>
                  <a:ea typeface="Lucida Console"/>
                  <a:cs typeface="Lucida Console"/>
                  <a:sym typeface="Lucida Console"/>
                </a:rPr>
                <a:t>X</a:t>
              </a:r>
            </a:p>
          </p:txBody>
        </p:sp>
        <p:sp>
          <p:nvSpPr>
            <p:cNvPr name="TextBox 22" id="22"/>
            <p:cNvSpPr txBox="true"/>
            <p:nvPr/>
          </p:nvSpPr>
          <p:spPr>
            <a:xfrm rot="0">
              <a:off x="2069427" y="763092"/>
              <a:ext cx="2866949" cy="56917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640"/>
                </a:lnSpc>
              </a:pPr>
              <a:r>
                <a:rPr lang="en-US" sz="2600">
                  <a:solidFill>
                    <a:srgbClr val="E2E8E8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funcoes.py</a:t>
              </a: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1459671" y="1565353"/>
            <a:ext cx="16576040" cy="86150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 </a:t>
            </a:r>
            <a:r>
              <a:rPr lang="en-US" sz="2799">
                <a:solidFill>
                  <a:srgbClr val="38B6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def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</a:t>
            </a:r>
            <a:r>
              <a:rPr lang="en-US" sz="2799">
                <a:solidFill>
                  <a:srgbClr val="F4D074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bom_dia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(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nome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: </a:t>
            </a:r>
            <a:r>
              <a:rPr lang="en-US" sz="2799">
                <a:solidFill>
                  <a:srgbClr val="0BFFA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str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) -&gt; </a:t>
            </a:r>
            <a:r>
              <a:rPr lang="en-US" sz="2799">
                <a:solidFill>
                  <a:srgbClr val="0BFFA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None</a:t>
            </a:r>
            <a:r>
              <a:rPr lang="en-US" sz="2799">
                <a:solidFill>
                  <a:srgbClr val="E7F2F4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: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...     </a:t>
            </a:r>
            <a:r>
              <a:rPr lang="en-US" sz="2799">
                <a:solidFill>
                  <a:srgbClr val="F4D074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print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(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"Bom dia, "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+ 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nome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+ 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"!"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)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...     </a:t>
            </a:r>
            <a:r>
              <a:rPr lang="en-US" sz="2799">
                <a:solidFill>
                  <a:srgbClr val="38B6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return</a:t>
            </a:r>
          </a:p>
          <a:p>
            <a:pPr algn="l">
              <a:lnSpc>
                <a:spcPts val="4899"/>
              </a:lnSpc>
            </a:pP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‘’’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Melhor ainda, nem precisamos colocar um return na nossa função, já que ele não será usado.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‘’’</a:t>
            </a:r>
          </a:p>
          <a:p>
            <a:pPr algn="l">
              <a:lnSpc>
                <a:spcPts val="4899"/>
              </a:lnSpc>
            </a:pP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 </a:t>
            </a:r>
            <a:r>
              <a:rPr lang="en-US" sz="2799">
                <a:solidFill>
                  <a:srgbClr val="38B6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def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</a:t>
            </a:r>
            <a:r>
              <a:rPr lang="en-US" sz="2799">
                <a:solidFill>
                  <a:srgbClr val="F4D074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bom_dia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(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nome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: </a:t>
            </a:r>
            <a:r>
              <a:rPr lang="en-US" sz="2799">
                <a:solidFill>
                  <a:srgbClr val="0BFFA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str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) -&gt; </a:t>
            </a:r>
            <a:r>
              <a:rPr lang="en-US" sz="2799">
                <a:solidFill>
                  <a:srgbClr val="0BFFA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None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: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...    </a:t>
            </a:r>
            <a:r>
              <a:rPr lang="en-US" sz="2799">
                <a:solidFill>
                  <a:srgbClr val="F4D074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print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(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"Bom dia, "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+ 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nome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+ 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"!"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)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 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nome_usuario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= </a:t>
            </a:r>
            <a:r>
              <a:rPr lang="en-US" sz="2799">
                <a:solidFill>
                  <a:srgbClr val="F4D074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input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(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"Digite o seu nome: "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)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 </a:t>
            </a:r>
            <a:r>
              <a:rPr lang="en-US" sz="2799">
                <a:solidFill>
                  <a:srgbClr val="F4D074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bom_dia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(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nome_usuario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)</a:t>
            </a:r>
          </a:p>
          <a:p>
            <a:pPr algn="l">
              <a:lnSpc>
                <a:spcPts val="4899"/>
              </a:lnSpc>
            </a:pP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>
  <p:cSld>
    <p:bg>
      <p:bgPr>
        <a:solidFill>
          <a:srgbClr val="2222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69299" y="-93824"/>
            <a:ext cx="18426598" cy="10380824"/>
            <a:chOff x="0" y="0"/>
            <a:chExt cx="24568798" cy="13841099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568074"/>
              <a:ext cx="1868196" cy="13273025"/>
              <a:chOff x="0" y="0"/>
              <a:chExt cx="369026" cy="2621832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369026" cy="2621832"/>
              </a:xfrm>
              <a:custGeom>
                <a:avLst/>
                <a:gdLst/>
                <a:ahLst/>
                <a:cxnLst/>
                <a:rect r="r" b="b" t="t" l="l"/>
                <a:pathLst>
                  <a:path h="2621832" w="369026">
                    <a:moveTo>
                      <a:pt x="0" y="0"/>
                    </a:moveTo>
                    <a:lnTo>
                      <a:pt x="369026" y="0"/>
                    </a:lnTo>
                    <a:lnTo>
                      <a:pt x="369026" y="2621832"/>
                    </a:lnTo>
                    <a:lnTo>
                      <a:pt x="0" y="2621832"/>
                    </a:lnTo>
                    <a:close/>
                  </a:path>
                </a:pathLst>
              </a:custGeom>
              <a:solidFill>
                <a:srgbClr val="222222"/>
              </a:solidFill>
              <a:ln w="38100" cap="sq">
                <a:solidFill>
                  <a:srgbClr val="444444"/>
                </a:solidFill>
                <a:prstDash val="solid"/>
                <a:miter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161925"/>
                <a:ext cx="369026" cy="278375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r">
                  <a:lnSpc>
                    <a:spcPts val="5039"/>
                  </a:lnSpc>
                </a:pP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2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3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4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5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6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7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8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9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10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11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12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13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14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15 </a:t>
                </a: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61599" y="0"/>
              <a:ext cx="24507199" cy="1471299"/>
              <a:chOff x="0" y="0"/>
              <a:chExt cx="4840928" cy="290627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4840928" cy="290627"/>
              </a:xfrm>
              <a:custGeom>
                <a:avLst/>
                <a:gdLst/>
                <a:ahLst/>
                <a:cxnLst/>
                <a:rect r="r" b="b" t="t" l="l"/>
                <a:pathLst>
                  <a:path h="290627" w="4840928">
                    <a:moveTo>
                      <a:pt x="0" y="0"/>
                    </a:moveTo>
                    <a:lnTo>
                      <a:pt x="4840928" y="0"/>
                    </a:lnTo>
                    <a:lnTo>
                      <a:pt x="4840928" y="290627"/>
                    </a:lnTo>
                    <a:lnTo>
                      <a:pt x="0" y="290627"/>
                    </a:lnTo>
                    <a:close/>
                  </a:path>
                </a:pathLst>
              </a:custGeom>
              <a:solidFill>
                <a:srgbClr val="444444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4840928" cy="32872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302597" y="554790"/>
              <a:ext cx="361720" cy="361720"/>
              <a:chOff x="0" y="0"/>
              <a:chExt cx="812800" cy="812800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E85050"/>
              </a:solidFill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816759" y="554790"/>
              <a:ext cx="361720" cy="361720"/>
              <a:chOff x="0" y="0"/>
              <a:chExt cx="812800" cy="81280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4D074"/>
              </a:solidFill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1330879" y="554790"/>
              <a:ext cx="361720" cy="361720"/>
              <a:chOff x="0" y="0"/>
              <a:chExt cx="812800" cy="81280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56D673"/>
              </a:solidFill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8" id="18"/>
            <p:cNvGrpSpPr/>
            <p:nvPr/>
          </p:nvGrpSpPr>
          <p:grpSpPr>
            <a:xfrm rot="0">
              <a:off x="1868196" y="554790"/>
              <a:ext cx="3443900" cy="1043510"/>
              <a:chOff x="0" y="0"/>
              <a:chExt cx="680277" cy="206125"/>
            </a:xfrm>
          </p:grpSpPr>
          <p:sp>
            <p:nvSpPr>
              <p:cNvPr name="Freeform 19" id="19"/>
              <p:cNvSpPr/>
              <p:nvPr/>
            </p:nvSpPr>
            <p:spPr>
              <a:xfrm flipH="false" flipV="false" rot="0">
                <a:off x="0" y="0"/>
                <a:ext cx="680277" cy="206125"/>
              </a:xfrm>
              <a:custGeom>
                <a:avLst/>
                <a:gdLst/>
                <a:ahLst/>
                <a:cxnLst/>
                <a:rect r="r" b="b" t="t" l="l"/>
                <a:pathLst>
                  <a:path h="206125" w="680277">
                    <a:moveTo>
                      <a:pt x="44960" y="0"/>
                    </a:moveTo>
                    <a:lnTo>
                      <a:pt x="635316" y="0"/>
                    </a:lnTo>
                    <a:cubicBezTo>
                      <a:pt x="660147" y="0"/>
                      <a:pt x="680277" y="20129"/>
                      <a:pt x="680277" y="44960"/>
                    </a:cubicBezTo>
                    <a:lnTo>
                      <a:pt x="680277" y="161165"/>
                    </a:lnTo>
                    <a:cubicBezTo>
                      <a:pt x="680277" y="185996"/>
                      <a:pt x="660147" y="206125"/>
                      <a:pt x="635316" y="206125"/>
                    </a:cubicBezTo>
                    <a:lnTo>
                      <a:pt x="44960" y="206125"/>
                    </a:lnTo>
                    <a:cubicBezTo>
                      <a:pt x="20129" y="206125"/>
                      <a:pt x="0" y="185996"/>
                      <a:pt x="0" y="161165"/>
                    </a:cubicBezTo>
                    <a:lnTo>
                      <a:pt x="0" y="44960"/>
                    </a:lnTo>
                    <a:cubicBezTo>
                      <a:pt x="0" y="20129"/>
                      <a:pt x="20129" y="0"/>
                      <a:pt x="44960" y="0"/>
                    </a:cubicBezTo>
                    <a:close/>
                  </a:path>
                </a:pathLst>
              </a:custGeom>
              <a:solidFill>
                <a:srgbClr val="222222"/>
              </a:solidFill>
            </p:spPr>
          </p:sp>
          <p:sp>
            <p:nvSpPr>
              <p:cNvPr name="TextBox 20" id="20"/>
              <p:cNvSpPr txBox="true"/>
              <p:nvPr/>
            </p:nvSpPr>
            <p:spPr>
              <a:xfrm>
                <a:off x="0" y="-38100"/>
                <a:ext cx="680277" cy="2442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sp>
          <p:nvSpPr>
            <p:cNvPr name="TextBox 21" id="21"/>
            <p:cNvSpPr txBox="true"/>
            <p:nvPr/>
          </p:nvSpPr>
          <p:spPr>
            <a:xfrm rot="0">
              <a:off x="4840259" y="838445"/>
              <a:ext cx="224631" cy="49381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079"/>
                </a:lnSpc>
              </a:pPr>
              <a:r>
                <a:rPr lang="en-US" sz="2199">
                  <a:solidFill>
                    <a:srgbClr val="9B9B9B"/>
                  </a:solidFill>
                  <a:latin typeface="Lucida Console"/>
                  <a:ea typeface="Lucida Console"/>
                  <a:cs typeface="Lucida Console"/>
                  <a:sym typeface="Lucida Console"/>
                </a:rPr>
                <a:t>X</a:t>
              </a:r>
            </a:p>
          </p:txBody>
        </p:sp>
        <p:sp>
          <p:nvSpPr>
            <p:cNvPr name="TextBox 22" id="22"/>
            <p:cNvSpPr txBox="true"/>
            <p:nvPr/>
          </p:nvSpPr>
          <p:spPr>
            <a:xfrm rot="0">
              <a:off x="2069427" y="763092"/>
              <a:ext cx="2866949" cy="56917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640"/>
                </a:lnSpc>
              </a:pPr>
              <a:r>
                <a:rPr lang="en-US" sz="2600">
                  <a:solidFill>
                    <a:srgbClr val="E2E8E8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funcoes.py</a:t>
              </a: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1459671" y="1565353"/>
            <a:ext cx="16576040" cy="73767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‘’’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Vamos criar uma nova função. Dessa vez, ela deve receber um tempo em segundos e retornar seu equivalente em horas, minutos e segundos, de forma que minutos e segundos nunca sejam maiores ou iguais a 60.</a:t>
            </a:r>
          </a:p>
          <a:p>
            <a:pPr algn="l">
              <a:lnSpc>
                <a:spcPts val="4899"/>
              </a:lnSpc>
            </a:pP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Problema: como vamos retornar 3 valores distintos em uma única função?</a:t>
            </a:r>
          </a:p>
          <a:p>
            <a:pPr algn="l">
              <a:lnSpc>
                <a:spcPts val="4899"/>
              </a:lnSpc>
            </a:pP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Uma possível solução seria retornar eles em uma lista 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tempo: list[int] = [horas, minutos, segundos]! </a:t>
            </a:r>
          </a:p>
          <a:p>
            <a:pPr algn="l">
              <a:lnSpc>
                <a:spcPts val="4899"/>
              </a:lnSpc>
            </a:pP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Vamos tentar.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‘’’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>
  <p:cSld>
    <p:bg>
      <p:bgPr>
        <a:solidFill>
          <a:srgbClr val="2222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69299" y="-93824"/>
            <a:ext cx="18426598" cy="10380824"/>
            <a:chOff x="0" y="0"/>
            <a:chExt cx="24568798" cy="13841099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568074"/>
              <a:ext cx="1868196" cy="13273025"/>
              <a:chOff x="0" y="0"/>
              <a:chExt cx="369026" cy="2621832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369026" cy="2621832"/>
              </a:xfrm>
              <a:custGeom>
                <a:avLst/>
                <a:gdLst/>
                <a:ahLst/>
                <a:cxnLst/>
                <a:rect r="r" b="b" t="t" l="l"/>
                <a:pathLst>
                  <a:path h="2621832" w="369026">
                    <a:moveTo>
                      <a:pt x="0" y="0"/>
                    </a:moveTo>
                    <a:lnTo>
                      <a:pt x="369026" y="0"/>
                    </a:lnTo>
                    <a:lnTo>
                      <a:pt x="369026" y="2621832"/>
                    </a:lnTo>
                    <a:lnTo>
                      <a:pt x="0" y="2621832"/>
                    </a:lnTo>
                    <a:close/>
                  </a:path>
                </a:pathLst>
              </a:custGeom>
              <a:solidFill>
                <a:srgbClr val="222222"/>
              </a:solidFill>
              <a:ln w="38100" cap="sq">
                <a:solidFill>
                  <a:srgbClr val="444444"/>
                </a:solidFill>
                <a:prstDash val="solid"/>
                <a:miter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161925"/>
                <a:ext cx="369026" cy="278375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r">
                  <a:lnSpc>
                    <a:spcPts val="5039"/>
                  </a:lnSpc>
                </a:pP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2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3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4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5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6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7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8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9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10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11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12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13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14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15 </a:t>
                </a: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61599" y="0"/>
              <a:ext cx="24507199" cy="1471299"/>
              <a:chOff x="0" y="0"/>
              <a:chExt cx="4840928" cy="290627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4840928" cy="290627"/>
              </a:xfrm>
              <a:custGeom>
                <a:avLst/>
                <a:gdLst/>
                <a:ahLst/>
                <a:cxnLst/>
                <a:rect r="r" b="b" t="t" l="l"/>
                <a:pathLst>
                  <a:path h="290627" w="4840928">
                    <a:moveTo>
                      <a:pt x="0" y="0"/>
                    </a:moveTo>
                    <a:lnTo>
                      <a:pt x="4840928" y="0"/>
                    </a:lnTo>
                    <a:lnTo>
                      <a:pt x="4840928" y="290627"/>
                    </a:lnTo>
                    <a:lnTo>
                      <a:pt x="0" y="290627"/>
                    </a:lnTo>
                    <a:close/>
                  </a:path>
                </a:pathLst>
              </a:custGeom>
              <a:solidFill>
                <a:srgbClr val="444444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4840928" cy="32872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302597" y="554790"/>
              <a:ext cx="361720" cy="361720"/>
              <a:chOff x="0" y="0"/>
              <a:chExt cx="812800" cy="812800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E85050"/>
              </a:solidFill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816759" y="554790"/>
              <a:ext cx="361720" cy="361720"/>
              <a:chOff x="0" y="0"/>
              <a:chExt cx="812800" cy="81280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4D074"/>
              </a:solidFill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1330879" y="554790"/>
              <a:ext cx="361720" cy="361720"/>
              <a:chOff x="0" y="0"/>
              <a:chExt cx="812800" cy="81280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56D673"/>
              </a:solidFill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8" id="18"/>
            <p:cNvGrpSpPr/>
            <p:nvPr/>
          </p:nvGrpSpPr>
          <p:grpSpPr>
            <a:xfrm rot="0">
              <a:off x="1868196" y="554790"/>
              <a:ext cx="3443900" cy="1043510"/>
              <a:chOff x="0" y="0"/>
              <a:chExt cx="680277" cy="206125"/>
            </a:xfrm>
          </p:grpSpPr>
          <p:sp>
            <p:nvSpPr>
              <p:cNvPr name="Freeform 19" id="19"/>
              <p:cNvSpPr/>
              <p:nvPr/>
            </p:nvSpPr>
            <p:spPr>
              <a:xfrm flipH="false" flipV="false" rot="0">
                <a:off x="0" y="0"/>
                <a:ext cx="680277" cy="206125"/>
              </a:xfrm>
              <a:custGeom>
                <a:avLst/>
                <a:gdLst/>
                <a:ahLst/>
                <a:cxnLst/>
                <a:rect r="r" b="b" t="t" l="l"/>
                <a:pathLst>
                  <a:path h="206125" w="680277">
                    <a:moveTo>
                      <a:pt x="44960" y="0"/>
                    </a:moveTo>
                    <a:lnTo>
                      <a:pt x="635316" y="0"/>
                    </a:lnTo>
                    <a:cubicBezTo>
                      <a:pt x="660147" y="0"/>
                      <a:pt x="680277" y="20129"/>
                      <a:pt x="680277" y="44960"/>
                    </a:cubicBezTo>
                    <a:lnTo>
                      <a:pt x="680277" y="161165"/>
                    </a:lnTo>
                    <a:cubicBezTo>
                      <a:pt x="680277" y="185996"/>
                      <a:pt x="660147" y="206125"/>
                      <a:pt x="635316" y="206125"/>
                    </a:cubicBezTo>
                    <a:lnTo>
                      <a:pt x="44960" y="206125"/>
                    </a:lnTo>
                    <a:cubicBezTo>
                      <a:pt x="20129" y="206125"/>
                      <a:pt x="0" y="185996"/>
                      <a:pt x="0" y="161165"/>
                    </a:cubicBezTo>
                    <a:lnTo>
                      <a:pt x="0" y="44960"/>
                    </a:lnTo>
                    <a:cubicBezTo>
                      <a:pt x="0" y="20129"/>
                      <a:pt x="20129" y="0"/>
                      <a:pt x="44960" y="0"/>
                    </a:cubicBezTo>
                    <a:close/>
                  </a:path>
                </a:pathLst>
              </a:custGeom>
              <a:solidFill>
                <a:srgbClr val="222222"/>
              </a:solidFill>
            </p:spPr>
          </p:sp>
          <p:sp>
            <p:nvSpPr>
              <p:cNvPr name="TextBox 20" id="20"/>
              <p:cNvSpPr txBox="true"/>
              <p:nvPr/>
            </p:nvSpPr>
            <p:spPr>
              <a:xfrm>
                <a:off x="0" y="-38100"/>
                <a:ext cx="680277" cy="2442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sp>
          <p:nvSpPr>
            <p:cNvPr name="TextBox 21" id="21"/>
            <p:cNvSpPr txBox="true"/>
            <p:nvPr/>
          </p:nvSpPr>
          <p:spPr>
            <a:xfrm rot="0">
              <a:off x="4840259" y="838445"/>
              <a:ext cx="224631" cy="49381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079"/>
                </a:lnSpc>
              </a:pPr>
              <a:r>
                <a:rPr lang="en-US" sz="2199">
                  <a:solidFill>
                    <a:srgbClr val="9B9B9B"/>
                  </a:solidFill>
                  <a:latin typeface="Lucida Console"/>
                  <a:ea typeface="Lucida Console"/>
                  <a:cs typeface="Lucida Console"/>
                  <a:sym typeface="Lucida Console"/>
                </a:rPr>
                <a:t>X</a:t>
              </a:r>
            </a:p>
          </p:txBody>
        </p:sp>
        <p:sp>
          <p:nvSpPr>
            <p:cNvPr name="TextBox 22" id="22"/>
            <p:cNvSpPr txBox="true"/>
            <p:nvPr/>
          </p:nvSpPr>
          <p:spPr>
            <a:xfrm rot="0">
              <a:off x="2069427" y="763092"/>
              <a:ext cx="2866949" cy="56917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640"/>
                </a:lnSpc>
              </a:pPr>
              <a:r>
                <a:rPr lang="en-US" sz="2600">
                  <a:solidFill>
                    <a:srgbClr val="E2E8E8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funcoes.py</a:t>
              </a: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1459671" y="1565353"/>
            <a:ext cx="16576040" cy="67576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99"/>
              </a:lnSpc>
            </a:pP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 </a:t>
            </a:r>
            <a:r>
              <a:rPr lang="en-US" sz="2799">
                <a:solidFill>
                  <a:srgbClr val="38B6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def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</a:t>
            </a:r>
            <a:r>
              <a:rPr lang="en-US" sz="2799">
                <a:solidFill>
                  <a:srgbClr val="F4D074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converte_tempo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(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tempo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: </a:t>
            </a:r>
            <a:r>
              <a:rPr lang="en-US" sz="2799">
                <a:solidFill>
                  <a:srgbClr val="0BFFA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int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) -&gt; </a:t>
            </a:r>
            <a:r>
              <a:rPr lang="en-US" sz="2799">
                <a:solidFill>
                  <a:srgbClr val="0BFFA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list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[</a:t>
            </a:r>
            <a:r>
              <a:rPr lang="en-US" sz="2799">
                <a:solidFill>
                  <a:srgbClr val="0BFFA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int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]: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...    </a:t>
            </a: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# Calcula horas (1 hora = 3600 segundos)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...    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horas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: </a:t>
            </a:r>
            <a:r>
              <a:rPr lang="en-US" sz="2799">
                <a:solidFill>
                  <a:srgbClr val="0BFFA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int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= 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tempo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// 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3600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...    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tempo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= 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tempo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% 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3600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</a:t>
            </a: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# remove as horas já separadas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...    </a:t>
            </a: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# Calcula minutos (1 minutos = 60 segundos)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...    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minutos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: </a:t>
            </a:r>
            <a:r>
              <a:rPr lang="en-US" sz="2799">
                <a:solidFill>
                  <a:srgbClr val="0BFFA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int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= 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tempo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// 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60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...    </a:t>
            </a: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# O restante do tempo são os segundos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...    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segundos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: </a:t>
            </a:r>
            <a:r>
              <a:rPr lang="en-US" sz="2799">
                <a:solidFill>
                  <a:srgbClr val="0BFFA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int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= 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tempo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% 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60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...    </a:t>
            </a:r>
            <a:r>
              <a:rPr lang="en-US" sz="2799">
                <a:solidFill>
                  <a:srgbClr val="38B6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return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[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horas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, 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minutos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, 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segundos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]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...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>
  <p:cSld>
    <p:bg>
      <p:bgPr>
        <a:solidFill>
          <a:srgbClr val="2222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69299" y="-93824"/>
            <a:ext cx="18426598" cy="10380824"/>
            <a:chOff x="0" y="0"/>
            <a:chExt cx="24568798" cy="13841099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568074"/>
              <a:ext cx="1868196" cy="13273025"/>
              <a:chOff x="0" y="0"/>
              <a:chExt cx="369026" cy="2621832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369026" cy="2621832"/>
              </a:xfrm>
              <a:custGeom>
                <a:avLst/>
                <a:gdLst/>
                <a:ahLst/>
                <a:cxnLst/>
                <a:rect r="r" b="b" t="t" l="l"/>
                <a:pathLst>
                  <a:path h="2621832" w="369026">
                    <a:moveTo>
                      <a:pt x="0" y="0"/>
                    </a:moveTo>
                    <a:lnTo>
                      <a:pt x="369026" y="0"/>
                    </a:lnTo>
                    <a:lnTo>
                      <a:pt x="369026" y="2621832"/>
                    </a:lnTo>
                    <a:lnTo>
                      <a:pt x="0" y="2621832"/>
                    </a:lnTo>
                    <a:close/>
                  </a:path>
                </a:pathLst>
              </a:custGeom>
              <a:solidFill>
                <a:srgbClr val="222222"/>
              </a:solidFill>
              <a:ln w="38100" cap="sq">
                <a:solidFill>
                  <a:srgbClr val="444444"/>
                </a:solidFill>
                <a:prstDash val="solid"/>
                <a:miter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161925"/>
                <a:ext cx="369026" cy="278375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r">
                  <a:lnSpc>
                    <a:spcPts val="5039"/>
                  </a:lnSpc>
                </a:pP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2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3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4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5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6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7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8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9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10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11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12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13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14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15 </a:t>
                </a: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61599" y="0"/>
              <a:ext cx="24507199" cy="1471299"/>
              <a:chOff x="0" y="0"/>
              <a:chExt cx="4840928" cy="290627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4840928" cy="290627"/>
              </a:xfrm>
              <a:custGeom>
                <a:avLst/>
                <a:gdLst/>
                <a:ahLst/>
                <a:cxnLst/>
                <a:rect r="r" b="b" t="t" l="l"/>
                <a:pathLst>
                  <a:path h="290627" w="4840928">
                    <a:moveTo>
                      <a:pt x="0" y="0"/>
                    </a:moveTo>
                    <a:lnTo>
                      <a:pt x="4840928" y="0"/>
                    </a:lnTo>
                    <a:lnTo>
                      <a:pt x="4840928" y="290627"/>
                    </a:lnTo>
                    <a:lnTo>
                      <a:pt x="0" y="290627"/>
                    </a:lnTo>
                    <a:close/>
                  </a:path>
                </a:pathLst>
              </a:custGeom>
              <a:solidFill>
                <a:srgbClr val="444444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4840928" cy="32872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302597" y="554790"/>
              <a:ext cx="361720" cy="361720"/>
              <a:chOff x="0" y="0"/>
              <a:chExt cx="812800" cy="812800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E85050"/>
              </a:solidFill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816759" y="554790"/>
              <a:ext cx="361720" cy="361720"/>
              <a:chOff x="0" y="0"/>
              <a:chExt cx="812800" cy="81280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4D074"/>
              </a:solidFill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1330879" y="554790"/>
              <a:ext cx="361720" cy="361720"/>
              <a:chOff x="0" y="0"/>
              <a:chExt cx="812800" cy="81280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56D673"/>
              </a:solidFill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8" id="18"/>
            <p:cNvGrpSpPr/>
            <p:nvPr/>
          </p:nvGrpSpPr>
          <p:grpSpPr>
            <a:xfrm rot="0">
              <a:off x="1868196" y="554790"/>
              <a:ext cx="3443900" cy="1043510"/>
              <a:chOff x="0" y="0"/>
              <a:chExt cx="680277" cy="206125"/>
            </a:xfrm>
          </p:grpSpPr>
          <p:sp>
            <p:nvSpPr>
              <p:cNvPr name="Freeform 19" id="19"/>
              <p:cNvSpPr/>
              <p:nvPr/>
            </p:nvSpPr>
            <p:spPr>
              <a:xfrm flipH="false" flipV="false" rot="0">
                <a:off x="0" y="0"/>
                <a:ext cx="680277" cy="206125"/>
              </a:xfrm>
              <a:custGeom>
                <a:avLst/>
                <a:gdLst/>
                <a:ahLst/>
                <a:cxnLst/>
                <a:rect r="r" b="b" t="t" l="l"/>
                <a:pathLst>
                  <a:path h="206125" w="680277">
                    <a:moveTo>
                      <a:pt x="44960" y="0"/>
                    </a:moveTo>
                    <a:lnTo>
                      <a:pt x="635316" y="0"/>
                    </a:lnTo>
                    <a:cubicBezTo>
                      <a:pt x="660147" y="0"/>
                      <a:pt x="680277" y="20129"/>
                      <a:pt x="680277" y="44960"/>
                    </a:cubicBezTo>
                    <a:lnTo>
                      <a:pt x="680277" y="161165"/>
                    </a:lnTo>
                    <a:cubicBezTo>
                      <a:pt x="680277" y="185996"/>
                      <a:pt x="660147" y="206125"/>
                      <a:pt x="635316" y="206125"/>
                    </a:cubicBezTo>
                    <a:lnTo>
                      <a:pt x="44960" y="206125"/>
                    </a:lnTo>
                    <a:cubicBezTo>
                      <a:pt x="20129" y="206125"/>
                      <a:pt x="0" y="185996"/>
                      <a:pt x="0" y="161165"/>
                    </a:cubicBezTo>
                    <a:lnTo>
                      <a:pt x="0" y="44960"/>
                    </a:lnTo>
                    <a:cubicBezTo>
                      <a:pt x="0" y="20129"/>
                      <a:pt x="20129" y="0"/>
                      <a:pt x="44960" y="0"/>
                    </a:cubicBezTo>
                    <a:close/>
                  </a:path>
                </a:pathLst>
              </a:custGeom>
              <a:solidFill>
                <a:srgbClr val="222222"/>
              </a:solidFill>
            </p:spPr>
          </p:sp>
          <p:sp>
            <p:nvSpPr>
              <p:cNvPr name="TextBox 20" id="20"/>
              <p:cNvSpPr txBox="true"/>
              <p:nvPr/>
            </p:nvSpPr>
            <p:spPr>
              <a:xfrm>
                <a:off x="0" y="-38100"/>
                <a:ext cx="680277" cy="2442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sp>
          <p:nvSpPr>
            <p:cNvPr name="TextBox 21" id="21"/>
            <p:cNvSpPr txBox="true"/>
            <p:nvPr/>
          </p:nvSpPr>
          <p:spPr>
            <a:xfrm rot="0">
              <a:off x="4840259" y="838445"/>
              <a:ext cx="224631" cy="49381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079"/>
                </a:lnSpc>
              </a:pPr>
              <a:r>
                <a:rPr lang="en-US" sz="2199">
                  <a:solidFill>
                    <a:srgbClr val="9B9B9B"/>
                  </a:solidFill>
                  <a:latin typeface="Lucida Console"/>
                  <a:ea typeface="Lucida Console"/>
                  <a:cs typeface="Lucida Console"/>
                  <a:sym typeface="Lucida Console"/>
                </a:rPr>
                <a:t>X</a:t>
              </a:r>
            </a:p>
          </p:txBody>
        </p:sp>
        <p:sp>
          <p:nvSpPr>
            <p:cNvPr name="TextBox 22" id="22"/>
            <p:cNvSpPr txBox="true"/>
            <p:nvPr/>
          </p:nvSpPr>
          <p:spPr>
            <a:xfrm rot="0">
              <a:off x="2069427" y="763092"/>
              <a:ext cx="2866949" cy="56917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640"/>
                </a:lnSpc>
              </a:pPr>
              <a:r>
                <a:rPr lang="en-US" sz="2600">
                  <a:solidFill>
                    <a:srgbClr val="E2E8E8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funcoes.py</a:t>
              </a: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1459671" y="1565353"/>
            <a:ext cx="16576040" cy="79959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‘’’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Nossa solução parece adequada?</a:t>
            </a:r>
          </a:p>
          <a:p>
            <a:pPr algn="l">
              <a:lnSpc>
                <a:spcPts val="4899"/>
              </a:lnSpc>
            </a:pP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Não, pois o objetivo de uma lista é armazenar elementos de uma mesma natureza, ou seja, que representem a mesma coisa.</a:t>
            </a:r>
          </a:p>
          <a:p>
            <a:pPr algn="l">
              <a:lnSpc>
                <a:spcPts val="4899"/>
              </a:lnSpc>
            </a:pP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Entretanto, o retorno da nossa função é uma lista de 3 coisas diferentes (horas, minutos, segundos) que, apesar de serem unidades de tempo, são formas distintas de representá-lo. Em resumo, não são a mesma coisa, logo não é adequado guardá-los em uma mesma lista.</a:t>
            </a:r>
          </a:p>
          <a:p>
            <a:pPr algn="l">
              <a:lnSpc>
                <a:spcPts val="4899"/>
              </a:lnSpc>
            </a:pP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Como podemos resolver esse problema?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‘’’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>
  <p:cSld>
    <p:bg>
      <p:bgPr>
        <a:solidFill>
          <a:srgbClr val="2222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69299" y="-93824"/>
            <a:ext cx="18426598" cy="10380824"/>
            <a:chOff x="0" y="0"/>
            <a:chExt cx="24568798" cy="13841099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568074"/>
              <a:ext cx="1868196" cy="13273025"/>
              <a:chOff x="0" y="0"/>
              <a:chExt cx="369026" cy="2621832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369026" cy="2621832"/>
              </a:xfrm>
              <a:custGeom>
                <a:avLst/>
                <a:gdLst/>
                <a:ahLst/>
                <a:cxnLst/>
                <a:rect r="r" b="b" t="t" l="l"/>
                <a:pathLst>
                  <a:path h="2621832" w="369026">
                    <a:moveTo>
                      <a:pt x="0" y="0"/>
                    </a:moveTo>
                    <a:lnTo>
                      <a:pt x="369026" y="0"/>
                    </a:lnTo>
                    <a:lnTo>
                      <a:pt x="369026" y="2621832"/>
                    </a:lnTo>
                    <a:lnTo>
                      <a:pt x="0" y="2621832"/>
                    </a:lnTo>
                    <a:close/>
                  </a:path>
                </a:pathLst>
              </a:custGeom>
              <a:solidFill>
                <a:srgbClr val="222222"/>
              </a:solidFill>
              <a:ln w="38100" cap="sq">
                <a:solidFill>
                  <a:srgbClr val="444444"/>
                </a:solidFill>
                <a:prstDash val="solid"/>
                <a:miter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161925"/>
                <a:ext cx="369026" cy="278375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r">
                  <a:lnSpc>
                    <a:spcPts val="5039"/>
                  </a:lnSpc>
                </a:pP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2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3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4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5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6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7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8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9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10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11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12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13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14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15 </a:t>
                </a: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61599" y="0"/>
              <a:ext cx="24507199" cy="1471299"/>
              <a:chOff x="0" y="0"/>
              <a:chExt cx="4840928" cy="290627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4840928" cy="290627"/>
              </a:xfrm>
              <a:custGeom>
                <a:avLst/>
                <a:gdLst/>
                <a:ahLst/>
                <a:cxnLst/>
                <a:rect r="r" b="b" t="t" l="l"/>
                <a:pathLst>
                  <a:path h="290627" w="4840928">
                    <a:moveTo>
                      <a:pt x="0" y="0"/>
                    </a:moveTo>
                    <a:lnTo>
                      <a:pt x="4840928" y="0"/>
                    </a:lnTo>
                    <a:lnTo>
                      <a:pt x="4840928" y="290627"/>
                    </a:lnTo>
                    <a:lnTo>
                      <a:pt x="0" y="290627"/>
                    </a:lnTo>
                    <a:close/>
                  </a:path>
                </a:pathLst>
              </a:custGeom>
              <a:solidFill>
                <a:srgbClr val="444444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4840928" cy="32872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302597" y="554790"/>
              <a:ext cx="361720" cy="361720"/>
              <a:chOff x="0" y="0"/>
              <a:chExt cx="812800" cy="812800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E85050"/>
              </a:solidFill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816759" y="554790"/>
              <a:ext cx="361720" cy="361720"/>
              <a:chOff x="0" y="0"/>
              <a:chExt cx="812800" cy="81280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4D074"/>
              </a:solidFill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1330879" y="554790"/>
              <a:ext cx="361720" cy="361720"/>
              <a:chOff x="0" y="0"/>
              <a:chExt cx="812800" cy="81280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56D673"/>
              </a:solidFill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8" id="18"/>
            <p:cNvGrpSpPr/>
            <p:nvPr/>
          </p:nvGrpSpPr>
          <p:grpSpPr>
            <a:xfrm rot="0">
              <a:off x="1868196" y="554790"/>
              <a:ext cx="7228953" cy="1043510"/>
              <a:chOff x="0" y="0"/>
              <a:chExt cx="1427941" cy="206125"/>
            </a:xfrm>
          </p:grpSpPr>
          <p:sp>
            <p:nvSpPr>
              <p:cNvPr name="Freeform 19" id="19"/>
              <p:cNvSpPr/>
              <p:nvPr/>
            </p:nvSpPr>
            <p:spPr>
              <a:xfrm flipH="false" flipV="false" rot="0">
                <a:off x="0" y="0"/>
                <a:ext cx="1427941" cy="206125"/>
              </a:xfrm>
              <a:custGeom>
                <a:avLst/>
                <a:gdLst/>
                <a:ahLst/>
                <a:cxnLst/>
                <a:rect r="r" b="b" t="t" l="l"/>
                <a:pathLst>
                  <a:path h="206125" w="1427941">
                    <a:moveTo>
                      <a:pt x="21419" y="0"/>
                    </a:moveTo>
                    <a:lnTo>
                      <a:pt x="1406522" y="0"/>
                    </a:lnTo>
                    <a:cubicBezTo>
                      <a:pt x="1418352" y="0"/>
                      <a:pt x="1427941" y="9590"/>
                      <a:pt x="1427941" y="21419"/>
                    </a:cubicBezTo>
                    <a:lnTo>
                      <a:pt x="1427941" y="184706"/>
                    </a:lnTo>
                    <a:cubicBezTo>
                      <a:pt x="1427941" y="196536"/>
                      <a:pt x="1418352" y="206125"/>
                      <a:pt x="1406522" y="206125"/>
                    </a:cubicBezTo>
                    <a:lnTo>
                      <a:pt x="21419" y="206125"/>
                    </a:lnTo>
                    <a:cubicBezTo>
                      <a:pt x="9590" y="206125"/>
                      <a:pt x="0" y="196536"/>
                      <a:pt x="0" y="184706"/>
                    </a:cubicBezTo>
                    <a:lnTo>
                      <a:pt x="0" y="21419"/>
                    </a:lnTo>
                    <a:cubicBezTo>
                      <a:pt x="0" y="9590"/>
                      <a:pt x="9590" y="0"/>
                      <a:pt x="21419" y="0"/>
                    </a:cubicBezTo>
                    <a:close/>
                  </a:path>
                </a:pathLst>
              </a:custGeom>
              <a:solidFill>
                <a:srgbClr val="222222"/>
              </a:solidFill>
            </p:spPr>
          </p:sp>
          <p:sp>
            <p:nvSpPr>
              <p:cNvPr name="TextBox 20" id="20"/>
              <p:cNvSpPr txBox="true"/>
              <p:nvPr/>
            </p:nvSpPr>
            <p:spPr>
              <a:xfrm>
                <a:off x="0" y="-38100"/>
                <a:ext cx="1427941" cy="2442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sp>
          <p:nvSpPr>
            <p:cNvPr name="TextBox 21" id="21"/>
            <p:cNvSpPr txBox="true"/>
            <p:nvPr/>
          </p:nvSpPr>
          <p:spPr>
            <a:xfrm rot="0">
              <a:off x="8575472" y="838445"/>
              <a:ext cx="224631" cy="49381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079"/>
                </a:lnSpc>
              </a:pPr>
              <a:r>
                <a:rPr lang="en-US" sz="2199">
                  <a:solidFill>
                    <a:srgbClr val="9B9B9B"/>
                  </a:solidFill>
                  <a:latin typeface="Lucida Console"/>
                  <a:ea typeface="Lucida Console"/>
                  <a:cs typeface="Lucida Console"/>
                  <a:sym typeface="Lucida Console"/>
                </a:rPr>
                <a:t>X</a:t>
              </a:r>
            </a:p>
          </p:txBody>
        </p:sp>
        <p:sp>
          <p:nvSpPr>
            <p:cNvPr name="TextBox 22" id="22"/>
            <p:cNvSpPr txBox="true"/>
            <p:nvPr/>
          </p:nvSpPr>
          <p:spPr>
            <a:xfrm rot="0">
              <a:off x="2069427" y="763092"/>
              <a:ext cx="6513262" cy="56917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640"/>
                </a:lnSpc>
              </a:pPr>
              <a:r>
                <a:rPr lang="en-US" sz="2600">
                  <a:solidFill>
                    <a:srgbClr val="E2E8E8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tipos_dados_compostos.py</a:t>
              </a: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1459671" y="2164750"/>
            <a:ext cx="16576040" cy="73767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‘’’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Um tipo composto é um tipo de dado personalizado que podemos criar e que pode unir pequenos dados para representar um dado maior.</a:t>
            </a:r>
          </a:p>
          <a:p>
            <a:pPr algn="l">
              <a:lnSpc>
                <a:spcPts val="4899"/>
              </a:lnSpc>
            </a:pP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Por exemplo, no nosso caso, podemos c</a:t>
            </a: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riar um tipo composto chamado Tempo que é composto (daí o nome) por horas, minutos</a:t>
            </a: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</a:t>
            </a: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e segundos.</a:t>
            </a:r>
          </a:p>
          <a:p>
            <a:pPr algn="l">
              <a:lnSpc>
                <a:spcPts val="4899"/>
              </a:lnSpc>
            </a:pP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Um tipo</a:t>
            </a: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</a:t>
            </a: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composto em Python é chamado de dataclass e é</a:t>
            </a: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necessário imp</a:t>
            </a: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ortar es</a:t>
            </a: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sa funcionalidade para dentro do nosso programa no início dele. A linha é simples: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 from dataclasses import dataclass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‘’’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459671" y="1000125"/>
            <a:ext cx="16576040" cy="9023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00"/>
              </a:lnSpc>
            </a:pPr>
            <a:r>
              <a:rPr lang="en-US" sz="4400" b="true">
                <a:solidFill>
                  <a:srgbClr val="42A458"/>
                </a:solidFill>
                <a:latin typeface="Roboto Mono Bold"/>
                <a:ea typeface="Roboto Mono Bold"/>
                <a:cs typeface="Roboto Mono Bold"/>
                <a:sym typeface="Roboto Mono Bold"/>
              </a:rPr>
              <a:t># Dados Compostos</a:t>
            </a:r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>
  <p:cSld>
    <p:bg>
      <p:bgPr>
        <a:solidFill>
          <a:srgbClr val="2222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69299" y="-93824"/>
            <a:ext cx="18426598" cy="10380824"/>
            <a:chOff x="0" y="0"/>
            <a:chExt cx="24568798" cy="13841099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568074"/>
              <a:ext cx="1868196" cy="13273025"/>
              <a:chOff x="0" y="0"/>
              <a:chExt cx="369026" cy="2621832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369026" cy="2621832"/>
              </a:xfrm>
              <a:custGeom>
                <a:avLst/>
                <a:gdLst/>
                <a:ahLst/>
                <a:cxnLst/>
                <a:rect r="r" b="b" t="t" l="l"/>
                <a:pathLst>
                  <a:path h="2621832" w="369026">
                    <a:moveTo>
                      <a:pt x="0" y="0"/>
                    </a:moveTo>
                    <a:lnTo>
                      <a:pt x="369026" y="0"/>
                    </a:lnTo>
                    <a:lnTo>
                      <a:pt x="369026" y="2621832"/>
                    </a:lnTo>
                    <a:lnTo>
                      <a:pt x="0" y="2621832"/>
                    </a:lnTo>
                    <a:close/>
                  </a:path>
                </a:pathLst>
              </a:custGeom>
              <a:solidFill>
                <a:srgbClr val="222222"/>
              </a:solidFill>
              <a:ln w="38100" cap="sq">
                <a:solidFill>
                  <a:srgbClr val="444444"/>
                </a:solidFill>
                <a:prstDash val="solid"/>
                <a:miter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161925"/>
                <a:ext cx="369026" cy="278375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r">
                  <a:lnSpc>
                    <a:spcPts val="5039"/>
                  </a:lnSpc>
                </a:pP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2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3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4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5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6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7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8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9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10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11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12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13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14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15 </a:t>
                </a: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61599" y="0"/>
              <a:ext cx="24507199" cy="1471299"/>
              <a:chOff x="0" y="0"/>
              <a:chExt cx="4840928" cy="290627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4840928" cy="290627"/>
              </a:xfrm>
              <a:custGeom>
                <a:avLst/>
                <a:gdLst/>
                <a:ahLst/>
                <a:cxnLst/>
                <a:rect r="r" b="b" t="t" l="l"/>
                <a:pathLst>
                  <a:path h="290627" w="4840928">
                    <a:moveTo>
                      <a:pt x="0" y="0"/>
                    </a:moveTo>
                    <a:lnTo>
                      <a:pt x="4840928" y="0"/>
                    </a:lnTo>
                    <a:lnTo>
                      <a:pt x="4840928" y="290627"/>
                    </a:lnTo>
                    <a:lnTo>
                      <a:pt x="0" y="290627"/>
                    </a:lnTo>
                    <a:close/>
                  </a:path>
                </a:pathLst>
              </a:custGeom>
              <a:solidFill>
                <a:srgbClr val="444444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4840928" cy="32872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302597" y="554790"/>
              <a:ext cx="361720" cy="361720"/>
              <a:chOff x="0" y="0"/>
              <a:chExt cx="812800" cy="812800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E85050"/>
              </a:solidFill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816759" y="554790"/>
              <a:ext cx="361720" cy="361720"/>
              <a:chOff x="0" y="0"/>
              <a:chExt cx="812800" cy="81280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4D074"/>
              </a:solidFill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1330879" y="554790"/>
              <a:ext cx="361720" cy="361720"/>
              <a:chOff x="0" y="0"/>
              <a:chExt cx="812800" cy="81280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56D673"/>
              </a:solidFill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8" id="18"/>
            <p:cNvGrpSpPr/>
            <p:nvPr/>
          </p:nvGrpSpPr>
          <p:grpSpPr>
            <a:xfrm rot="0">
              <a:off x="1868196" y="554790"/>
              <a:ext cx="7228953" cy="1043510"/>
              <a:chOff x="0" y="0"/>
              <a:chExt cx="1427941" cy="206125"/>
            </a:xfrm>
          </p:grpSpPr>
          <p:sp>
            <p:nvSpPr>
              <p:cNvPr name="Freeform 19" id="19"/>
              <p:cNvSpPr/>
              <p:nvPr/>
            </p:nvSpPr>
            <p:spPr>
              <a:xfrm flipH="false" flipV="false" rot="0">
                <a:off x="0" y="0"/>
                <a:ext cx="1427941" cy="206125"/>
              </a:xfrm>
              <a:custGeom>
                <a:avLst/>
                <a:gdLst/>
                <a:ahLst/>
                <a:cxnLst/>
                <a:rect r="r" b="b" t="t" l="l"/>
                <a:pathLst>
                  <a:path h="206125" w="1427941">
                    <a:moveTo>
                      <a:pt x="21419" y="0"/>
                    </a:moveTo>
                    <a:lnTo>
                      <a:pt x="1406522" y="0"/>
                    </a:lnTo>
                    <a:cubicBezTo>
                      <a:pt x="1418352" y="0"/>
                      <a:pt x="1427941" y="9590"/>
                      <a:pt x="1427941" y="21419"/>
                    </a:cubicBezTo>
                    <a:lnTo>
                      <a:pt x="1427941" y="184706"/>
                    </a:lnTo>
                    <a:cubicBezTo>
                      <a:pt x="1427941" y="196536"/>
                      <a:pt x="1418352" y="206125"/>
                      <a:pt x="1406522" y="206125"/>
                    </a:cubicBezTo>
                    <a:lnTo>
                      <a:pt x="21419" y="206125"/>
                    </a:lnTo>
                    <a:cubicBezTo>
                      <a:pt x="9590" y="206125"/>
                      <a:pt x="0" y="196536"/>
                      <a:pt x="0" y="184706"/>
                    </a:cubicBezTo>
                    <a:lnTo>
                      <a:pt x="0" y="21419"/>
                    </a:lnTo>
                    <a:cubicBezTo>
                      <a:pt x="0" y="9590"/>
                      <a:pt x="9590" y="0"/>
                      <a:pt x="21419" y="0"/>
                    </a:cubicBezTo>
                    <a:close/>
                  </a:path>
                </a:pathLst>
              </a:custGeom>
              <a:solidFill>
                <a:srgbClr val="222222"/>
              </a:solidFill>
            </p:spPr>
          </p:sp>
          <p:sp>
            <p:nvSpPr>
              <p:cNvPr name="TextBox 20" id="20"/>
              <p:cNvSpPr txBox="true"/>
              <p:nvPr/>
            </p:nvSpPr>
            <p:spPr>
              <a:xfrm>
                <a:off x="0" y="-38100"/>
                <a:ext cx="1427941" cy="2442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sp>
          <p:nvSpPr>
            <p:cNvPr name="TextBox 21" id="21"/>
            <p:cNvSpPr txBox="true"/>
            <p:nvPr/>
          </p:nvSpPr>
          <p:spPr>
            <a:xfrm rot="0">
              <a:off x="8575472" y="838445"/>
              <a:ext cx="224631" cy="49381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079"/>
                </a:lnSpc>
              </a:pPr>
              <a:r>
                <a:rPr lang="en-US" sz="2199">
                  <a:solidFill>
                    <a:srgbClr val="9B9B9B"/>
                  </a:solidFill>
                  <a:latin typeface="Lucida Console"/>
                  <a:ea typeface="Lucida Console"/>
                  <a:cs typeface="Lucida Console"/>
                  <a:sym typeface="Lucida Console"/>
                </a:rPr>
                <a:t>X</a:t>
              </a:r>
            </a:p>
          </p:txBody>
        </p:sp>
        <p:sp>
          <p:nvSpPr>
            <p:cNvPr name="TextBox 22" id="22"/>
            <p:cNvSpPr txBox="true"/>
            <p:nvPr/>
          </p:nvSpPr>
          <p:spPr>
            <a:xfrm rot="0">
              <a:off x="2069427" y="763092"/>
              <a:ext cx="6513262" cy="56917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640"/>
                </a:lnSpc>
              </a:pPr>
              <a:r>
                <a:rPr lang="en-US" sz="2600">
                  <a:solidFill>
                    <a:srgbClr val="E2E8E8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tipos_dados_compostos.py</a:t>
              </a: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1459671" y="938530"/>
            <a:ext cx="16576040" cy="92341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‘’’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Para criar nosso tipo composto podemos seguir o seguinte modelo:</a:t>
            </a:r>
          </a:p>
          <a:p>
            <a:pPr algn="l">
              <a:lnSpc>
                <a:spcPts val="4899"/>
              </a:lnSpc>
            </a:pP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 @dataclass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... class NomeDoTipo: # Nomes de tipos são escritos em PascalCase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...     c</a:t>
            </a: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ampo1: tipo1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...     campo2: tipo2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...     ...</a:t>
            </a:r>
          </a:p>
          <a:p>
            <a:pPr algn="l">
              <a:lnSpc>
                <a:spcPts val="4899"/>
              </a:lnSpc>
            </a:pP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Cada campo funciona como se fosse uma variável interna do tipo e ela deve ser obrigatoriamente preenchida quando criarmos ele.</a:t>
            </a:r>
          </a:p>
          <a:p>
            <a:pPr algn="l">
              <a:lnSpc>
                <a:spcPts val="4899"/>
              </a:lnSpc>
            </a:pP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Um tipo</a:t>
            </a: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</a:t>
            </a: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composto é um tipo de dado personalizado que pod</a:t>
            </a: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emos cri</a:t>
            </a: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ar e</a:t>
            </a: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que pode unir pequenos dados para representar um dado maior.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‘’’</a:t>
            </a:r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>
  <p:cSld>
    <p:bg>
      <p:bgPr>
        <a:solidFill>
          <a:srgbClr val="2222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69299" y="-93824"/>
            <a:ext cx="18426598" cy="10380824"/>
            <a:chOff x="0" y="0"/>
            <a:chExt cx="24568798" cy="13841099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568074"/>
              <a:ext cx="1868196" cy="13273025"/>
              <a:chOff x="0" y="0"/>
              <a:chExt cx="369026" cy="2621832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369026" cy="2621832"/>
              </a:xfrm>
              <a:custGeom>
                <a:avLst/>
                <a:gdLst/>
                <a:ahLst/>
                <a:cxnLst/>
                <a:rect r="r" b="b" t="t" l="l"/>
                <a:pathLst>
                  <a:path h="2621832" w="369026">
                    <a:moveTo>
                      <a:pt x="0" y="0"/>
                    </a:moveTo>
                    <a:lnTo>
                      <a:pt x="369026" y="0"/>
                    </a:lnTo>
                    <a:lnTo>
                      <a:pt x="369026" y="2621832"/>
                    </a:lnTo>
                    <a:lnTo>
                      <a:pt x="0" y="2621832"/>
                    </a:lnTo>
                    <a:close/>
                  </a:path>
                </a:pathLst>
              </a:custGeom>
              <a:solidFill>
                <a:srgbClr val="222222"/>
              </a:solidFill>
              <a:ln w="38100" cap="sq">
                <a:solidFill>
                  <a:srgbClr val="444444"/>
                </a:solidFill>
                <a:prstDash val="solid"/>
                <a:miter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161925"/>
                <a:ext cx="369026" cy="278375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r">
                  <a:lnSpc>
                    <a:spcPts val="5039"/>
                  </a:lnSpc>
                </a:pP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2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3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4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5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6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7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8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9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10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11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12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13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14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15 </a:t>
                </a: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61599" y="0"/>
              <a:ext cx="24507199" cy="1471299"/>
              <a:chOff x="0" y="0"/>
              <a:chExt cx="4840928" cy="290627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4840928" cy="290627"/>
              </a:xfrm>
              <a:custGeom>
                <a:avLst/>
                <a:gdLst/>
                <a:ahLst/>
                <a:cxnLst/>
                <a:rect r="r" b="b" t="t" l="l"/>
                <a:pathLst>
                  <a:path h="290627" w="4840928">
                    <a:moveTo>
                      <a:pt x="0" y="0"/>
                    </a:moveTo>
                    <a:lnTo>
                      <a:pt x="4840928" y="0"/>
                    </a:lnTo>
                    <a:lnTo>
                      <a:pt x="4840928" y="290627"/>
                    </a:lnTo>
                    <a:lnTo>
                      <a:pt x="0" y="290627"/>
                    </a:lnTo>
                    <a:close/>
                  </a:path>
                </a:pathLst>
              </a:custGeom>
              <a:solidFill>
                <a:srgbClr val="444444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4840928" cy="32872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302597" y="554790"/>
              <a:ext cx="361720" cy="361720"/>
              <a:chOff x="0" y="0"/>
              <a:chExt cx="812800" cy="812800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E85050"/>
              </a:solidFill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816759" y="554790"/>
              <a:ext cx="361720" cy="361720"/>
              <a:chOff x="0" y="0"/>
              <a:chExt cx="812800" cy="81280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4D074"/>
              </a:solidFill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1330879" y="554790"/>
              <a:ext cx="361720" cy="361720"/>
              <a:chOff x="0" y="0"/>
              <a:chExt cx="812800" cy="81280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56D673"/>
              </a:solidFill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8" id="18"/>
            <p:cNvGrpSpPr/>
            <p:nvPr/>
          </p:nvGrpSpPr>
          <p:grpSpPr>
            <a:xfrm rot="0">
              <a:off x="1868196" y="554790"/>
              <a:ext cx="7228953" cy="1043510"/>
              <a:chOff x="0" y="0"/>
              <a:chExt cx="1427941" cy="206125"/>
            </a:xfrm>
          </p:grpSpPr>
          <p:sp>
            <p:nvSpPr>
              <p:cNvPr name="Freeform 19" id="19"/>
              <p:cNvSpPr/>
              <p:nvPr/>
            </p:nvSpPr>
            <p:spPr>
              <a:xfrm flipH="false" flipV="false" rot="0">
                <a:off x="0" y="0"/>
                <a:ext cx="1427941" cy="206125"/>
              </a:xfrm>
              <a:custGeom>
                <a:avLst/>
                <a:gdLst/>
                <a:ahLst/>
                <a:cxnLst/>
                <a:rect r="r" b="b" t="t" l="l"/>
                <a:pathLst>
                  <a:path h="206125" w="1427941">
                    <a:moveTo>
                      <a:pt x="21419" y="0"/>
                    </a:moveTo>
                    <a:lnTo>
                      <a:pt x="1406522" y="0"/>
                    </a:lnTo>
                    <a:cubicBezTo>
                      <a:pt x="1418352" y="0"/>
                      <a:pt x="1427941" y="9590"/>
                      <a:pt x="1427941" y="21419"/>
                    </a:cubicBezTo>
                    <a:lnTo>
                      <a:pt x="1427941" y="184706"/>
                    </a:lnTo>
                    <a:cubicBezTo>
                      <a:pt x="1427941" y="196536"/>
                      <a:pt x="1418352" y="206125"/>
                      <a:pt x="1406522" y="206125"/>
                    </a:cubicBezTo>
                    <a:lnTo>
                      <a:pt x="21419" y="206125"/>
                    </a:lnTo>
                    <a:cubicBezTo>
                      <a:pt x="9590" y="206125"/>
                      <a:pt x="0" y="196536"/>
                      <a:pt x="0" y="184706"/>
                    </a:cubicBezTo>
                    <a:lnTo>
                      <a:pt x="0" y="21419"/>
                    </a:lnTo>
                    <a:cubicBezTo>
                      <a:pt x="0" y="9590"/>
                      <a:pt x="9590" y="0"/>
                      <a:pt x="21419" y="0"/>
                    </a:cubicBezTo>
                    <a:close/>
                  </a:path>
                </a:pathLst>
              </a:custGeom>
              <a:solidFill>
                <a:srgbClr val="222222"/>
              </a:solidFill>
            </p:spPr>
          </p:sp>
          <p:sp>
            <p:nvSpPr>
              <p:cNvPr name="TextBox 20" id="20"/>
              <p:cNvSpPr txBox="true"/>
              <p:nvPr/>
            </p:nvSpPr>
            <p:spPr>
              <a:xfrm>
                <a:off x="0" y="-38100"/>
                <a:ext cx="1427941" cy="2442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sp>
          <p:nvSpPr>
            <p:cNvPr name="TextBox 21" id="21"/>
            <p:cNvSpPr txBox="true"/>
            <p:nvPr/>
          </p:nvSpPr>
          <p:spPr>
            <a:xfrm rot="0">
              <a:off x="8575472" y="838445"/>
              <a:ext cx="224631" cy="49381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079"/>
                </a:lnSpc>
              </a:pPr>
              <a:r>
                <a:rPr lang="en-US" sz="2199">
                  <a:solidFill>
                    <a:srgbClr val="9B9B9B"/>
                  </a:solidFill>
                  <a:latin typeface="Lucida Console"/>
                  <a:ea typeface="Lucida Console"/>
                  <a:cs typeface="Lucida Console"/>
                  <a:sym typeface="Lucida Console"/>
                </a:rPr>
                <a:t>X</a:t>
              </a:r>
            </a:p>
          </p:txBody>
        </p:sp>
        <p:sp>
          <p:nvSpPr>
            <p:cNvPr name="TextBox 22" id="22"/>
            <p:cNvSpPr txBox="true"/>
            <p:nvPr/>
          </p:nvSpPr>
          <p:spPr>
            <a:xfrm rot="0">
              <a:off x="2069427" y="763092"/>
              <a:ext cx="6513262" cy="56917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640"/>
                </a:lnSpc>
              </a:pPr>
              <a:r>
                <a:rPr lang="en-US" sz="2600">
                  <a:solidFill>
                    <a:srgbClr val="E2E8E8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tipos_dados_compostos.py</a:t>
              </a: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1459671" y="2193290"/>
            <a:ext cx="16576040" cy="61385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# Para usarmos o tipo composto que criamos podemos fazer da seguinte forma:</a:t>
            </a:r>
          </a:p>
          <a:p>
            <a:pPr algn="l">
              <a:lnSpc>
                <a:spcPts val="4899"/>
              </a:lnSpc>
            </a:pP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 </a:t>
            </a:r>
            <a:r>
              <a:rPr lang="en-US" sz="2799">
                <a:solidFill>
                  <a:srgbClr val="0BFFA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NomeDoTipo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(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val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or1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, 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valor2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, 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valor3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, ...)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 </a:t>
            </a: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#</a:t>
            </a: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Salvando em uma variável nova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 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minha_variavel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: </a:t>
            </a:r>
            <a:r>
              <a:rPr lang="en-US" sz="2799">
                <a:solidFill>
                  <a:srgbClr val="0BFFA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NomeDoTipo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= </a:t>
            </a:r>
            <a:r>
              <a:rPr lang="en-US" sz="2799">
                <a:solidFill>
                  <a:srgbClr val="0BFFA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NomeDoTipo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(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valor1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, 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valor2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, 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valor3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, ...)</a:t>
            </a:r>
          </a:p>
          <a:p>
            <a:pPr algn="l">
              <a:lnSpc>
                <a:spcPts val="4899"/>
              </a:lnSpc>
            </a:pP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‘’’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Observação importante: a ordem dos valores que inserimos quando criamos nosso dado deve s</a:t>
            </a: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e</a:t>
            </a: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r a</a:t>
            </a: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mesma ordem de quando criamos o tipo.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‘’’</a:t>
            </a:r>
          </a:p>
        </p:txBody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>
  <p:cSld>
    <p:bg>
      <p:bgPr>
        <a:solidFill>
          <a:srgbClr val="2222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69299" y="-93824"/>
            <a:ext cx="18426598" cy="10380824"/>
            <a:chOff x="0" y="0"/>
            <a:chExt cx="24568798" cy="13841099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568074"/>
              <a:ext cx="1868196" cy="13273025"/>
              <a:chOff x="0" y="0"/>
              <a:chExt cx="369026" cy="2621832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369026" cy="2621832"/>
              </a:xfrm>
              <a:custGeom>
                <a:avLst/>
                <a:gdLst/>
                <a:ahLst/>
                <a:cxnLst/>
                <a:rect r="r" b="b" t="t" l="l"/>
                <a:pathLst>
                  <a:path h="2621832" w="369026">
                    <a:moveTo>
                      <a:pt x="0" y="0"/>
                    </a:moveTo>
                    <a:lnTo>
                      <a:pt x="369026" y="0"/>
                    </a:lnTo>
                    <a:lnTo>
                      <a:pt x="369026" y="2621832"/>
                    </a:lnTo>
                    <a:lnTo>
                      <a:pt x="0" y="2621832"/>
                    </a:lnTo>
                    <a:close/>
                  </a:path>
                </a:pathLst>
              </a:custGeom>
              <a:solidFill>
                <a:srgbClr val="222222"/>
              </a:solidFill>
              <a:ln w="38100" cap="sq">
                <a:solidFill>
                  <a:srgbClr val="444444"/>
                </a:solidFill>
                <a:prstDash val="solid"/>
                <a:miter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161925"/>
                <a:ext cx="369026" cy="278375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r">
                  <a:lnSpc>
                    <a:spcPts val="5039"/>
                  </a:lnSpc>
                </a:pP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2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3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4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5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6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7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8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9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10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11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12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13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14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15 </a:t>
                </a: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61599" y="0"/>
              <a:ext cx="24507199" cy="1471299"/>
              <a:chOff x="0" y="0"/>
              <a:chExt cx="4840928" cy="290627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4840928" cy="290627"/>
              </a:xfrm>
              <a:custGeom>
                <a:avLst/>
                <a:gdLst/>
                <a:ahLst/>
                <a:cxnLst/>
                <a:rect r="r" b="b" t="t" l="l"/>
                <a:pathLst>
                  <a:path h="290627" w="4840928">
                    <a:moveTo>
                      <a:pt x="0" y="0"/>
                    </a:moveTo>
                    <a:lnTo>
                      <a:pt x="4840928" y="0"/>
                    </a:lnTo>
                    <a:lnTo>
                      <a:pt x="4840928" y="290627"/>
                    </a:lnTo>
                    <a:lnTo>
                      <a:pt x="0" y="290627"/>
                    </a:lnTo>
                    <a:close/>
                  </a:path>
                </a:pathLst>
              </a:custGeom>
              <a:solidFill>
                <a:srgbClr val="444444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4840928" cy="32872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302597" y="554790"/>
              <a:ext cx="361720" cy="361720"/>
              <a:chOff x="0" y="0"/>
              <a:chExt cx="812800" cy="812800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E85050"/>
              </a:solidFill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816759" y="554790"/>
              <a:ext cx="361720" cy="361720"/>
              <a:chOff x="0" y="0"/>
              <a:chExt cx="812800" cy="81280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4D074"/>
              </a:solidFill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1330879" y="554790"/>
              <a:ext cx="361720" cy="361720"/>
              <a:chOff x="0" y="0"/>
              <a:chExt cx="812800" cy="81280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56D673"/>
              </a:solidFill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8" id="18"/>
            <p:cNvGrpSpPr/>
            <p:nvPr/>
          </p:nvGrpSpPr>
          <p:grpSpPr>
            <a:xfrm rot="0">
              <a:off x="1868196" y="554790"/>
              <a:ext cx="7228953" cy="1043510"/>
              <a:chOff x="0" y="0"/>
              <a:chExt cx="1427941" cy="206125"/>
            </a:xfrm>
          </p:grpSpPr>
          <p:sp>
            <p:nvSpPr>
              <p:cNvPr name="Freeform 19" id="19"/>
              <p:cNvSpPr/>
              <p:nvPr/>
            </p:nvSpPr>
            <p:spPr>
              <a:xfrm flipH="false" flipV="false" rot="0">
                <a:off x="0" y="0"/>
                <a:ext cx="1427941" cy="206125"/>
              </a:xfrm>
              <a:custGeom>
                <a:avLst/>
                <a:gdLst/>
                <a:ahLst/>
                <a:cxnLst/>
                <a:rect r="r" b="b" t="t" l="l"/>
                <a:pathLst>
                  <a:path h="206125" w="1427941">
                    <a:moveTo>
                      <a:pt x="21419" y="0"/>
                    </a:moveTo>
                    <a:lnTo>
                      <a:pt x="1406522" y="0"/>
                    </a:lnTo>
                    <a:cubicBezTo>
                      <a:pt x="1418352" y="0"/>
                      <a:pt x="1427941" y="9590"/>
                      <a:pt x="1427941" y="21419"/>
                    </a:cubicBezTo>
                    <a:lnTo>
                      <a:pt x="1427941" y="184706"/>
                    </a:lnTo>
                    <a:cubicBezTo>
                      <a:pt x="1427941" y="196536"/>
                      <a:pt x="1418352" y="206125"/>
                      <a:pt x="1406522" y="206125"/>
                    </a:cubicBezTo>
                    <a:lnTo>
                      <a:pt x="21419" y="206125"/>
                    </a:lnTo>
                    <a:cubicBezTo>
                      <a:pt x="9590" y="206125"/>
                      <a:pt x="0" y="196536"/>
                      <a:pt x="0" y="184706"/>
                    </a:cubicBezTo>
                    <a:lnTo>
                      <a:pt x="0" y="21419"/>
                    </a:lnTo>
                    <a:cubicBezTo>
                      <a:pt x="0" y="9590"/>
                      <a:pt x="9590" y="0"/>
                      <a:pt x="21419" y="0"/>
                    </a:cubicBezTo>
                    <a:close/>
                  </a:path>
                </a:pathLst>
              </a:custGeom>
              <a:solidFill>
                <a:srgbClr val="222222"/>
              </a:solidFill>
            </p:spPr>
          </p:sp>
          <p:sp>
            <p:nvSpPr>
              <p:cNvPr name="TextBox 20" id="20"/>
              <p:cNvSpPr txBox="true"/>
              <p:nvPr/>
            </p:nvSpPr>
            <p:spPr>
              <a:xfrm>
                <a:off x="0" y="-38100"/>
                <a:ext cx="1427941" cy="2442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sp>
          <p:nvSpPr>
            <p:cNvPr name="TextBox 21" id="21"/>
            <p:cNvSpPr txBox="true"/>
            <p:nvPr/>
          </p:nvSpPr>
          <p:spPr>
            <a:xfrm rot="0">
              <a:off x="8575472" y="838445"/>
              <a:ext cx="224631" cy="49381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079"/>
                </a:lnSpc>
              </a:pPr>
              <a:r>
                <a:rPr lang="en-US" sz="2199">
                  <a:solidFill>
                    <a:srgbClr val="9B9B9B"/>
                  </a:solidFill>
                  <a:latin typeface="Lucida Console"/>
                  <a:ea typeface="Lucida Console"/>
                  <a:cs typeface="Lucida Console"/>
                  <a:sym typeface="Lucida Console"/>
                </a:rPr>
                <a:t>X</a:t>
              </a:r>
            </a:p>
          </p:txBody>
        </p:sp>
        <p:sp>
          <p:nvSpPr>
            <p:cNvPr name="TextBox 22" id="22"/>
            <p:cNvSpPr txBox="true"/>
            <p:nvPr/>
          </p:nvSpPr>
          <p:spPr>
            <a:xfrm rot="0">
              <a:off x="2069427" y="763092"/>
              <a:ext cx="6513262" cy="56917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640"/>
                </a:lnSpc>
              </a:pPr>
              <a:r>
                <a:rPr lang="en-US" sz="2600">
                  <a:solidFill>
                    <a:srgbClr val="E2E8E8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tipos_dados_compostos.py</a:t>
              </a: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1459671" y="2183765"/>
            <a:ext cx="16576040" cy="61385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# Vamos adaptar nossa função de converter tempo para usar tipo composto:</a:t>
            </a:r>
          </a:p>
          <a:p>
            <a:pPr algn="l">
              <a:lnSpc>
                <a:spcPts val="4899"/>
              </a:lnSpc>
            </a:pP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 </a:t>
            </a:r>
            <a:r>
              <a:rPr lang="en-US" sz="2799">
                <a:solidFill>
                  <a:srgbClr val="38B6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from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dataclasses </a:t>
            </a:r>
            <a:r>
              <a:rPr lang="en-US" sz="2799">
                <a:solidFill>
                  <a:srgbClr val="38B6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import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dataclass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 </a:t>
            </a:r>
            <a:r>
              <a:rPr lang="en-US" sz="2799">
                <a:solidFill>
                  <a:srgbClr val="F4D074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@dataclass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... </a:t>
            </a:r>
            <a:r>
              <a:rPr lang="en-US" sz="2799">
                <a:solidFill>
                  <a:srgbClr val="38B6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class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</a:t>
            </a:r>
            <a:r>
              <a:rPr lang="en-US" sz="2799">
                <a:solidFill>
                  <a:srgbClr val="0BFFA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Tempo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: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...     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horas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: </a:t>
            </a:r>
            <a:r>
              <a:rPr lang="en-US" sz="2799">
                <a:solidFill>
                  <a:srgbClr val="0BFFA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int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...     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minutos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: </a:t>
            </a:r>
            <a:r>
              <a:rPr lang="en-US" sz="2799">
                <a:solidFill>
                  <a:srgbClr val="0BFFA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int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...     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segundos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: </a:t>
            </a:r>
            <a:r>
              <a:rPr lang="en-US" sz="2799">
                <a:solidFill>
                  <a:srgbClr val="0BFFA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int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...</a:t>
            </a:r>
          </a:p>
          <a:p>
            <a:pPr algn="l">
              <a:lnSpc>
                <a:spcPts val="4899"/>
              </a:lnSpc>
            </a:pPr>
          </a:p>
        </p:txBody>
      </p:sp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>
  <p:cSld>
    <p:bg>
      <p:bgPr>
        <a:solidFill>
          <a:srgbClr val="2222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69299" y="-93824"/>
            <a:ext cx="18426598" cy="10380824"/>
            <a:chOff x="0" y="0"/>
            <a:chExt cx="24568798" cy="13841099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568074"/>
              <a:ext cx="1868196" cy="13273025"/>
              <a:chOff x="0" y="0"/>
              <a:chExt cx="369026" cy="2621832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369026" cy="2621832"/>
              </a:xfrm>
              <a:custGeom>
                <a:avLst/>
                <a:gdLst/>
                <a:ahLst/>
                <a:cxnLst/>
                <a:rect r="r" b="b" t="t" l="l"/>
                <a:pathLst>
                  <a:path h="2621832" w="369026">
                    <a:moveTo>
                      <a:pt x="0" y="0"/>
                    </a:moveTo>
                    <a:lnTo>
                      <a:pt x="369026" y="0"/>
                    </a:lnTo>
                    <a:lnTo>
                      <a:pt x="369026" y="2621832"/>
                    </a:lnTo>
                    <a:lnTo>
                      <a:pt x="0" y="2621832"/>
                    </a:lnTo>
                    <a:close/>
                  </a:path>
                </a:pathLst>
              </a:custGeom>
              <a:solidFill>
                <a:srgbClr val="222222"/>
              </a:solidFill>
              <a:ln w="38100" cap="sq">
                <a:solidFill>
                  <a:srgbClr val="444444"/>
                </a:solidFill>
                <a:prstDash val="solid"/>
                <a:miter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161925"/>
                <a:ext cx="369026" cy="278375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r">
                  <a:lnSpc>
                    <a:spcPts val="5039"/>
                  </a:lnSpc>
                </a:pP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2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3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4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5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6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7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8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9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10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11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12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13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14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15 </a:t>
                </a: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61599" y="0"/>
              <a:ext cx="24507199" cy="1471299"/>
              <a:chOff x="0" y="0"/>
              <a:chExt cx="4840928" cy="290627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4840928" cy="290627"/>
              </a:xfrm>
              <a:custGeom>
                <a:avLst/>
                <a:gdLst/>
                <a:ahLst/>
                <a:cxnLst/>
                <a:rect r="r" b="b" t="t" l="l"/>
                <a:pathLst>
                  <a:path h="290627" w="4840928">
                    <a:moveTo>
                      <a:pt x="0" y="0"/>
                    </a:moveTo>
                    <a:lnTo>
                      <a:pt x="4840928" y="0"/>
                    </a:lnTo>
                    <a:lnTo>
                      <a:pt x="4840928" y="290627"/>
                    </a:lnTo>
                    <a:lnTo>
                      <a:pt x="0" y="290627"/>
                    </a:lnTo>
                    <a:close/>
                  </a:path>
                </a:pathLst>
              </a:custGeom>
              <a:solidFill>
                <a:srgbClr val="444444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4840928" cy="32872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302597" y="554790"/>
              <a:ext cx="361720" cy="361720"/>
              <a:chOff x="0" y="0"/>
              <a:chExt cx="812800" cy="812800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E85050"/>
              </a:solidFill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816759" y="554790"/>
              <a:ext cx="361720" cy="361720"/>
              <a:chOff x="0" y="0"/>
              <a:chExt cx="812800" cy="81280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4D074"/>
              </a:solidFill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1330879" y="554790"/>
              <a:ext cx="361720" cy="361720"/>
              <a:chOff x="0" y="0"/>
              <a:chExt cx="812800" cy="81280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56D673"/>
              </a:solidFill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8" id="18"/>
            <p:cNvGrpSpPr/>
            <p:nvPr/>
          </p:nvGrpSpPr>
          <p:grpSpPr>
            <a:xfrm rot="0">
              <a:off x="1868196" y="554790"/>
              <a:ext cx="7228953" cy="1043510"/>
              <a:chOff x="0" y="0"/>
              <a:chExt cx="1427941" cy="206125"/>
            </a:xfrm>
          </p:grpSpPr>
          <p:sp>
            <p:nvSpPr>
              <p:cNvPr name="Freeform 19" id="19"/>
              <p:cNvSpPr/>
              <p:nvPr/>
            </p:nvSpPr>
            <p:spPr>
              <a:xfrm flipH="false" flipV="false" rot="0">
                <a:off x="0" y="0"/>
                <a:ext cx="1427941" cy="206125"/>
              </a:xfrm>
              <a:custGeom>
                <a:avLst/>
                <a:gdLst/>
                <a:ahLst/>
                <a:cxnLst/>
                <a:rect r="r" b="b" t="t" l="l"/>
                <a:pathLst>
                  <a:path h="206125" w="1427941">
                    <a:moveTo>
                      <a:pt x="21419" y="0"/>
                    </a:moveTo>
                    <a:lnTo>
                      <a:pt x="1406522" y="0"/>
                    </a:lnTo>
                    <a:cubicBezTo>
                      <a:pt x="1418352" y="0"/>
                      <a:pt x="1427941" y="9590"/>
                      <a:pt x="1427941" y="21419"/>
                    </a:cubicBezTo>
                    <a:lnTo>
                      <a:pt x="1427941" y="184706"/>
                    </a:lnTo>
                    <a:cubicBezTo>
                      <a:pt x="1427941" y="196536"/>
                      <a:pt x="1418352" y="206125"/>
                      <a:pt x="1406522" y="206125"/>
                    </a:cubicBezTo>
                    <a:lnTo>
                      <a:pt x="21419" y="206125"/>
                    </a:lnTo>
                    <a:cubicBezTo>
                      <a:pt x="9590" y="206125"/>
                      <a:pt x="0" y="196536"/>
                      <a:pt x="0" y="184706"/>
                    </a:cubicBezTo>
                    <a:lnTo>
                      <a:pt x="0" y="21419"/>
                    </a:lnTo>
                    <a:cubicBezTo>
                      <a:pt x="0" y="9590"/>
                      <a:pt x="9590" y="0"/>
                      <a:pt x="21419" y="0"/>
                    </a:cubicBezTo>
                    <a:close/>
                  </a:path>
                </a:pathLst>
              </a:custGeom>
              <a:solidFill>
                <a:srgbClr val="222222"/>
              </a:solidFill>
            </p:spPr>
          </p:sp>
          <p:sp>
            <p:nvSpPr>
              <p:cNvPr name="TextBox 20" id="20"/>
              <p:cNvSpPr txBox="true"/>
              <p:nvPr/>
            </p:nvSpPr>
            <p:spPr>
              <a:xfrm>
                <a:off x="0" y="-38100"/>
                <a:ext cx="1427941" cy="2442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sp>
          <p:nvSpPr>
            <p:cNvPr name="TextBox 21" id="21"/>
            <p:cNvSpPr txBox="true"/>
            <p:nvPr/>
          </p:nvSpPr>
          <p:spPr>
            <a:xfrm rot="0">
              <a:off x="8575472" y="838445"/>
              <a:ext cx="224631" cy="49381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079"/>
                </a:lnSpc>
              </a:pPr>
              <a:r>
                <a:rPr lang="en-US" sz="2199">
                  <a:solidFill>
                    <a:srgbClr val="9B9B9B"/>
                  </a:solidFill>
                  <a:latin typeface="Lucida Console"/>
                  <a:ea typeface="Lucida Console"/>
                  <a:cs typeface="Lucida Console"/>
                  <a:sym typeface="Lucida Console"/>
                </a:rPr>
                <a:t>X</a:t>
              </a:r>
            </a:p>
          </p:txBody>
        </p:sp>
        <p:sp>
          <p:nvSpPr>
            <p:cNvPr name="TextBox 22" id="22"/>
            <p:cNvSpPr txBox="true"/>
            <p:nvPr/>
          </p:nvSpPr>
          <p:spPr>
            <a:xfrm rot="0">
              <a:off x="2069427" y="763092"/>
              <a:ext cx="6513262" cy="56917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640"/>
                </a:lnSpc>
              </a:pPr>
              <a:r>
                <a:rPr lang="en-US" sz="2600">
                  <a:solidFill>
                    <a:srgbClr val="E2E8E8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tipos_dados_compostos.py</a:t>
              </a: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1459671" y="964565"/>
            <a:ext cx="16576040" cy="86150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99"/>
              </a:lnSpc>
            </a:pPr>
          </a:p>
          <a:p>
            <a:pPr algn="l">
              <a:lnSpc>
                <a:spcPts val="4899"/>
              </a:lnSpc>
            </a:pP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 </a:t>
            </a:r>
            <a:r>
              <a:rPr lang="en-US" sz="2799">
                <a:solidFill>
                  <a:srgbClr val="38B6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def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</a:t>
            </a:r>
            <a:r>
              <a:rPr lang="en-US" sz="2799">
                <a:solidFill>
                  <a:srgbClr val="F4D074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converte_tempo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(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temp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o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: </a:t>
            </a:r>
            <a:r>
              <a:rPr lang="en-US" sz="2799">
                <a:solidFill>
                  <a:srgbClr val="0BFFA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int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) -&gt; </a:t>
            </a:r>
            <a:r>
              <a:rPr lang="en-US" sz="2799">
                <a:solidFill>
                  <a:srgbClr val="0BFFA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list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[</a:t>
            </a:r>
            <a:r>
              <a:rPr lang="en-US" sz="2799">
                <a:solidFill>
                  <a:srgbClr val="0BFFA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int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]: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...     </a:t>
            </a: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#</a:t>
            </a: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Calcula horas (1 hora = 3600 segundos)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...     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horas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: </a:t>
            </a:r>
            <a:r>
              <a:rPr lang="en-US" sz="2799">
                <a:solidFill>
                  <a:srgbClr val="0BFFA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int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= 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tempo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// 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3600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...     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tempo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= 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tempo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% 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3600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</a:t>
            </a: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# remove as horas já separadas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...    </a:t>
            </a: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</a:t>
            </a: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# Calcula minutos (1 minutos = 60 segundos)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...     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minutos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: </a:t>
            </a:r>
            <a:r>
              <a:rPr lang="en-US" sz="2799">
                <a:solidFill>
                  <a:srgbClr val="0BFFA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int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= 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tempo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// 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60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...     </a:t>
            </a: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# O restante do tempo são os segundos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...     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segundos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: </a:t>
            </a:r>
            <a:r>
              <a:rPr lang="en-US" sz="2799">
                <a:solidFill>
                  <a:srgbClr val="0BFFA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int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= 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tempo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% 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60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... 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...     </a:t>
            </a:r>
            <a:r>
              <a:rPr lang="en-US" sz="2799">
                <a:solidFill>
                  <a:srgbClr val="38B6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return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</a:t>
            </a:r>
            <a:r>
              <a:rPr lang="en-US" sz="2799">
                <a:solidFill>
                  <a:srgbClr val="0BFFA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Tempo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(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horas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, 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minutos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, 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segundos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)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...</a:t>
            </a:r>
          </a:p>
          <a:p>
            <a:pPr algn="l">
              <a:lnSpc>
                <a:spcPts val="4899"/>
              </a:lnSpc>
            </a:pPr>
          </a:p>
        </p:txBody>
      </p:sp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>
  <p:cSld>
    <p:bg>
      <p:bgPr>
        <a:solidFill>
          <a:srgbClr val="2222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69299" y="-93824"/>
            <a:ext cx="18426598" cy="10380824"/>
            <a:chOff x="0" y="0"/>
            <a:chExt cx="24568798" cy="13841099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568074"/>
              <a:ext cx="1868196" cy="13273025"/>
              <a:chOff x="0" y="0"/>
              <a:chExt cx="369026" cy="2621832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369026" cy="2621832"/>
              </a:xfrm>
              <a:custGeom>
                <a:avLst/>
                <a:gdLst/>
                <a:ahLst/>
                <a:cxnLst/>
                <a:rect r="r" b="b" t="t" l="l"/>
                <a:pathLst>
                  <a:path h="2621832" w="369026">
                    <a:moveTo>
                      <a:pt x="0" y="0"/>
                    </a:moveTo>
                    <a:lnTo>
                      <a:pt x="369026" y="0"/>
                    </a:lnTo>
                    <a:lnTo>
                      <a:pt x="369026" y="2621832"/>
                    </a:lnTo>
                    <a:lnTo>
                      <a:pt x="0" y="2621832"/>
                    </a:lnTo>
                    <a:close/>
                  </a:path>
                </a:pathLst>
              </a:custGeom>
              <a:solidFill>
                <a:srgbClr val="222222"/>
              </a:solidFill>
              <a:ln w="38100" cap="sq">
                <a:solidFill>
                  <a:srgbClr val="444444"/>
                </a:solidFill>
                <a:prstDash val="solid"/>
                <a:miter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161925"/>
                <a:ext cx="369026" cy="278375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r">
                  <a:lnSpc>
                    <a:spcPts val="5039"/>
                  </a:lnSpc>
                </a:pP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2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3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4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5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6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7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8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9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10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11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12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13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14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15 </a:t>
                </a: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61599" y="0"/>
              <a:ext cx="24507199" cy="1471299"/>
              <a:chOff x="0" y="0"/>
              <a:chExt cx="4840928" cy="290627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4840928" cy="290627"/>
              </a:xfrm>
              <a:custGeom>
                <a:avLst/>
                <a:gdLst/>
                <a:ahLst/>
                <a:cxnLst/>
                <a:rect r="r" b="b" t="t" l="l"/>
                <a:pathLst>
                  <a:path h="290627" w="4840928">
                    <a:moveTo>
                      <a:pt x="0" y="0"/>
                    </a:moveTo>
                    <a:lnTo>
                      <a:pt x="4840928" y="0"/>
                    </a:lnTo>
                    <a:lnTo>
                      <a:pt x="4840928" y="290627"/>
                    </a:lnTo>
                    <a:lnTo>
                      <a:pt x="0" y="290627"/>
                    </a:lnTo>
                    <a:close/>
                  </a:path>
                </a:pathLst>
              </a:custGeom>
              <a:solidFill>
                <a:srgbClr val="444444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4840928" cy="32872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302597" y="554790"/>
              <a:ext cx="361720" cy="361720"/>
              <a:chOff x="0" y="0"/>
              <a:chExt cx="812800" cy="812800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E85050"/>
              </a:solidFill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816759" y="554790"/>
              <a:ext cx="361720" cy="361720"/>
              <a:chOff x="0" y="0"/>
              <a:chExt cx="812800" cy="81280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4D074"/>
              </a:solidFill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1330879" y="554790"/>
              <a:ext cx="361720" cy="361720"/>
              <a:chOff x="0" y="0"/>
              <a:chExt cx="812800" cy="81280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56D673"/>
              </a:solidFill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8" id="18"/>
            <p:cNvGrpSpPr/>
            <p:nvPr/>
          </p:nvGrpSpPr>
          <p:grpSpPr>
            <a:xfrm rot="0">
              <a:off x="1868196" y="554790"/>
              <a:ext cx="7228953" cy="1043510"/>
              <a:chOff x="0" y="0"/>
              <a:chExt cx="1427941" cy="206125"/>
            </a:xfrm>
          </p:grpSpPr>
          <p:sp>
            <p:nvSpPr>
              <p:cNvPr name="Freeform 19" id="19"/>
              <p:cNvSpPr/>
              <p:nvPr/>
            </p:nvSpPr>
            <p:spPr>
              <a:xfrm flipH="false" flipV="false" rot="0">
                <a:off x="0" y="0"/>
                <a:ext cx="1427941" cy="206125"/>
              </a:xfrm>
              <a:custGeom>
                <a:avLst/>
                <a:gdLst/>
                <a:ahLst/>
                <a:cxnLst/>
                <a:rect r="r" b="b" t="t" l="l"/>
                <a:pathLst>
                  <a:path h="206125" w="1427941">
                    <a:moveTo>
                      <a:pt x="21419" y="0"/>
                    </a:moveTo>
                    <a:lnTo>
                      <a:pt x="1406522" y="0"/>
                    </a:lnTo>
                    <a:cubicBezTo>
                      <a:pt x="1418352" y="0"/>
                      <a:pt x="1427941" y="9590"/>
                      <a:pt x="1427941" y="21419"/>
                    </a:cubicBezTo>
                    <a:lnTo>
                      <a:pt x="1427941" y="184706"/>
                    </a:lnTo>
                    <a:cubicBezTo>
                      <a:pt x="1427941" y="196536"/>
                      <a:pt x="1418352" y="206125"/>
                      <a:pt x="1406522" y="206125"/>
                    </a:cubicBezTo>
                    <a:lnTo>
                      <a:pt x="21419" y="206125"/>
                    </a:lnTo>
                    <a:cubicBezTo>
                      <a:pt x="9590" y="206125"/>
                      <a:pt x="0" y="196536"/>
                      <a:pt x="0" y="184706"/>
                    </a:cubicBezTo>
                    <a:lnTo>
                      <a:pt x="0" y="21419"/>
                    </a:lnTo>
                    <a:cubicBezTo>
                      <a:pt x="0" y="9590"/>
                      <a:pt x="9590" y="0"/>
                      <a:pt x="21419" y="0"/>
                    </a:cubicBezTo>
                    <a:close/>
                  </a:path>
                </a:pathLst>
              </a:custGeom>
              <a:solidFill>
                <a:srgbClr val="222222"/>
              </a:solidFill>
            </p:spPr>
          </p:sp>
          <p:sp>
            <p:nvSpPr>
              <p:cNvPr name="TextBox 20" id="20"/>
              <p:cNvSpPr txBox="true"/>
              <p:nvPr/>
            </p:nvSpPr>
            <p:spPr>
              <a:xfrm>
                <a:off x="0" y="-38100"/>
                <a:ext cx="1427941" cy="2442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sp>
          <p:nvSpPr>
            <p:cNvPr name="TextBox 21" id="21"/>
            <p:cNvSpPr txBox="true"/>
            <p:nvPr/>
          </p:nvSpPr>
          <p:spPr>
            <a:xfrm rot="0">
              <a:off x="8575472" y="838445"/>
              <a:ext cx="224631" cy="49381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079"/>
                </a:lnSpc>
              </a:pPr>
              <a:r>
                <a:rPr lang="en-US" sz="2199">
                  <a:solidFill>
                    <a:srgbClr val="9B9B9B"/>
                  </a:solidFill>
                  <a:latin typeface="Lucida Console"/>
                  <a:ea typeface="Lucida Console"/>
                  <a:cs typeface="Lucida Console"/>
                  <a:sym typeface="Lucida Console"/>
                </a:rPr>
                <a:t>X</a:t>
              </a:r>
            </a:p>
          </p:txBody>
        </p:sp>
        <p:sp>
          <p:nvSpPr>
            <p:cNvPr name="TextBox 22" id="22"/>
            <p:cNvSpPr txBox="true"/>
            <p:nvPr/>
          </p:nvSpPr>
          <p:spPr>
            <a:xfrm rot="0">
              <a:off x="2069427" y="763092"/>
              <a:ext cx="6513262" cy="56917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640"/>
                </a:lnSpc>
              </a:pPr>
              <a:r>
                <a:rPr lang="en-US" sz="2600">
                  <a:solidFill>
                    <a:srgbClr val="E2E8E8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tipos_dados_compostos.py</a:t>
              </a: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1459671" y="2802890"/>
            <a:ext cx="16576040" cy="42811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‘’’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</a:t>
            </a: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erto, mas como podem</a:t>
            </a: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os consultar os dados internos</a:t>
            </a: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de um tipo </a:t>
            </a: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composto?</a:t>
            </a:r>
          </a:p>
          <a:p>
            <a:pPr algn="l">
              <a:lnSpc>
                <a:spcPts val="4899"/>
              </a:lnSpc>
            </a:pP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Para fazer isso, podemos</a:t>
            </a: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usar o n</a:t>
            </a: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ome da variável + ponto (.) + nome do campo:</a:t>
            </a:r>
          </a:p>
          <a:p>
            <a:pPr algn="l">
              <a:lnSpc>
                <a:spcPts val="4899"/>
              </a:lnSpc>
            </a:pP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 </a:t>
            </a: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variavel_do_tipo.nome_do_campo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‘’’</a:t>
            </a:r>
          </a:p>
        </p:txBody>
      </p:sp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>
  <p:cSld>
    <p:bg>
      <p:bgPr>
        <a:solidFill>
          <a:srgbClr val="2222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59774" y="-93824"/>
            <a:ext cx="18426598" cy="10380824"/>
            <a:chOff x="0" y="0"/>
            <a:chExt cx="24568798" cy="13841099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568074"/>
              <a:ext cx="1868196" cy="13273025"/>
              <a:chOff x="0" y="0"/>
              <a:chExt cx="369026" cy="2621832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369026" cy="2621832"/>
              </a:xfrm>
              <a:custGeom>
                <a:avLst/>
                <a:gdLst/>
                <a:ahLst/>
                <a:cxnLst/>
                <a:rect r="r" b="b" t="t" l="l"/>
                <a:pathLst>
                  <a:path h="2621832" w="369026">
                    <a:moveTo>
                      <a:pt x="0" y="0"/>
                    </a:moveTo>
                    <a:lnTo>
                      <a:pt x="369026" y="0"/>
                    </a:lnTo>
                    <a:lnTo>
                      <a:pt x="369026" y="2621832"/>
                    </a:lnTo>
                    <a:lnTo>
                      <a:pt x="0" y="2621832"/>
                    </a:lnTo>
                    <a:close/>
                  </a:path>
                </a:pathLst>
              </a:custGeom>
              <a:solidFill>
                <a:srgbClr val="222222"/>
              </a:solidFill>
              <a:ln w="38100" cap="sq">
                <a:solidFill>
                  <a:srgbClr val="444444"/>
                </a:solidFill>
                <a:prstDash val="solid"/>
                <a:miter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161925"/>
                <a:ext cx="369026" cy="278375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r">
                  <a:lnSpc>
                    <a:spcPts val="5039"/>
                  </a:lnSpc>
                </a:pP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2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3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4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5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6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7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8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9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10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11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12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13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14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15 </a:t>
                </a: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61599" y="0"/>
              <a:ext cx="24507199" cy="1471299"/>
              <a:chOff x="0" y="0"/>
              <a:chExt cx="4840928" cy="290627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4840928" cy="290627"/>
              </a:xfrm>
              <a:custGeom>
                <a:avLst/>
                <a:gdLst/>
                <a:ahLst/>
                <a:cxnLst/>
                <a:rect r="r" b="b" t="t" l="l"/>
                <a:pathLst>
                  <a:path h="290627" w="4840928">
                    <a:moveTo>
                      <a:pt x="0" y="0"/>
                    </a:moveTo>
                    <a:lnTo>
                      <a:pt x="4840928" y="0"/>
                    </a:lnTo>
                    <a:lnTo>
                      <a:pt x="4840928" y="290627"/>
                    </a:lnTo>
                    <a:lnTo>
                      <a:pt x="0" y="290627"/>
                    </a:lnTo>
                    <a:close/>
                  </a:path>
                </a:pathLst>
              </a:custGeom>
              <a:solidFill>
                <a:srgbClr val="444444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4840928" cy="32872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302597" y="554790"/>
              <a:ext cx="361720" cy="361720"/>
              <a:chOff x="0" y="0"/>
              <a:chExt cx="812800" cy="812800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E85050"/>
              </a:solidFill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816759" y="554790"/>
              <a:ext cx="361720" cy="361720"/>
              <a:chOff x="0" y="0"/>
              <a:chExt cx="812800" cy="81280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4D074"/>
              </a:solidFill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1330879" y="554790"/>
              <a:ext cx="361720" cy="361720"/>
              <a:chOff x="0" y="0"/>
              <a:chExt cx="812800" cy="81280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56D673"/>
              </a:solidFill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8" id="18"/>
            <p:cNvGrpSpPr/>
            <p:nvPr/>
          </p:nvGrpSpPr>
          <p:grpSpPr>
            <a:xfrm rot="0">
              <a:off x="1868196" y="554790"/>
              <a:ext cx="7228953" cy="1043510"/>
              <a:chOff x="0" y="0"/>
              <a:chExt cx="1427941" cy="206125"/>
            </a:xfrm>
          </p:grpSpPr>
          <p:sp>
            <p:nvSpPr>
              <p:cNvPr name="Freeform 19" id="19"/>
              <p:cNvSpPr/>
              <p:nvPr/>
            </p:nvSpPr>
            <p:spPr>
              <a:xfrm flipH="false" flipV="false" rot="0">
                <a:off x="0" y="0"/>
                <a:ext cx="1427941" cy="206125"/>
              </a:xfrm>
              <a:custGeom>
                <a:avLst/>
                <a:gdLst/>
                <a:ahLst/>
                <a:cxnLst/>
                <a:rect r="r" b="b" t="t" l="l"/>
                <a:pathLst>
                  <a:path h="206125" w="1427941">
                    <a:moveTo>
                      <a:pt x="21419" y="0"/>
                    </a:moveTo>
                    <a:lnTo>
                      <a:pt x="1406522" y="0"/>
                    </a:lnTo>
                    <a:cubicBezTo>
                      <a:pt x="1418352" y="0"/>
                      <a:pt x="1427941" y="9590"/>
                      <a:pt x="1427941" y="21419"/>
                    </a:cubicBezTo>
                    <a:lnTo>
                      <a:pt x="1427941" y="184706"/>
                    </a:lnTo>
                    <a:cubicBezTo>
                      <a:pt x="1427941" y="196536"/>
                      <a:pt x="1418352" y="206125"/>
                      <a:pt x="1406522" y="206125"/>
                    </a:cubicBezTo>
                    <a:lnTo>
                      <a:pt x="21419" y="206125"/>
                    </a:lnTo>
                    <a:cubicBezTo>
                      <a:pt x="9590" y="206125"/>
                      <a:pt x="0" y="196536"/>
                      <a:pt x="0" y="184706"/>
                    </a:cubicBezTo>
                    <a:lnTo>
                      <a:pt x="0" y="21419"/>
                    </a:lnTo>
                    <a:cubicBezTo>
                      <a:pt x="0" y="9590"/>
                      <a:pt x="9590" y="0"/>
                      <a:pt x="21419" y="0"/>
                    </a:cubicBezTo>
                    <a:close/>
                  </a:path>
                </a:pathLst>
              </a:custGeom>
              <a:solidFill>
                <a:srgbClr val="222222"/>
              </a:solidFill>
            </p:spPr>
          </p:sp>
          <p:sp>
            <p:nvSpPr>
              <p:cNvPr name="TextBox 20" id="20"/>
              <p:cNvSpPr txBox="true"/>
              <p:nvPr/>
            </p:nvSpPr>
            <p:spPr>
              <a:xfrm>
                <a:off x="0" y="-38100"/>
                <a:ext cx="1427941" cy="2442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sp>
          <p:nvSpPr>
            <p:cNvPr name="TextBox 21" id="21"/>
            <p:cNvSpPr txBox="true"/>
            <p:nvPr/>
          </p:nvSpPr>
          <p:spPr>
            <a:xfrm rot="0">
              <a:off x="8575472" y="838445"/>
              <a:ext cx="224631" cy="49381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079"/>
                </a:lnSpc>
              </a:pPr>
              <a:r>
                <a:rPr lang="en-US" sz="2199">
                  <a:solidFill>
                    <a:srgbClr val="9B9B9B"/>
                  </a:solidFill>
                  <a:latin typeface="Lucida Console"/>
                  <a:ea typeface="Lucida Console"/>
                  <a:cs typeface="Lucida Console"/>
                  <a:sym typeface="Lucida Console"/>
                </a:rPr>
                <a:t>X</a:t>
              </a:r>
            </a:p>
          </p:txBody>
        </p:sp>
        <p:sp>
          <p:nvSpPr>
            <p:cNvPr name="TextBox 22" id="22"/>
            <p:cNvSpPr txBox="true"/>
            <p:nvPr/>
          </p:nvSpPr>
          <p:spPr>
            <a:xfrm rot="0">
              <a:off x="2069427" y="763092"/>
              <a:ext cx="6513262" cy="56917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640"/>
                </a:lnSpc>
              </a:pPr>
              <a:r>
                <a:rPr lang="en-US" sz="2600">
                  <a:solidFill>
                    <a:srgbClr val="E2E8E8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tipos_dados_compostos.py</a:t>
              </a: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1459671" y="1574165"/>
            <a:ext cx="16576040" cy="73767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‘’’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Vamos fazer uma</a:t>
            </a: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nova função que recebe um </a:t>
            </a: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tempo usando o tipo Tempo que criamos e que exibe uma mensagem personalizada</a:t>
            </a: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para o</a:t>
            </a: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usuário.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‘’’</a:t>
            </a:r>
          </a:p>
          <a:p>
            <a:pPr algn="l">
              <a:lnSpc>
                <a:spcPts val="4899"/>
              </a:lnSpc>
            </a:pP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 </a:t>
            </a:r>
            <a:r>
              <a:rPr lang="en-US" sz="2799">
                <a:solidFill>
                  <a:srgbClr val="38B6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def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</a:t>
            </a:r>
            <a:r>
              <a:rPr lang="en-US" sz="2799">
                <a:solidFill>
                  <a:srgbClr val="F4D074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exibe_tempo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(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tempo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: </a:t>
            </a:r>
            <a:r>
              <a:rPr lang="en-US" sz="2799">
                <a:solidFill>
                  <a:srgbClr val="0BFFA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Tempo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):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...   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horas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: </a:t>
            </a:r>
            <a:r>
              <a:rPr lang="en-US" sz="2799">
                <a:solidFill>
                  <a:srgbClr val="0BFFA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int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= 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tempo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horas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...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   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minutos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: </a:t>
            </a:r>
            <a:r>
              <a:rPr lang="en-US" sz="2799">
                <a:solidFill>
                  <a:srgbClr val="0BFFA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int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= 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tempo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minutos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...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   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segundos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: </a:t>
            </a:r>
            <a:r>
              <a:rPr lang="en-US" sz="2799">
                <a:solidFill>
                  <a:srgbClr val="0BFFA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int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= 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tempo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segundos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...    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</a:t>
            </a:r>
            <a:r>
              <a:rPr lang="en-US" sz="2799">
                <a:solidFill>
                  <a:srgbClr val="F4D074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print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(</a:t>
            </a:r>
            <a:r>
              <a:rPr lang="en-US" sz="2799">
                <a:solidFill>
                  <a:srgbClr val="0BFFA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str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(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horas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) + 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" horas, "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+ </a:t>
            </a:r>
            <a:r>
              <a:rPr lang="en-US" sz="2799">
                <a:solidFill>
                  <a:srgbClr val="0BFFA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str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(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minutos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) +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" minutos e "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+ 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       </a:t>
            </a:r>
            <a:r>
              <a:rPr lang="en-US" sz="2799">
                <a:solidFill>
                  <a:srgbClr val="0BFFA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str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(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segundos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) + 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" segundos"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)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...</a:t>
            </a:r>
          </a:p>
        </p:txBody>
      </p:sp>
    </p:spTree>
  </p:cSld>
  <p:clrMapOvr>
    <a:masterClrMapping/>
  </p:clrMapOvr>
</p:sld>
</file>

<file path=ppt/slides/slide22.xml><?xml version="1.0" encoding="utf-8"?>
<p:sld xmlns:p="http://schemas.openxmlformats.org/presentationml/2006/main" xmlns:a="http://schemas.openxmlformats.org/drawingml/2006/main">
  <p:cSld>
    <p:bg>
      <p:bgPr>
        <a:solidFill>
          <a:srgbClr val="2222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69299" y="-93824"/>
            <a:ext cx="18426598" cy="10380824"/>
            <a:chOff x="0" y="0"/>
            <a:chExt cx="24568798" cy="13841099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568074"/>
              <a:ext cx="1868196" cy="13273025"/>
              <a:chOff x="0" y="0"/>
              <a:chExt cx="369026" cy="2621832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369026" cy="2621832"/>
              </a:xfrm>
              <a:custGeom>
                <a:avLst/>
                <a:gdLst/>
                <a:ahLst/>
                <a:cxnLst/>
                <a:rect r="r" b="b" t="t" l="l"/>
                <a:pathLst>
                  <a:path h="2621832" w="369026">
                    <a:moveTo>
                      <a:pt x="0" y="0"/>
                    </a:moveTo>
                    <a:lnTo>
                      <a:pt x="369026" y="0"/>
                    </a:lnTo>
                    <a:lnTo>
                      <a:pt x="369026" y="2621832"/>
                    </a:lnTo>
                    <a:lnTo>
                      <a:pt x="0" y="2621832"/>
                    </a:lnTo>
                    <a:close/>
                  </a:path>
                </a:pathLst>
              </a:custGeom>
              <a:solidFill>
                <a:srgbClr val="222222"/>
              </a:solidFill>
              <a:ln w="38100" cap="sq">
                <a:solidFill>
                  <a:srgbClr val="444444"/>
                </a:solidFill>
                <a:prstDash val="solid"/>
                <a:miter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161925"/>
                <a:ext cx="369026" cy="278375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r">
                  <a:lnSpc>
                    <a:spcPts val="5039"/>
                  </a:lnSpc>
                </a:pP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2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3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4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5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6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7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8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9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10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11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12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13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14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15 </a:t>
                </a: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61599" y="0"/>
              <a:ext cx="24507199" cy="1471299"/>
              <a:chOff x="0" y="0"/>
              <a:chExt cx="4840928" cy="290627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4840928" cy="290627"/>
              </a:xfrm>
              <a:custGeom>
                <a:avLst/>
                <a:gdLst/>
                <a:ahLst/>
                <a:cxnLst/>
                <a:rect r="r" b="b" t="t" l="l"/>
                <a:pathLst>
                  <a:path h="290627" w="4840928">
                    <a:moveTo>
                      <a:pt x="0" y="0"/>
                    </a:moveTo>
                    <a:lnTo>
                      <a:pt x="4840928" y="0"/>
                    </a:lnTo>
                    <a:lnTo>
                      <a:pt x="4840928" y="290627"/>
                    </a:lnTo>
                    <a:lnTo>
                      <a:pt x="0" y="290627"/>
                    </a:lnTo>
                    <a:close/>
                  </a:path>
                </a:pathLst>
              </a:custGeom>
              <a:solidFill>
                <a:srgbClr val="444444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4840928" cy="32872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302597" y="554790"/>
              <a:ext cx="361720" cy="361720"/>
              <a:chOff x="0" y="0"/>
              <a:chExt cx="812800" cy="812800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E85050"/>
              </a:solidFill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816759" y="554790"/>
              <a:ext cx="361720" cy="361720"/>
              <a:chOff x="0" y="0"/>
              <a:chExt cx="812800" cy="81280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4D074"/>
              </a:solidFill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1330879" y="554790"/>
              <a:ext cx="361720" cy="361720"/>
              <a:chOff x="0" y="0"/>
              <a:chExt cx="812800" cy="81280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56D673"/>
              </a:solidFill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8" id="18"/>
            <p:cNvGrpSpPr/>
            <p:nvPr/>
          </p:nvGrpSpPr>
          <p:grpSpPr>
            <a:xfrm rot="0">
              <a:off x="1868196" y="554790"/>
              <a:ext cx="7228953" cy="1043510"/>
              <a:chOff x="0" y="0"/>
              <a:chExt cx="1427941" cy="206125"/>
            </a:xfrm>
          </p:grpSpPr>
          <p:sp>
            <p:nvSpPr>
              <p:cNvPr name="Freeform 19" id="19"/>
              <p:cNvSpPr/>
              <p:nvPr/>
            </p:nvSpPr>
            <p:spPr>
              <a:xfrm flipH="false" flipV="false" rot="0">
                <a:off x="0" y="0"/>
                <a:ext cx="1427941" cy="206125"/>
              </a:xfrm>
              <a:custGeom>
                <a:avLst/>
                <a:gdLst/>
                <a:ahLst/>
                <a:cxnLst/>
                <a:rect r="r" b="b" t="t" l="l"/>
                <a:pathLst>
                  <a:path h="206125" w="1427941">
                    <a:moveTo>
                      <a:pt x="21419" y="0"/>
                    </a:moveTo>
                    <a:lnTo>
                      <a:pt x="1406522" y="0"/>
                    </a:lnTo>
                    <a:cubicBezTo>
                      <a:pt x="1418352" y="0"/>
                      <a:pt x="1427941" y="9590"/>
                      <a:pt x="1427941" y="21419"/>
                    </a:cubicBezTo>
                    <a:lnTo>
                      <a:pt x="1427941" y="184706"/>
                    </a:lnTo>
                    <a:cubicBezTo>
                      <a:pt x="1427941" y="196536"/>
                      <a:pt x="1418352" y="206125"/>
                      <a:pt x="1406522" y="206125"/>
                    </a:cubicBezTo>
                    <a:lnTo>
                      <a:pt x="21419" y="206125"/>
                    </a:lnTo>
                    <a:cubicBezTo>
                      <a:pt x="9590" y="206125"/>
                      <a:pt x="0" y="196536"/>
                      <a:pt x="0" y="184706"/>
                    </a:cubicBezTo>
                    <a:lnTo>
                      <a:pt x="0" y="21419"/>
                    </a:lnTo>
                    <a:cubicBezTo>
                      <a:pt x="0" y="9590"/>
                      <a:pt x="9590" y="0"/>
                      <a:pt x="21419" y="0"/>
                    </a:cubicBezTo>
                    <a:close/>
                  </a:path>
                </a:pathLst>
              </a:custGeom>
              <a:solidFill>
                <a:srgbClr val="222222"/>
              </a:solidFill>
            </p:spPr>
          </p:sp>
          <p:sp>
            <p:nvSpPr>
              <p:cNvPr name="TextBox 20" id="20"/>
              <p:cNvSpPr txBox="true"/>
              <p:nvPr/>
            </p:nvSpPr>
            <p:spPr>
              <a:xfrm>
                <a:off x="0" y="-38100"/>
                <a:ext cx="1427941" cy="2442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sp>
          <p:nvSpPr>
            <p:cNvPr name="TextBox 21" id="21"/>
            <p:cNvSpPr txBox="true"/>
            <p:nvPr/>
          </p:nvSpPr>
          <p:spPr>
            <a:xfrm rot="0">
              <a:off x="8575472" y="838445"/>
              <a:ext cx="224631" cy="49381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079"/>
                </a:lnSpc>
              </a:pPr>
              <a:r>
                <a:rPr lang="en-US" sz="2199">
                  <a:solidFill>
                    <a:srgbClr val="9B9B9B"/>
                  </a:solidFill>
                  <a:latin typeface="Lucida Console"/>
                  <a:ea typeface="Lucida Console"/>
                  <a:cs typeface="Lucida Console"/>
                  <a:sym typeface="Lucida Console"/>
                </a:rPr>
                <a:t>X</a:t>
              </a:r>
            </a:p>
          </p:txBody>
        </p:sp>
        <p:sp>
          <p:nvSpPr>
            <p:cNvPr name="TextBox 22" id="22"/>
            <p:cNvSpPr txBox="true"/>
            <p:nvPr/>
          </p:nvSpPr>
          <p:spPr>
            <a:xfrm rot="0">
              <a:off x="2069427" y="763092"/>
              <a:ext cx="6513262" cy="56917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640"/>
                </a:lnSpc>
              </a:pPr>
              <a:r>
                <a:rPr lang="en-US" sz="2600">
                  <a:solidFill>
                    <a:srgbClr val="E2E8E8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tipos_dados_compostos.py</a:t>
              </a: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1459671" y="935990"/>
            <a:ext cx="16576040" cy="92341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‘’’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</a:t>
            </a: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or fim, também podemos mudar</a:t>
            </a: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os valores de um campo específico da variável que con</a:t>
            </a: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tém o dado composto.</a:t>
            </a:r>
          </a:p>
          <a:p>
            <a:pPr algn="l">
              <a:lnSpc>
                <a:spcPts val="4899"/>
              </a:lnSpc>
            </a:pP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Para isso, fazemos a mesma coisa que no acesso ao dado (nome da variável + ponto +</a:t>
            </a: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nome do</a:t>
            </a: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campo)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‘’’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 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meu_tempo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: </a:t>
            </a:r>
            <a:r>
              <a:rPr lang="en-US" sz="2799">
                <a:solidFill>
                  <a:srgbClr val="0BFFA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</a:t>
            </a:r>
            <a:r>
              <a:rPr lang="en-US" sz="2799">
                <a:solidFill>
                  <a:srgbClr val="0BFFA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empo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= </a:t>
            </a:r>
            <a:r>
              <a:rPr lang="en-US" sz="2799">
                <a:solidFill>
                  <a:srgbClr val="0BFFA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Tempo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(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8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, 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15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, 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20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)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 </a:t>
            </a:r>
            <a:r>
              <a:rPr lang="en-US" sz="2799">
                <a:solidFill>
                  <a:srgbClr val="F4D074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exibe_tempo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(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meu_tempo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) </a:t>
            </a: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# Exibe:</a:t>
            </a: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8</a:t>
            </a: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horas, 15 minutos e 20 segundos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 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meu_tempo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horas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= 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4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 </a:t>
            </a:r>
            <a:r>
              <a:rPr lang="en-US" sz="2799">
                <a:solidFill>
                  <a:srgbClr val="F4D074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ex</a:t>
            </a:r>
            <a:r>
              <a:rPr lang="en-US" sz="2799">
                <a:solidFill>
                  <a:srgbClr val="F4D074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ibe_tempo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(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meu_tempo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) </a:t>
            </a: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# Exibe: 4 horas, 15 </a:t>
            </a: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minutos e 20 segundos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 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meu_tempo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minutos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= 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5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 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meu_tempo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segundos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= 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 </a:t>
            </a:r>
            <a:r>
              <a:rPr lang="en-US" sz="2799">
                <a:solidFill>
                  <a:srgbClr val="F4D074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exibe_tempo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(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meu_tempo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) </a:t>
            </a: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# Exibe: 8 horas, 5 minutos e 0 segundos</a:t>
            </a:r>
          </a:p>
          <a:p>
            <a:pPr algn="l">
              <a:lnSpc>
                <a:spcPts val="4899"/>
              </a:lnSpc>
            </a:pPr>
          </a:p>
        </p:txBody>
      </p:sp>
    </p:spTree>
  </p:cSld>
  <p:clrMapOvr>
    <a:masterClrMapping/>
  </p:clrMapOvr>
</p:sld>
</file>

<file path=ppt/slides/slide23.xml><?xml version="1.0" encoding="utf-8"?>
<p:sld xmlns:p="http://schemas.openxmlformats.org/presentationml/2006/main" xmlns:a="http://schemas.openxmlformats.org/drawingml/2006/main">
  <p:cSld>
    <p:bg>
      <p:bgPr>
        <a:solidFill>
          <a:srgbClr val="2222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69299" y="-93824"/>
            <a:ext cx="18426598" cy="10380824"/>
            <a:chOff x="0" y="0"/>
            <a:chExt cx="24568798" cy="13841099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568074"/>
              <a:ext cx="1868196" cy="13273025"/>
              <a:chOff x="0" y="0"/>
              <a:chExt cx="369026" cy="2621832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369026" cy="2621832"/>
              </a:xfrm>
              <a:custGeom>
                <a:avLst/>
                <a:gdLst/>
                <a:ahLst/>
                <a:cxnLst/>
                <a:rect r="r" b="b" t="t" l="l"/>
                <a:pathLst>
                  <a:path h="2621832" w="369026">
                    <a:moveTo>
                      <a:pt x="0" y="0"/>
                    </a:moveTo>
                    <a:lnTo>
                      <a:pt x="369026" y="0"/>
                    </a:lnTo>
                    <a:lnTo>
                      <a:pt x="369026" y="2621832"/>
                    </a:lnTo>
                    <a:lnTo>
                      <a:pt x="0" y="2621832"/>
                    </a:lnTo>
                    <a:close/>
                  </a:path>
                </a:pathLst>
              </a:custGeom>
              <a:solidFill>
                <a:srgbClr val="222222"/>
              </a:solidFill>
              <a:ln w="38100" cap="sq">
                <a:solidFill>
                  <a:srgbClr val="444444"/>
                </a:solidFill>
                <a:prstDash val="solid"/>
                <a:miter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161925"/>
                <a:ext cx="369026" cy="278375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r">
                  <a:lnSpc>
                    <a:spcPts val="5039"/>
                  </a:lnSpc>
                </a:pP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2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3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4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5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6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7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8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9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10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11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12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13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14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15 </a:t>
                </a: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61599" y="0"/>
              <a:ext cx="24507199" cy="1471299"/>
              <a:chOff x="0" y="0"/>
              <a:chExt cx="4840928" cy="290627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4840928" cy="290627"/>
              </a:xfrm>
              <a:custGeom>
                <a:avLst/>
                <a:gdLst/>
                <a:ahLst/>
                <a:cxnLst/>
                <a:rect r="r" b="b" t="t" l="l"/>
                <a:pathLst>
                  <a:path h="290627" w="4840928">
                    <a:moveTo>
                      <a:pt x="0" y="0"/>
                    </a:moveTo>
                    <a:lnTo>
                      <a:pt x="4840928" y="0"/>
                    </a:lnTo>
                    <a:lnTo>
                      <a:pt x="4840928" y="290627"/>
                    </a:lnTo>
                    <a:lnTo>
                      <a:pt x="0" y="290627"/>
                    </a:lnTo>
                    <a:close/>
                  </a:path>
                </a:pathLst>
              </a:custGeom>
              <a:solidFill>
                <a:srgbClr val="444444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4840928" cy="32872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302597" y="554790"/>
              <a:ext cx="361720" cy="361720"/>
              <a:chOff x="0" y="0"/>
              <a:chExt cx="812800" cy="812800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E85050"/>
              </a:solidFill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816759" y="554790"/>
              <a:ext cx="361720" cy="361720"/>
              <a:chOff x="0" y="0"/>
              <a:chExt cx="812800" cy="81280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4D074"/>
              </a:solidFill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1330879" y="554790"/>
              <a:ext cx="361720" cy="361720"/>
              <a:chOff x="0" y="0"/>
              <a:chExt cx="812800" cy="81280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56D673"/>
              </a:solidFill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8" id="18"/>
            <p:cNvGrpSpPr/>
            <p:nvPr/>
          </p:nvGrpSpPr>
          <p:grpSpPr>
            <a:xfrm rot="0">
              <a:off x="1868196" y="554790"/>
              <a:ext cx="7228953" cy="1043510"/>
              <a:chOff x="0" y="0"/>
              <a:chExt cx="1427941" cy="206125"/>
            </a:xfrm>
          </p:grpSpPr>
          <p:sp>
            <p:nvSpPr>
              <p:cNvPr name="Freeform 19" id="19"/>
              <p:cNvSpPr/>
              <p:nvPr/>
            </p:nvSpPr>
            <p:spPr>
              <a:xfrm flipH="false" flipV="false" rot="0">
                <a:off x="0" y="0"/>
                <a:ext cx="1427941" cy="206125"/>
              </a:xfrm>
              <a:custGeom>
                <a:avLst/>
                <a:gdLst/>
                <a:ahLst/>
                <a:cxnLst/>
                <a:rect r="r" b="b" t="t" l="l"/>
                <a:pathLst>
                  <a:path h="206125" w="1427941">
                    <a:moveTo>
                      <a:pt x="21419" y="0"/>
                    </a:moveTo>
                    <a:lnTo>
                      <a:pt x="1406522" y="0"/>
                    </a:lnTo>
                    <a:cubicBezTo>
                      <a:pt x="1418352" y="0"/>
                      <a:pt x="1427941" y="9590"/>
                      <a:pt x="1427941" y="21419"/>
                    </a:cubicBezTo>
                    <a:lnTo>
                      <a:pt x="1427941" y="184706"/>
                    </a:lnTo>
                    <a:cubicBezTo>
                      <a:pt x="1427941" y="196536"/>
                      <a:pt x="1418352" y="206125"/>
                      <a:pt x="1406522" y="206125"/>
                    </a:cubicBezTo>
                    <a:lnTo>
                      <a:pt x="21419" y="206125"/>
                    </a:lnTo>
                    <a:cubicBezTo>
                      <a:pt x="9590" y="206125"/>
                      <a:pt x="0" y="196536"/>
                      <a:pt x="0" y="184706"/>
                    </a:cubicBezTo>
                    <a:lnTo>
                      <a:pt x="0" y="21419"/>
                    </a:lnTo>
                    <a:cubicBezTo>
                      <a:pt x="0" y="9590"/>
                      <a:pt x="9590" y="0"/>
                      <a:pt x="21419" y="0"/>
                    </a:cubicBezTo>
                    <a:close/>
                  </a:path>
                </a:pathLst>
              </a:custGeom>
              <a:solidFill>
                <a:srgbClr val="222222"/>
              </a:solidFill>
            </p:spPr>
          </p:sp>
          <p:sp>
            <p:nvSpPr>
              <p:cNvPr name="TextBox 20" id="20"/>
              <p:cNvSpPr txBox="true"/>
              <p:nvPr/>
            </p:nvSpPr>
            <p:spPr>
              <a:xfrm>
                <a:off x="0" y="-38100"/>
                <a:ext cx="1427941" cy="2442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sp>
          <p:nvSpPr>
            <p:cNvPr name="TextBox 21" id="21"/>
            <p:cNvSpPr txBox="true"/>
            <p:nvPr/>
          </p:nvSpPr>
          <p:spPr>
            <a:xfrm rot="0">
              <a:off x="8575472" y="838445"/>
              <a:ext cx="224631" cy="49381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079"/>
                </a:lnSpc>
              </a:pPr>
              <a:r>
                <a:rPr lang="en-US" sz="2199">
                  <a:solidFill>
                    <a:srgbClr val="9B9B9B"/>
                  </a:solidFill>
                  <a:latin typeface="Lucida Console"/>
                  <a:ea typeface="Lucida Console"/>
                  <a:cs typeface="Lucida Console"/>
                  <a:sym typeface="Lucida Console"/>
                </a:rPr>
                <a:t>X</a:t>
              </a:r>
            </a:p>
          </p:txBody>
        </p:sp>
        <p:sp>
          <p:nvSpPr>
            <p:cNvPr name="TextBox 22" id="22"/>
            <p:cNvSpPr txBox="true"/>
            <p:nvPr/>
          </p:nvSpPr>
          <p:spPr>
            <a:xfrm rot="0">
              <a:off x="2069427" y="763092"/>
              <a:ext cx="6513262" cy="56917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640"/>
                </a:lnSpc>
              </a:pPr>
              <a:r>
                <a:rPr lang="en-US" sz="2600">
                  <a:solidFill>
                    <a:srgbClr val="E2E8E8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tipos_dados_compostos.py</a:t>
              </a: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1459671" y="2183765"/>
            <a:ext cx="16576040" cy="55194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‘’’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</a:t>
            </a: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ontinuando a</a:t>
            </a: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prática de uso de funçõe</a:t>
            </a: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s, vamos criar uma função que recebe a cor atual do semáforo e retorna a</a:t>
            </a: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próxima</a:t>
            </a: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cor.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- V</a:t>
            </a: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erm</a:t>
            </a: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elho -&gt; Verde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- Verde -&gt; Amar</a:t>
            </a: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elo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- </a:t>
            </a: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Amarelo -&gt; Vermelho</a:t>
            </a:r>
          </a:p>
          <a:p>
            <a:pPr algn="l">
              <a:lnSpc>
                <a:spcPts val="4899"/>
              </a:lnSpc>
            </a:pP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De q</a:t>
            </a: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ue forma</a:t>
            </a: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</a:t>
            </a: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podemos representar a cor da e</a:t>
            </a: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ntrada e da saída da função?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‘’’</a:t>
            </a:r>
          </a:p>
        </p:txBody>
      </p:sp>
    </p:spTree>
  </p:cSld>
  <p:clrMapOvr>
    <a:masterClrMapping/>
  </p:clrMapOvr>
</p:sld>
</file>

<file path=ppt/slides/slide24.xml><?xml version="1.0" encoding="utf-8"?>
<p:sld xmlns:p="http://schemas.openxmlformats.org/presentationml/2006/main" xmlns:a="http://schemas.openxmlformats.org/drawingml/2006/main">
  <p:cSld>
    <p:bg>
      <p:bgPr>
        <a:solidFill>
          <a:srgbClr val="2222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69299" y="-93824"/>
            <a:ext cx="18426598" cy="10380824"/>
            <a:chOff x="0" y="0"/>
            <a:chExt cx="24568798" cy="13841099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568074"/>
              <a:ext cx="1868196" cy="13273025"/>
              <a:chOff x="0" y="0"/>
              <a:chExt cx="369026" cy="2621832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369026" cy="2621832"/>
              </a:xfrm>
              <a:custGeom>
                <a:avLst/>
                <a:gdLst/>
                <a:ahLst/>
                <a:cxnLst/>
                <a:rect r="r" b="b" t="t" l="l"/>
                <a:pathLst>
                  <a:path h="2621832" w="369026">
                    <a:moveTo>
                      <a:pt x="0" y="0"/>
                    </a:moveTo>
                    <a:lnTo>
                      <a:pt x="369026" y="0"/>
                    </a:lnTo>
                    <a:lnTo>
                      <a:pt x="369026" y="2621832"/>
                    </a:lnTo>
                    <a:lnTo>
                      <a:pt x="0" y="2621832"/>
                    </a:lnTo>
                    <a:close/>
                  </a:path>
                </a:pathLst>
              </a:custGeom>
              <a:solidFill>
                <a:srgbClr val="222222"/>
              </a:solidFill>
              <a:ln w="38100" cap="sq">
                <a:solidFill>
                  <a:srgbClr val="444444"/>
                </a:solidFill>
                <a:prstDash val="solid"/>
                <a:miter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161925"/>
                <a:ext cx="369026" cy="278375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r">
                  <a:lnSpc>
                    <a:spcPts val="5039"/>
                  </a:lnSpc>
                </a:pP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2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3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4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5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6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7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8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9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10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11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12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13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14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15 </a:t>
                </a: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61599" y="0"/>
              <a:ext cx="24507199" cy="1471299"/>
              <a:chOff x="0" y="0"/>
              <a:chExt cx="4840928" cy="290627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4840928" cy="290627"/>
              </a:xfrm>
              <a:custGeom>
                <a:avLst/>
                <a:gdLst/>
                <a:ahLst/>
                <a:cxnLst/>
                <a:rect r="r" b="b" t="t" l="l"/>
                <a:pathLst>
                  <a:path h="290627" w="4840928">
                    <a:moveTo>
                      <a:pt x="0" y="0"/>
                    </a:moveTo>
                    <a:lnTo>
                      <a:pt x="4840928" y="0"/>
                    </a:lnTo>
                    <a:lnTo>
                      <a:pt x="4840928" y="290627"/>
                    </a:lnTo>
                    <a:lnTo>
                      <a:pt x="0" y="290627"/>
                    </a:lnTo>
                    <a:close/>
                  </a:path>
                </a:pathLst>
              </a:custGeom>
              <a:solidFill>
                <a:srgbClr val="444444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4840928" cy="32872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302597" y="554790"/>
              <a:ext cx="361720" cy="361720"/>
              <a:chOff x="0" y="0"/>
              <a:chExt cx="812800" cy="812800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E85050"/>
              </a:solidFill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816759" y="554790"/>
              <a:ext cx="361720" cy="361720"/>
              <a:chOff x="0" y="0"/>
              <a:chExt cx="812800" cy="81280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4D074"/>
              </a:solidFill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1330879" y="554790"/>
              <a:ext cx="361720" cy="361720"/>
              <a:chOff x="0" y="0"/>
              <a:chExt cx="812800" cy="81280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56D673"/>
              </a:solidFill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8" id="18"/>
            <p:cNvGrpSpPr/>
            <p:nvPr/>
          </p:nvGrpSpPr>
          <p:grpSpPr>
            <a:xfrm rot="0">
              <a:off x="1868196" y="554790"/>
              <a:ext cx="7228953" cy="1043510"/>
              <a:chOff x="0" y="0"/>
              <a:chExt cx="1427941" cy="206125"/>
            </a:xfrm>
          </p:grpSpPr>
          <p:sp>
            <p:nvSpPr>
              <p:cNvPr name="Freeform 19" id="19"/>
              <p:cNvSpPr/>
              <p:nvPr/>
            </p:nvSpPr>
            <p:spPr>
              <a:xfrm flipH="false" flipV="false" rot="0">
                <a:off x="0" y="0"/>
                <a:ext cx="1427941" cy="206125"/>
              </a:xfrm>
              <a:custGeom>
                <a:avLst/>
                <a:gdLst/>
                <a:ahLst/>
                <a:cxnLst/>
                <a:rect r="r" b="b" t="t" l="l"/>
                <a:pathLst>
                  <a:path h="206125" w="1427941">
                    <a:moveTo>
                      <a:pt x="21419" y="0"/>
                    </a:moveTo>
                    <a:lnTo>
                      <a:pt x="1406522" y="0"/>
                    </a:lnTo>
                    <a:cubicBezTo>
                      <a:pt x="1418352" y="0"/>
                      <a:pt x="1427941" y="9590"/>
                      <a:pt x="1427941" y="21419"/>
                    </a:cubicBezTo>
                    <a:lnTo>
                      <a:pt x="1427941" y="184706"/>
                    </a:lnTo>
                    <a:cubicBezTo>
                      <a:pt x="1427941" y="196536"/>
                      <a:pt x="1418352" y="206125"/>
                      <a:pt x="1406522" y="206125"/>
                    </a:cubicBezTo>
                    <a:lnTo>
                      <a:pt x="21419" y="206125"/>
                    </a:lnTo>
                    <a:cubicBezTo>
                      <a:pt x="9590" y="206125"/>
                      <a:pt x="0" y="196536"/>
                      <a:pt x="0" y="184706"/>
                    </a:cubicBezTo>
                    <a:lnTo>
                      <a:pt x="0" y="21419"/>
                    </a:lnTo>
                    <a:cubicBezTo>
                      <a:pt x="0" y="9590"/>
                      <a:pt x="9590" y="0"/>
                      <a:pt x="21419" y="0"/>
                    </a:cubicBezTo>
                    <a:close/>
                  </a:path>
                </a:pathLst>
              </a:custGeom>
              <a:solidFill>
                <a:srgbClr val="222222"/>
              </a:solidFill>
            </p:spPr>
          </p:sp>
          <p:sp>
            <p:nvSpPr>
              <p:cNvPr name="TextBox 20" id="20"/>
              <p:cNvSpPr txBox="true"/>
              <p:nvPr/>
            </p:nvSpPr>
            <p:spPr>
              <a:xfrm>
                <a:off x="0" y="-38100"/>
                <a:ext cx="1427941" cy="2442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sp>
          <p:nvSpPr>
            <p:cNvPr name="TextBox 21" id="21"/>
            <p:cNvSpPr txBox="true"/>
            <p:nvPr/>
          </p:nvSpPr>
          <p:spPr>
            <a:xfrm rot="0">
              <a:off x="8575472" y="838445"/>
              <a:ext cx="224631" cy="49381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079"/>
                </a:lnSpc>
              </a:pPr>
              <a:r>
                <a:rPr lang="en-US" sz="2199">
                  <a:solidFill>
                    <a:srgbClr val="9B9B9B"/>
                  </a:solidFill>
                  <a:latin typeface="Lucida Console"/>
                  <a:ea typeface="Lucida Console"/>
                  <a:cs typeface="Lucida Console"/>
                  <a:sym typeface="Lucida Console"/>
                </a:rPr>
                <a:t>X</a:t>
              </a:r>
            </a:p>
          </p:txBody>
        </p:sp>
        <p:sp>
          <p:nvSpPr>
            <p:cNvPr name="TextBox 22" id="22"/>
            <p:cNvSpPr txBox="true"/>
            <p:nvPr/>
          </p:nvSpPr>
          <p:spPr>
            <a:xfrm rot="0">
              <a:off x="2069427" y="763092"/>
              <a:ext cx="6513262" cy="56917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640"/>
                </a:lnSpc>
              </a:pPr>
              <a:r>
                <a:rPr lang="en-US" sz="2600">
                  <a:solidFill>
                    <a:srgbClr val="E2E8E8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tipos_dados_compostos.py</a:t>
              </a: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1459671" y="1555115"/>
            <a:ext cx="16576040" cy="67576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 </a:t>
            </a: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# Uma string com o nome da cor deve servir: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 </a:t>
            </a:r>
            <a:r>
              <a:rPr lang="en-US" sz="2799">
                <a:solidFill>
                  <a:srgbClr val="38B6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def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</a:t>
            </a:r>
            <a:r>
              <a:rPr lang="en-US" sz="2799">
                <a:solidFill>
                  <a:srgbClr val="F4D074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proxima_cor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(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cor_atual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: </a:t>
            </a:r>
            <a:r>
              <a:rPr lang="en-US" sz="2799">
                <a:solidFill>
                  <a:srgbClr val="0BFFA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str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) -&gt; </a:t>
            </a:r>
            <a:r>
              <a:rPr lang="en-US" sz="2799">
                <a:solidFill>
                  <a:srgbClr val="0BFFA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str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: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...     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proxima_cor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: </a:t>
            </a:r>
            <a:r>
              <a:rPr lang="en-US" sz="2799">
                <a:solidFill>
                  <a:srgbClr val="0BFFA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str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...     </a:t>
            </a:r>
            <a:r>
              <a:rPr lang="en-US" sz="2799">
                <a:solidFill>
                  <a:srgbClr val="B45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if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cor_atual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== 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"vermelho"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: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...         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proxima_cor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= 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"verde"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...     </a:t>
            </a:r>
            <a:r>
              <a:rPr lang="en-US" sz="2799">
                <a:solidFill>
                  <a:srgbClr val="B45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elif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cor_atual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== 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"verde"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: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...         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proxima_cor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= 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"amarelo"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...     </a:t>
            </a:r>
            <a:r>
              <a:rPr lang="en-US" sz="2799">
                <a:solidFill>
                  <a:srgbClr val="B45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else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: </a:t>
            </a: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# Cor atual é amarelo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...         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proxima_cor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= 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"vermelho"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...     </a:t>
            </a:r>
            <a:r>
              <a:rPr lang="en-US" sz="2799">
                <a:solidFill>
                  <a:srgbClr val="38B6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return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proxima_cor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...</a:t>
            </a:r>
          </a:p>
        </p:txBody>
      </p:sp>
    </p:spTree>
  </p:cSld>
  <p:clrMapOvr>
    <a:masterClrMapping/>
  </p:clrMapOvr>
</p:sld>
</file>

<file path=ppt/slides/slide25.xml><?xml version="1.0" encoding="utf-8"?>
<p:sld xmlns:p="http://schemas.openxmlformats.org/presentationml/2006/main" xmlns:a="http://schemas.openxmlformats.org/drawingml/2006/main">
  <p:cSld>
    <p:bg>
      <p:bgPr>
        <a:solidFill>
          <a:srgbClr val="2222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69299" y="-93824"/>
            <a:ext cx="18426598" cy="10380824"/>
            <a:chOff x="0" y="0"/>
            <a:chExt cx="24568798" cy="13841099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568074"/>
              <a:ext cx="1868196" cy="13273025"/>
              <a:chOff x="0" y="0"/>
              <a:chExt cx="369026" cy="2621832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369026" cy="2621832"/>
              </a:xfrm>
              <a:custGeom>
                <a:avLst/>
                <a:gdLst/>
                <a:ahLst/>
                <a:cxnLst/>
                <a:rect r="r" b="b" t="t" l="l"/>
                <a:pathLst>
                  <a:path h="2621832" w="369026">
                    <a:moveTo>
                      <a:pt x="0" y="0"/>
                    </a:moveTo>
                    <a:lnTo>
                      <a:pt x="369026" y="0"/>
                    </a:lnTo>
                    <a:lnTo>
                      <a:pt x="369026" y="2621832"/>
                    </a:lnTo>
                    <a:lnTo>
                      <a:pt x="0" y="2621832"/>
                    </a:lnTo>
                    <a:close/>
                  </a:path>
                </a:pathLst>
              </a:custGeom>
              <a:solidFill>
                <a:srgbClr val="222222"/>
              </a:solidFill>
              <a:ln w="38100" cap="sq">
                <a:solidFill>
                  <a:srgbClr val="444444"/>
                </a:solidFill>
                <a:prstDash val="solid"/>
                <a:miter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161925"/>
                <a:ext cx="369026" cy="278375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r">
                  <a:lnSpc>
                    <a:spcPts val="5039"/>
                  </a:lnSpc>
                </a:pP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2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3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4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5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6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7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8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9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10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11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12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13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14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15 </a:t>
                </a: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61599" y="0"/>
              <a:ext cx="24507199" cy="1471299"/>
              <a:chOff x="0" y="0"/>
              <a:chExt cx="4840928" cy="290627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4840928" cy="290627"/>
              </a:xfrm>
              <a:custGeom>
                <a:avLst/>
                <a:gdLst/>
                <a:ahLst/>
                <a:cxnLst/>
                <a:rect r="r" b="b" t="t" l="l"/>
                <a:pathLst>
                  <a:path h="290627" w="4840928">
                    <a:moveTo>
                      <a:pt x="0" y="0"/>
                    </a:moveTo>
                    <a:lnTo>
                      <a:pt x="4840928" y="0"/>
                    </a:lnTo>
                    <a:lnTo>
                      <a:pt x="4840928" y="290627"/>
                    </a:lnTo>
                    <a:lnTo>
                      <a:pt x="0" y="290627"/>
                    </a:lnTo>
                    <a:close/>
                  </a:path>
                </a:pathLst>
              </a:custGeom>
              <a:solidFill>
                <a:srgbClr val="444444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4840928" cy="32872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302597" y="554790"/>
              <a:ext cx="361720" cy="361720"/>
              <a:chOff x="0" y="0"/>
              <a:chExt cx="812800" cy="812800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E85050"/>
              </a:solidFill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816759" y="554790"/>
              <a:ext cx="361720" cy="361720"/>
              <a:chOff x="0" y="0"/>
              <a:chExt cx="812800" cy="81280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4D074"/>
              </a:solidFill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1330879" y="554790"/>
              <a:ext cx="361720" cy="361720"/>
              <a:chOff x="0" y="0"/>
              <a:chExt cx="812800" cy="81280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56D673"/>
              </a:solidFill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8" id="18"/>
            <p:cNvGrpSpPr/>
            <p:nvPr/>
          </p:nvGrpSpPr>
          <p:grpSpPr>
            <a:xfrm rot="0">
              <a:off x="1868196" y="554790"/>
              <a:ext cx="7228953" cy="1043510"/>
              <a:chOff x="0" y="0"/>
              <a:chExt cx="1427941" cy="206125"/>
            </a:xfrm>
          </p:grpSpPr>
          <p:sp>
            <p:nvSpPr>
              <p:cNvPr name="Freeform 19" id="19"/>
              <p:cNvSpPr/>
              <p:nvPr/>
            </p:nvSpPr>
            <p:spPr>
              <a:xfrm flipH="false" flipV="false" rot="0">
                <a:off x="0" y="0"/>
                <a:ext cx="1427941" cy="206125"/>
              </a:xfrm>
              <a:custGeom>
                <a:avLst/>
                <a:gdLst/>
                <a:ahLst/>
                <a:cxnLst/>
                <a:rect r="r" b="b" t="t" l="l"/>
                <a:pathLst>
                  <a:path h="206125" w="1427941">
                    <a:moveTo>
                      <a:pt x="21419" y="0"/>
                    </a:moveTo>
                    <a:lnTo>
                      <a:pt x="1406522" y="0"/>
                    </a:lnTo>
                    <a:cubicBezTo>
                      <a:pt x="1418352" y="0"/>
                      <a:pt x="1427941" y="9590"/>
                      <a:pt x="1427941" y="21419"/>
                    </a:cubicBezTo>
                    <a:lnTo>
                      <a:pt x="1427941" y="184706"/>
                    </a:lnTo>
                    <a:cubicBezTo>
                      <a:pt x="1427941" y="196536"/>
                      <a:pt x="1418352" y="206125"/>
                      <a:pt x="1406522" y="206125"/>
                    </a:cubicBezTo>
                    <a:lnTo>
                      <a:pt x="21419" y="206125"/>
                    </a:lnTo>
                    <a:cubicBezTo>
                      <a:pt x="9590" y="206125"/>
                      <a:pt x="0" y="196536"/>
                      <a:pt x="0" y="184706"/>
                    </a:cubicBezTo>
                    <a:lnTo>
                      <a:pt x="0" y="21419"/>
                    </a:lnTo>
                    <a:cubicBezTo>
                      <a:pt x="0" y="9590"/>
                      <a:pt x="9590" y="0"/>
                      <a:pt x="21419" y="0"/>
                    </a:cubicBezTo>
                    <a:close/>
                  </a:path>
                </a:pathLst>
              </a:custGeom>
              <a:solidFill>
                <a:srgbClr val="222222"/>
              </a:solidFill>
            </p:spPr>
          </p:sp>
          <p:sp>
            <p:nvSpPr>
              <p:cNvPr name="TextBox 20" id="20"/>
              <p:cNvSpPr txBox="true"/>
              <p:nvPr/>
            </p:nvSpPr>
            <p:spPr>
              <a:xfrm>
                <a:off x="0" y="-38100"/>
                <a:ext cx="1427941" cy="2442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sp>
          <p:nvSpPr>
            <p:cNvPr name="TextBox 21" id="21"/>
            <p:cNvSpPr txBox="true"/>
            <p:nvPr/>
          </p:nvSpPr>
          <p:spPr>
            <a:xfrm rot="0">
              <a:off x="8575472" y="838445"/>
              <a:ext cx="224631" cy="49381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079"/>
                </a:lnSpc>
              </a:pPr>
              <a:r>
                <a:rPr lang="en-US" sz="2199">
                  <a:solidFill>
                    <a:srgbClr val="9B9B9B"/>
                  </a:solidFill>
                  <a:latin typeface="Lucida Console"/>
                  <a:ea typeface="Lucida Console"/>
                  <a:cs typeface="Lucida Console"/>
                  <a:sym typeface="Lucida Console"/>
                </a:rPr>
                <a:t>X</a:t>
              </a:r>
            </a:p>
          </p:txBody>
        </p:sp>
        <p:sp>
          <p:nvSpPr>
            <p:cNvPr name="TextBox 22" id="22"/>
            <p:cNvSpPr txBox="true"/>
            <p:nvPr/>
          </p:nvSpPr>
          <p:spPr>
            <a:xfrm rot="0">
              <a:off x="2069427" y="763092"/>
              <a:ext cx="6513262" cy="56917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640"/>
                </a:lnSpc>
              </a:pPr>
              <a:r>
                <a:rPr lang="en-US" sz="2600">
                  <a:solidFill>
                    <a:srgbClr val="E2E8E8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tipos_dados_compostos.py</a:t>
              </a: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1459671" y="1555115"/>
            <a:ext cx="16576040" cy="79959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‘’’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Será que usar uma string para representar a cor foi uma boa decisão?</a:t>
            </a:r>
          </a:p>
          <a:p>
            <a:pPr algn="l">
              <a:lnSpc>
                <a:spcPts val="4899"/>
              </a:lnSpc>
            </a:pP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Imagine que por um erro de digitação a pessoa que vai usar a função sem querer digite “vremelho” ao invés de “vermelho”.</a:t>
            </a:r>
          </a:p>
          <a:p>
            <a:pPr algn="l">
              <a:lnSpc>
                <a:spcPts val="4899"/>
              </a:lnSpc>
            </a:pP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Ou pior, que sem querer a pessoa que faz a função fez com que ela retornasse “vere” no lugar de “verde” porque o teclado falhou e ela não percebeu.</a:t>
            </a:r>
          </a:p>
          <a:p>
            <a:pPr algn="l">
              <a:lnSpc>
                <a:spcPts val="4899"/>
              </a:lnSpc>
            </a:pP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Esse tipo de problema pode gerar erros silenciosos no nosso programa que podem nos custar uma quantidade de tempo muito maior do que queríamos para corrigir um bug bobo desses.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‘’’</a:t>
            </a:r>
          </a:p>
        </p:txBody>
      </p:sp>
    </p:spTree>
  </p:cSld>
  <p:clrMapOvr>
    <a:masterClrMapping/>
  </p:clrMapOvr>
</p:sld>
</file>

<file path=ppt/slides/slide26.xml><?xml version="1.0" encoding="utf-8"?>
<p:sld xmlns:p="http://schemas.openxmlformats.org/presentationml/2006/main" xmlns:a="http://schemas.openxmlformats.org/drawingml/2006/main">
  <p:cSld>
    <p:bg>
      <p:bgPr>
        <a:solidFill>
          <a:srgbClr val="2222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69299" y="-93824"/>
            <a:ext cx="18426598" cy="10380824"/>
            <a:chOff x="0" y="0"/>
            <a:chExt cx="24568798" cy="13841099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568074"/>
              <a:ext cx="1868196" cy="13273025"/>
              <a:chOff x="0" y="0"/>
              <a:chExt cx="369026" cy="2621832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369026" cy="2621832"/>
              </a:xfrm>
              <a:custGeom>
                <a:avLst/>
                <a:gdLst/>
                <a:ahLst/>
                <a:cxnLst/>
                <a:rect r="r" b="b" t="t" l="l"/>
                <a:pathLst>
                  <a:path h="2621832" w="369026">
                    <a:moveTo>
                      <a:pt x="0" y="0"/>
                    </a:moveTo>
                    <a:lnTo>
                      <a:pt x="369026" y="0"/>
                    </a:lnTo>
                    <a:lnTo>
                      <a:pt x="369026" y="2621832"/>
                    </a:lnTo>
                    <a:lnTo>
                      <a:pt x="0" y="2621832"/>
                    </a:lnTo>
                    <a:close/>
                  </a:path>
                </a:pathLst>
              </a:custGeom>
              <a:solidFill>
                <a:srgbClr val="222222"/>
              </a:solidFill>
              <a:ln w="38100" cap="sq">
                <a:solidFill>
                  <a:srgbClr val="444444"/>
                </a:solidFill>
                <a:prstDash val="solid"/>
                <a:miter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161925"/>
                <a:ext cx="369026" cy="278375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r">
                  <a:lnSpc>
                    <a:spcPts val="5039"/>
                  </a:lnSpc>
                </a:pP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2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3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4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5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6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7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8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9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10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11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12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13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14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15 </a:t>
                </a: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61599" y="0"/>
              <a:ext cx="24507199" cy="1471299"/>
              <a:chOff x="0" y="0"/>
              <a:chExt cx="4840928" cy="290627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4840928" cy="290627"/>
              </a:xfrm>
              <a:custGeom>
                <a:avLst/>
                <a:gdLst/>
                <a:ahLst/>
                <a:cxnLst/>
                <a:rect r="r" b="b" t="t" l="l"/>
                <a:pathLst>
                  <a:path h="290627" w="4840928">
                    <a:moveTo>
                      <a:pt x="0" y="0"/>
                    </a:moveTo>
                    <a:lnTo>
                      <a:pt x="4840928" y="0"/>
                    </a:lnTo>
                    <a:lnTo>
                      <a:pt x="4840928" y="290627"/>
                    </a:lnTo>
                    <a:lnTo>
                      <a:pt x="0" y="290627"/>
                    </a:lnTo>
                    <a:close/>
                  </a:path>
                </a:pathLst>
              </a:custGeom>
              <a:solidFill>
                <a:srgbClr val="444444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4840928" cy="32872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302597" y="554790"/>
              <a:ext cx="361720" cy="361720"/>
              <a:chOff x="0" y="0"/>
              <a:chExt cx="812800" cy="812800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E85050"/>
              </a:solidFill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816759" y="554790"/>
              <a:ext cx="361720" cy="361720"/>
              <a:chOff x="0" y="0"/>
              <a:chExt cx="812800" cy="81280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4D074"/>
              </a:solidFill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1330879" y="554790"/>
              <a:ext cx="361720" cy="361720"/>
              <a:chOff x="0" y="0"/>
              <a:chExt cx="812800" cy="81280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56D673"/>
              </a:solidFill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8" id="18"/>
            <p:cNvGrpSpPr/>
            <p:nvPr/>
          </p:nvGrpSpPr>
          <p:grpSpPr>
            <a:xfrm rot="0">
              <a:off x="1868196" y="554790"/>
              <a:ext cx="7228953" cy="1043510"/>
              <a:chOff x="0" y="0"/>
              <a:chExt cx="1427941" cy="206125"/>
            </a:xfrm>
          </p:grpSpPr>
          <p:sp>
            <p:nvSpPr>
              <p:cNvPr name="Freeform 19" id="19"/>
              <p:cNvSpPr/>
              <p:nvPr/>
            </p:nvSpPr>
            <p:spPr>
              <a:xfrm flipH="false" flipV="false" rot="0">
                <a:off x="0" y="0"/>
                <a:ext cx="1427941" cy="206125"/>
              </a:xfrm>
              <a:custGeom>
                <a:avLst/>
                <a:gdLst/>
                <a:ahLst/>
                <a:cxnLst/>
                <a:rect r="r" b="b" t="t" l="l"/>
                <a:pathLst>
                  <a:path h="206125" w="1427941">
                    <a:moveTo>
                      <a:pt x="21419" y="0"/>
                    </a:moveTo>
                    <a:lnTo>
                      <a:pt x="1406522" y="0"/>
                    </a:lnTo>
                    <a:cubicBezTo>
                      <a:pt x="1418352" y="0"/>
                      <a:pt x="1427941" y="9590"/>
                      <a:pt x="1427941" y="21419"/>
                    </a:cubicBezTo>
                    <a:lnTo>
                      <a:pt x="1427941" y="184706"/>
                    </a:lnTo>
                    <a:cubicBezTo>
                      <a:pt x="1427941" y="196536"/>
                      <a:pt x="1418352" y="206125"/>
                      <a:pt x="1406522" y="206125"/>
                    </a:cubicBezTo>
                    <a:lnTo>
                      <a:pt x="21419" y="206125"/>
                    </a:lnTo>
                    <a:cubicBezTo>
                      <a:pt x="9590" y="206125"/>
                      <a:pt x="0" y="196536"/>
                      <a:pt x="0" y="184706"/>
                    </a:cubicBezTo>
                    <a:lnTo>
                      <a:pt x="0" y="21419"/>
                    </a:lnTo>
                    <a:cubicBezTo>
                      <a:pt x="0" y="9590"/>
                      <a:pt x="9590" y="0"/>
                      <a:pt x="21419" y="0"/>
                    </a:cubicBezTo>
                    <a:close/>
                  </a:path>
                </a:pathLst>
              </a:custGeom>
              <a:solidFill>
                <a:srgbClr val="222222"/>
              </a:solidFill>
            </p:spPr>
          </p:sp>
          <p:sp>
            <p:nvSpPr>
              <p:cNvPr name="TextBox 20" id="20"/>
              <p:cNvSpPr txBox="true"/>
              <p:nvPr/>
            </p:nvSpPr>
            <p:spPr>
              <a:xfrm>
                <a:off x="0" y="-38100"/>
                <a:ext cx="1427941" cy="2442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sp>
          <p:nvSpPr>
            <p:cNvPr name="TextBox 21" id="21"/>
            <p:cNvSpPr txBox="true"/>
            <p:nvPr/>
          </p:nvSpPr>
          <p:spPr>
            <a:xfrm rot="0">
              <a:off x="8575472" y="838445"/>
              <a:ext cx="224631" cy="49381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079"/>
                </a:lnSpc>
              </a:pPr>
              <a:r>
                <a:rPr lang="en-US" sz="2199">
                  <a:solidFill>
                    <a:srgbClr val="9B9B9B"/>
                  </a:solidFill>
                  <a:latin typeface="Lucida Console"/>
                  <a:ea typeface="Lucida Console"/>
                  <a:cs typeface="Lucida Console"/>
                  <a:sym typeface="Lucida Console"/>
                </a:rPr>
                <a:t>X</a:t>
              </a:r>
            </a:p>
          </p:txBody>
        </p:sp>
        <p:sp>
          <p:nvSpPr>
            <p:cNvPr name="TextBox 22" id="22"/>
            <p:cNvSpPr txBox="true"/>
            <p:nvPr/>
          </p:nvSpPr>
          <p:spPr>
            <a:xfrm rot="0">
              <a:off x="2069427" y="763092"/>
              <a:ext cx="6513262" cy="56917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640"/>
                </a:lnSpc>
              </a:pPr>
              <a:r>
                <a:rPr lang="en-US" sz="2600">
                  <a:solidFill>
                    <a:srgbClr val="E2E8E8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tipos_dados_compostos.py</a:t>
              </a: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1459671" y="1555115"/>
            <a:ext cx="16576040" cy="79959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‘’’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Além disso, ter uma função que recebe uma string e retorna outra não é nada semântico para nossa função, porque uma string é uma cadeia qualquer de caracteres.</a:t>
            </a:r>
          </a:p>
          <a:p>
            <a:pPr algn="l">
              <a:lnSpc>
                <a:spcPts val="4899"/>
              </a:lnSpc>
            </a:pP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Porém, nossa função só trabalha com 3 strings específicas: “vermelho”, “verde” e “amarelo”.</a:t>
            </a:r>
          </a:p>
          <a:p>
            <a:pPr algn="l">
              <a:lnSpc>
                <a:spcPts val="4899"/>
              </a:lnSpc>
            </a:pP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Seria muito melhor se pudéssemos dizer que a entrada e a saída da nossa função são apenas cores.</a:t>
            </a:r>
          </a:p>
          <a:p>
            <a:pPr algn="l">
              <a:lnSpc>
                <a:spcPts val="4899"/>
              </a:lnSpc>
            </a:pP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Como podemos corrigir esses dois problemas do nosso código?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‘’’</a:t>
            </a:r>
          </a:p>
        </p:txBody>
      </p:sp>
    </p:spTree>
  </p:cSld>
  <p:clrMapOvr>
    <a:masterClrMapping/>
  </p:clrMapOvr>
</p:sld>
</file>

<file path=ppt/slides/slide27.xml><?xml version="1.0" encoding="utf-8"?>
<p:sld xmlns:p="http://schemas.openxmlformats.org/presentationml/2006/main" xmlns:a="http://schemas.openxmlformats.org/drawingml/2006/main">
  <p:cSld>
    <p:bg>
      <p:bgPr>
        <a:solidFill>
          <a:srgbClr val="2222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69299" y="-93824"/>
            <a:ext cx="18426598" cy="10380824"/>
            <a:chOff x="0" y="0"/>
            <a:chExt cx="24568798" cy="13841099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568074"/>
              <a:ext cx="1868196" cy="13273025"/>
              <a:chOff x="0" y="0"/>
              <a:chExt cx="369026" cy="2621832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369026" cy="2621832"/>
              </a:xfrm>
              <a:custGeom>
                <a:avLst/>
                <a:gdLst/>
                <a:ahLst/>
                <a:cxnLst/>
                <a:rect r="r" b="b" t="t" l="l"/>
                <a:pathLst>
                  <a:path h="2621832" w="369026">
                    <a:moveTo>
                      <a:pt x="0" y="0"/>
                    </a:moveTo>
                    <a:lnTo>
                      <a:pt x="369026" y="0"/>
                    </a:lnTo>
                    <a:lnTo>
                      <a:pt x="369026" y="2621832"/>
                    </a:lnTo>
                    <a:lnTo>
                      <a:pt x="0" y="2621832"/>
                    </a:lnTo>
                    <a:close/>
                  </a:path>
                </a:pathLst>
              </a:custGeom>
              <a:solidFill>
                <a:srgbClr val="222222"/>
              </a:solidFill>
              <a:ln w="38100" cap="sq">
                <a:solidFill>
                  <a:srgbClr val="444444"/>
                </a:solidFill>
                <a:prstDash val="solid"/>
                <a:miter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161925"/>
                <a:ext cx="369026" cy="278375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r">
                  <a:lnSpc>
                    <a:spcPts val="5039"/>
                  </a:lnSpc>
                </a:pP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2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3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4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5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6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7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8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9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10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11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12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13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14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15 </a:t>
                </a: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61599" y="0"/>
              <a:ext cx="24507199" cy="1471299"/>
              <a:chOff x="0" y="0"/>
              <a:chExt cx="4840928" cy="290627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4840928" cy="290627"/>
              </a:xfrm>
              <a:custGeom>
                <a:avLst/>
                <a:gdLst/>
                <a:ahLst/>
                <a:cxnLst/>
                <a:rect r="r" b="b" t="t" l="l"/>
                <a:pathLst>
                  <a:path h="290627" w="4840928">
                    <a:moveTo>
                      <a:pt x="0" y="0"/>
                    </a:moveTo>
                    <a:lnTo>
                      <a:pt x="4840928" y="0"/>
                    </a:lnTo>
                    <a:lnTo>
                      <a:pt x="4840928" y="290627"/>
                    </a:lnTo>
                    <a:lnTo>
                      <a:pt x="0" y="290627"/>
                    </a:lnTo>
                    <a:close/>
                  </a:path>
                </a:pathLst>
              </a:custGeom>
              <a:solidFill>
                <a:srgbClr val="444444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4840928" cy="32872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302597" y="554790"/>
              <a:ext cx="361720" cy="361720"/>
              <a:chOff x="0" y="0"/>
              <a:chExt cx="812800" cy="812800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E85050"/>
              </a:solidFill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816759" y="554790"/>
              <a:ext cx="361720" cy="361720"/>
              <a:chOff x="0" y="0"/>
              <a:chExt cx="812800" cy="81280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4D074"/>
              </a:solidFill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1330879" y="554790"/>
              <a:ext cx="361720" cy="361720"/>
              <a:chOff x="0" y="0"/>
              <a:chExt cx="812800" cy="81280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56D673"/>
              </a:solidFill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8" id="18"/>
            <p:cNvGrpSpPr/>
            <p:nvPr/>
          </p:nvGrpSpPr>
          <p:grpSpPr>
            <a:xfrm rot="0">
              <a:off x="1868196" y="554790"/>
              <a:ext cx="7599654" cy="1043510"/>
              <a:chOff x="0" y="0"/>
              <a:chExt cx="1501166" cy="206125"/>
            </a:xfrm>
          </p:grpSpPr>
          <p:sp>
            <p:nvSpPr>
              <p:cNvPr name="Freeform 19" id="19"/>
              <p:cNvSpPr/>
              <p:nvPr/>
            </p:nvSpPr>
            <p:spPr>
              <a:xfrm flipH="false" flipV="false" rot="0">
                <a:off x="0" y="0"/>
                <a:ext cx="1501166" cy="206125"/>
              </a:xfrm>
              <a:custGeom>
                <a:avLst/>
                <a:gdLst/>
                <a:ahLst/>
                <a:cxnLst/>
                <a:rect r="r" b="b" t="t" l="l"/>
                <a:pathLst>
                  <a:path h="206125" w="1501166">
                    <a:moveTo>
                      <a:pt x="20374" y="0"/>
                    </a:moveTo>
                    <a:lnTo>
                      <a:pt x="1480792" y="0"/>
                    </a:lnTo>
                    <a:cubicBezTo>
                      <a:pt x="1486195" y="0"/>
                      <a:pt x="1491378" y="2147"/>
                      <a:pt x="1495199" y="5968"/>
                    </a:cubicBezTo>
                    <a:cubicBezTo>
                      <a:pt x="1499020" y="9788"/>
                      <a:pt x="1501166" y="14971"/>
                      <a:pt x="1501166" y="20374"/>
                    </a:cubicBezTo>
                    <a:lnTo>
                      <a:pt x="1501166" y="185751"/>
                    </a:lnTo>
                    <a:cubicBezTo>
                      <a:pt x="1501166" y="191155"/>
                      <a:pt x="1499020" y="196337"/>
                      <a:pt x="1495199" y="200158"/>
                    </a:cubicBezTo>
                    <a:cubicBezTo>
                      <a:pt x="1491378" y="203979"/>
                      <a:pt x="1486195" y="206125"/>
                      <a:pt x="1480792" y="206125"/>
                    </a:cubicBezTo>
                    <a:lnTo>
                      <a:pt x="20374" y="206125"/>
                    </a:lnTo>
                    <a:cubicBezTo>
                      <a:pt x="14971" y="206125"/>
                      <a:pt x="9788" y="203979"/>
                      <a:pt x="5968" y="200158"/>
                    </a:cubicBezTo>
                    <a:cubicBezTo>
                      <a:pt x="2147" y="196337"/>
                      <a:pt x="0" y="191155"/>
                      <a:pt x="0" y="185751"/>
                    </a:cubicBezTo>
                    <a:lnTo>
                      <a:pt x="0" y="20374"/>
                    </a:lnTo>
                    <a:cubicBezTo>
                      <a:pt x="0" y="14971"/>
                      <a:pt x="2147" y="9788"/>
                      <a:pt x="5968" y="5968"/>
                    </a:cubicBezTo>
                    <a:cubicBezTo>
                      <a:pt x="9788" y="2147"/>
                      <a:pt x="14971" y="0"/>
                      <a:pt x="20374" y="0"/>
                    </a:cubicBezTo>
                    <a:close/>
                  </a:path>
                </a:pathLst>
              </a:custGeom>
              <a:solidFill>
                <a:srgbClr val="222222"/>
              </a:solidFill>
            </p:spPr>
          </p:sp>
          <p:sp>
            <p:nvSpPr>
              <p:cNvPr name="TextBox 20" id="20"/>
              <p:cNvSpPr txBox="true"/>
              <p:nvPr/>
            </p:nvSpPr>
            <p:spPr>
              <a:xfrm>
                <a:off x="0" y="-38100"/>
                <a:ext cx="1501166" cy="2442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sp>
          <p:nvSpPr>
            <p:cNvPr name="TextBox 21" id="21"/>
            <p:cNvSpPr txBox="true"/>
            <p:nvPr/>
          </p:nvSpPr>
          <p:spPr>
            <a:xfrm rot="0">
              <a:off x="8903688" y="838445"/>
              <a:ext cx="224631" cy="49381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079"/>
                </a:lnSpc>
              </a:pPr>
              <a:r>
                <a:rPr lang="en-US" sz="2199">
                  <a:solidFill>
                    <a:srgbClr val="9B9B9B"/>
                  </a:solidFill>
                  <a:latin typeface="Lucida Console"/>
                  <a:ea typeface="Lucida Console"/>
                  <a:cs typeface="Lucida Console"/>
                  <a:sym typeface="Lucida Console"/>
                </a:rPr>
                <a:t>X</a:t>
              </a:r>
            </a:p>
          </p:txBody>
        </p:sp>
        <p:sp>
          <p:nvSpPr>
            <p:cNvPr name="TextBox 22" id="22"/>
            <p:cNvSpPr txBox="true"/>
            <p:nvPr/>
          </p:nvSpPr>
          <p:spPr>
            <a:xfrm rot="0">
              <a:off x="2069427" y="763092"/>
              <a:ext cx="6834261" cy="56917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640"/>
                </a:lnSpc>
              </a:pPr>
              <a:r>
                <a:rPr lang="en-US" sz="2600">
                  <a:solidFill>
                    <a:srgbClr val="E2E8E8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tipos_dados_enumerados.py</a:t>
              </a: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1459671" y="2164750"/>
            <a:ext cx="16576040" cy="79959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‘’’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Um tipo enumerado é um tipo de dado personalizado que definimos valores específicos que ele pode assumir.</a:t>
            </a:r>
          </a:p>
          <a:p>
            <a:pPr algn="l">
              <a:lnSpc>
                <a:spcPts val="4899"/>
              </a:lnSpc>
            </a:pP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Para exemplificar, pense no tipo bool, quais valores uma v</a:t>
            </a: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ariável desse tipo pode ter?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- </a:t>
            </a: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Apenas True e False, nada mais.</a:t>
            </a:r>
          </a:p>
          <a:p>
            <a:pPr algn="l">
              <a:lnSpc>
                <a:spcPts val="4899"/>
              </a:lnSpc>
            </a:pP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Para criarmos</a:t>
            </a: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</a:t>
            </a: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nosso tipo</a:t>
            </a: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</a:t>
            </a: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enumerado também</a:t>
            </a: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precisamos imp</a:t>
            </a: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ortar </a:t>
            </a: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algumas funcionalidades adicionais para o nosso código: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 from enum import Enum, auto 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 # Perceba que o segundo Enum tem letra maiúscula!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‘’’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459671" y="1000125"/>
            <a:ext cx="16576040" cy="9023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700"/>
              </a:lnSpc>
            </a:pPr>
            <a:r>
              <a:rPr lang="en-US" sz="4400" b="true">
                <a:solidFill>
                  <a:srgbClr val="42A458"/>
                </a:solidFill>
                <a:latin typeface="Roboto Mono Bold"/>
                <a:ea typeface="Roboto Mono Bold"/>
                <a:cs typeface="Roboto Mono Bold"/>
                <a:sym typeface="Roboto Mono Bold"/>
              </a:rPr>
              <a:t># Dados Enumerados</a:t>
            </a:r>
          </a:p>
        </p:txBody>
      </p:sp>
    </p:spTree>
  </p:cSld>
  <p:clrMapOvr>
    <a:masterClrMapping/>
  </p:clrMapOvr>
</p:sld>
</file>

<file path=ppt/slides/slide28.xml><?xml version="1.0" encoding="utf-8"?>
<p:sld xmlns:p="http://schemas.openxmlformats.org/presentationml/2006/main" xmlns:a="http://schemas.openxmlformats.org/drawingml/2006/main">
  <p:cSld>
    <p:bg>
      <p:bgPr>
        <a:solidFill>
          <a:srgbClr val="2222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69299" y="-93824"/>
            <a:ext cx="18426598" cy="10380824"/>
            <a:chOff x="0" y="0"/>
            <a:chExt cx="24568798" cy="13841099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568074"/>
              <a:ext cx="1868196" cy="13273025"/>
              <a:chOff x="0" y="0"/>
              <a:chExt cx="369026" cy="2621832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369026" cy="2621832"/>
              </a:xfrm>
              <a:custGeom>
                <a:avLst/>
                <a:gdLst/>
                <a:ahLst/>
                <a:cxnLst/>
                <a:rect r="r" b="b" t="t" l="l"/>
                <a:pathLst>
                  <a:path h="2621832" w="369026">
                    <a:moveTo>
                      <a:pt x="0" y="0"/>
                    </a:moveTo>
                    <a:lnTo>
                      <a:pt x="369026" y="0"/>
                    </a:lnTo>
                    <a:lnTo>
                      <a:pt x="369026" y="2621832"/>
                    </a:lnTo>
                    <a:lnTo>
                      <a:pt x="0" y="2621832"/>
                    </a:lnTo>
                    <a:close/>
                  </a:path>
                </a:pathLst>
              </a:custGeom>
              <a:solidFill>
                <a:srgbClr val="222222"/>
              </a:solidFill>
              <a:ln w="38100" cap="sq">
                <a:solidFill>
                  <a:srgbClr val="444444"/>
                </a:solidFill>
                <a:prstDash val="solid"/>
                <a:miter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161925"/>
                <a:ext cx="369026" cy="278375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r">
                  <a:lnSpc>
                    <a:spcPts val="5039"/>
                  </a:lnSpc>
                </a:pP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2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3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4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5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6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7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8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9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10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11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12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13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14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15 </a:t>
                </a: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61599" y="0"/>
              <a:ext cx="24507199" cy="1471299"/>
              <a:chOff x="0" y="0"/>
              <a:chExt cx="4840928" cy="290627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4840928" cy="290627"/>
              </a:xfrm>
              <a:custGeom>
                <a:avLst/>
                <a:gdLst/>
                <a:ahLst/>
                <a:cxnLst/>
                <a:rect r="r" b="b" t="t" l="l"/>
                <a:pathLst>
                  <a:path h="290627" w="4840928">
                    <a:moveTo>
                      <a:pt x="0" y="0"/>
                    </a:moveTo>
                    <a:lnTo>
                      <a:pt x="4840928" y="0"/>
                    </a:lnTo>
                    <a:lnTo>
                      <a:pt x="4840928" y="290627"/>
                    </a:lnTo>
                    <a:lnTo>
                      <a:pt x="0" y="290627"/>
                    </a:lnTo>
                    <a:close/>
                  </a:path>
                </a:pathLst>
              </a:custGeom>
              <a:solidFill>
                <a:srgbClr val="444444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4840928" cy="32872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302597" y="554790"/>
              <a:ext cx="361720" cy="361720"/>
              <a:chOff x="0" y="0"/>
              <a:chExt cx="812800" cy="812800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E85050"/>
              </a:solidFill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816759" y="554790"/>
              <a:ext cx="361720" cy="361720"/>
              <a:chOff x="0" y="0"/>
              <a:chExt cx="812800" cy="81280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4D074"/>
              </a:solidFill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1330879" y="554790"/>
              <a:ext cx="361720" cy="361720"/>
              <a:chOff x="0" y="0"/>
              <a:chExt cx="812800" cy="81280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56D673"/>
              </a:solidFill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8" id="18"/>
            <p:cNvGrpSpPr/>
            <p:nvPr/>
          </p:nvGrpSpPr>
          <p:grpSpPr>
            <a:xfrm rot="0">
              <a:off x="1868196" y="554790"/>
              <a:ext cx="7599654" cy="1043510"/>
              <a:chOff x="0" y="0"/>
              <a:chExt cx="1501166" cy="206125"/>
            </a:xfrm>
          </p:grpSpPr>
          <p:sp>
            <p:nvSpPr>
              <p:cNvPr name="Freeform 19" id="19"/>
              <p:cNvSpPr/>
              <p:nvPr/>
            </p:nvSpPr>
            <p:spPr>
              <a:xfrm flipH="false" flipV="false" rot="0">
                <a:off x="0" y="0"/>
                <a:ext cx="1501166" cy="206125"/>
              </a:xfrm>
              <a:custGeom>
                <a:avLst/>
                <a:gdLst/>
                <a:ahLst/>
                <a:cxnLst/>
                <a:rect r="r" b="b" t="t" l="l"/>
                <a:pathLst>
                  <a:path h="206125" w="1501166">
                    <a:moveTo>
                      <a:pt x="20374" y="0"/>
                    </a:moveTo>
                    <a:lnTo>
                      <a:pt x="1480792" y="0"/>
                    </a:lnTo>
                    <a:cubicBezTo>
                      <a:pt x="1486195" y="0"/>
                      <a:pt x="1491378" y="2147"/>
                      <a:pt x="1495199" y="5968"/>
                    </a:cubicBezTo>
                    <a:cubicBezTo>
                      <a:pt x="1499020" y="9788"/>
                      <a:pt x="1501166" y="14971"/>
                      <a:pt x="1501166" y="20374"/>
                    </a:cubicBezTo>
                    <a:lnTo>
                      <a:pt x="1501166" y="185751"/>
                    </a:lnTo>
                    <a:cubicBezTo>
                      <a:pt x="1501166" y="191155"/>
                      <a:pt x="1499020" y="196337"/>
                      <a:pt x="1495199" y="200158"/>
                    </a:cubicBezTo>
                    <a:cubicBezTo>
                      <a:pt x="1491378" y="203979"/>
                      <a:pt x="1486195" y="206125"/>
                      <a:pt x="1480792" y="206125"/>
                    </a:cubicBezTo>
                    <a:lnTo>
                      <a:pt x="20374" y="206125"/>
                    </a:lnTo>
                    <a:cubicBezTo>
                      <a:pt x="14971" y="206125"/>
                      <a:pt x="9788" y="203979"/>
                      <a:pt x="5968" y="200158"/>
                    </a:cubicBezTo>
                    <a:cubicBezTo>
                      <a:pt x="2147" y="196337"/>
                      <a:pt x="0" y="191155"/>
                      <a:pt x="0" y="185751"/>
                    </a:cubicBezTo>
                    <a:lnTo>
                      <a:pt x="0" y="20374"/>
                    </a:lnTo>
                    <a:cubicBezTo>
                      <a:pt x="0" y="14971"/>
                      <a:pt x="2147" y="9788"/>
                      <a:pt x="5968" y="5968"/>
                    </a:cubicBezTo>
                    <a:cubicBezTo>
                      <a:pt x="9788" y="2147"/>
                      <a:pt x="14971" y="0"/>
                      <a:pt x="20374" y="0"/>
                    </a:cubicBezTo>
                    <a:close/>
                  </a:path>
                </a:pathLst>
              </a:custGeom>
              <a:solidFill>
                <a:srgbClr val="222222"/>
              </a:solidFill>
            </p:spPr>
          </p:sp>
          <p:sp>
            <p:nvSpPr>
              <p:cNvPr name="TextBox 20" id="20"/>
              <p:cNvSpPr txBox="true"/>
              <p:nvPr/>
            </p:nvSpPr>
            <p:spPr>
              <a:xfrm>
                <a:off x="0" y="-38100"/>
                <a:ext cx="1501166" cy="2442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sp>
          <p:nvSpPr>
            <p:cNvPr name="TextBox 21" id="21"/>
            <p:cNvSpPr txBox="true"/>
            <p:nvPr/>
          </p:nvSpPr>
          <p:spPr>
            <a:xfrm rot="0">
              <a:off x="8903688" y="838445"/>
              <a:ext cx="224631" cy="49381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079"/>
                </a:lnSpc>
              </a:pPr>
              <a:r>
                <a:rPr lang="en-US" sz="2199">
                  <a:solidFill>
                    <a:srgbClr val="9B9B9B"/>
                  </a:solidFill>
                  <a:latin typeface="Lucida Console"/>
                  <a:ea typeface="Lucida Console"/>
                  <a:cs typeface="Lucida Console"/>
                  <a:sym typeface="Lucida Console"/>
                </a:rPr>
                <a:t>X</a:t>
              </a:r>
            </a:p>
          </p:txBody>
        </p:sp>
        <p:sp>
          <p:nvSpPr>
            <p:cNvPr name="TextBox 22" id="22"/>
            <p:cNvSpPr txBox="true"/>
            <p:nvPr/>
          </p:nvSpPr>
          <p:spPr>
            <a:xfrm rot="0">
              <a:off x="2069427" y="763092"/>
              <a:ext cx="6834261" cy="56917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640"/>
                </a:lnSpc>
              </a:pPr>
              <a:r>
                <a:rPr lang="en-US" sz="2600">
                  <a:solidFill>
                    <a:srgbClr val="E2E8E8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tipos_dados_enumerados.py</a:t>
              </a: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1459671" y="1555115"/>
            <a:ext cx="16576040" cy="79959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</a:t>
            </a: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# Agora podemos criar o nosso próprio tipo enumerado da seguinte forma: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 </a:t>
            </a:r>
            <a:r>
              <a:rPr lang="en-US" sz="2799">
                <a:solidFill>
                  <a:srgbClr val="38B6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from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enum </a:t>
            </a:r>
            <a:r>
              <a:rPr lang="en-US" sz="2799">
                <a:solidFill>
                  <a:srgbClr val="38B6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import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Enum, auto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 </a:t>
            </a:r>
            <a:r>
              <a:rPr lang="en-US" sz="2799">
                <a:solidFill>
                  <a:srgbClr val="38B6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class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</a:t>
            </a:r>
            <a:r>
              <a:rPr lang="en-US" sz="2799">
                <a:solidFill>
                  <a:srgbClr val="0BFFA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MeuTipoEnumerado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(Enum):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...     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VALOR1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= </a:t>
            </a:r>
            <a:r>
              <a:rPr lang="en-US" sz="2799">
                <a:solidFill>
                  <a:srgbClr val="F4D074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auto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()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...     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VALOR2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= </a:t>
            </a:r>
            <a:r>
              <a:rPr lang="en-US" sz="2799">
                <a:solidFill>
                  <a:srgbClr val="F4D074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auto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()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...     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VALOR3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= </a:t>
            </a:r>
            <a:r>
              <a:rPr lang="en-US" sz="2799">
                <a:solidFill>
                  <a:srgbClr val="F4D074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auto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()</a:t>
            </a:r>
          </a:p>
          <a:p>
            <a:pPr algn="l">
              <a:lnSpc>
                <a:spcPts val="4899"/>
              </a:lnSpc>
            </a:pP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‘’’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Cada valor que colocarmos no nosso tipo é um valor que ele poderá assumir.</a:t>
            </a:r>
          </a:p>
          <a:p>
            <a:pPr algn="l">
              <a:lnSpc>
                <a:spcPts val="4899"/>
              </a:lnSpc>
            </a:pP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Por convenção, escrevemos os nomes dos valores de um tipo enumerado em letra maiúscula.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‘’’</a:t>
            </a:r>
          </a:p>
        </p:txBody>
      </p:sp>
    </p:spTree>
  </p:cSld>
  <p:clrMapOvr>
    <a:masterClrMapping/>
  </p:clrMapOvr>
</p:sld>
</file>

<file path=ppt/slides/slide29.xml><?xml version="1.0" encoding="utf-8"?>
<p:sld xmlns:p="http://schemas.openxmlformats.org/presentationml/2006/main" xmlns:a="http://schemas.openxmlformats.org/drawingml/2006/main">
  <p:cSld>
    <p:bg>
      <p:bgPr>
        <a:solidFill>
          <a:srgbClr val="2222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69299" y="-93824"/>
            <a:ext cx="18426598" cy="10380824"/>
            <a:chOff x="0" y="0"/>
            <a:chExt cx="24568798" cy="13841099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568074"/>
              <a:ext cx="1868196" cy="13273025"/>
              <a:chOff x="0" y="0"/>
              <a:chExt cx="369026" cy="2621832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369026" cy="2621832"/>
              </a:xfrm>
              <a:custGeom>
                <a:avLst/>
                <a:gdLst/>
                <a:ahLst/>
                <a:cxnLst/>
                <a:rect r="r" b="b" t="t" l="l"/>
                <a:pathLst>
                  <a:path h="2621832" w="369026">
                    <a:moveTo>
                      <a:pt x="0" y="0"/>
                    </a:moveTo>
                    <a:lnTo>
                      <a:pt x="369026" y="0"/>
                    </a:lnTo>
                    <a:lnTo>
                      <a:pt x="369026" y="2621832"/>
                    </a:lnTo>
                    <a:lnTo>
                      <a:pt x="0" y="2621832"/>
                    </a:lnTo>
                    <a:close/>
                  </a:path>
                </a:pathLst>
              </a:custGeom>
              <a:solidFill>
                <a:srgbClr val="222222"/>
              </a:solidFill>
              <a:ln w="38100" cap="sq">
                <a:solidFill>
                  <a:srgbClr val="444444"/>
                </a:solidFill>
                <a:prstDash val="solid"/>
                <a:miter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161925"/>
                <a:ext cx="369026" cy="278375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r">
                  <a:lnSpc>
                    <a:spcPts val="5039"/>
                  </a:lnSpc>
                </a:pP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2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3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4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5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6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7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8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9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10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11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12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13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14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15 </a:t>
                </a: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61599" y="0"/>
              <a:ext cx="24507199" cy="1471299"/>
              <a:chOff x="0" y="0"/>
              <a:chExt cx="4840928" cy="290627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4840928" cy="290627"/>
              </a:xfrm>
              <a:custGeom>
                <a:avLst/>
                <a:gdLst/>
                <a:ahLst/>
                <a:cxnLst/>
                <a:rect r="r" b="b" t="t" l="l"/>
                <a:pathLst>
                  <a:path h="290627" w="4840928">
                    <a:moveTo>
                      <a:pt x="0" y="0"/>
                    </a:moveTo>
                    <a:lnTo>
                      <a:pt x="4840928" y="0"/>
                    </a:lnTo>
                    <a:lnTo>
                      <a:pt x="4840928" y="290627"/>
                    </a:lnTo>
                    <a:lnTo>
                      <a:pt x="0" y="290627"/>
                    </a:lnTo>
                    <a:close/>
                  </a:path>
                </a:pathLst>
              </a:custGeom>
              <a:solidFill>
                <a:srgbClr val="444444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4840928" cy="32872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302597" y="554790"/>
              <a:ext cx="361720" cy="361720"/>
              <a:chOff x="0" y="0"/>
              <a:chExt cx="812800" cy="812800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E85050"/>
              </a:solidFill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816759" y="554790"/>
              <a:ext cx="361720" cy="361720"/>
              <a:chOff x="0" y="0"/>
              <a:chExt cx="812800" cy="81280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4D074"/>
              </a:solidFill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1330879" y="554790"/>
              <a:ext cx="361720" cy="361720"/>
              <a:chOff x="0" y="0"/>
              <a:chExt cx="812800" cy="81280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56D673"/>
              </a:solidFill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8" id="18"/>
            <p:cNvGrpSpPr/>
            <p:nvPr/>
          </p:nvGrpSpPr>
          <p:grpSpPr>
            <a:xfrm rot="0">
              <a:off x="1868196" y="554790"/>
              <a:ext cx="7599654" cy="1043510"/>
              <a:chOff x="0" y="0"/>
              <a:chExt cx="1501166" cy="206125"/>
            </a:xfrm>
          </p:grpSpPr>
          <p:sp>
            <p:nvSpPr>
              <p:cNvPr name="Freeform 19" id="19"/>
              <p:cNvSpPr/>
              <p:nvPr/>
            </p:nvSpPr>
            <p:spPr>
              <a:xfrm flipH="false" flipV="false" rot="0">
                <a:off x="0" y="0"/>
                <a:ext cx="1501166" cy="206125"/>
              </a:xfrm>
              <a:custGeom>
                <a:avLst/>
                <a:gdLst/>
                <a:ahLst/>
                <a:cxnLst/>
                <a:rect r="r" b="b" t="t" l="l"/>
                <a:pathLst>
                  <a:path h="206125" w="1501166">
                    <a:moveTo>
                      <a:pt x="20374" y="0"/>
                    </a:moveTo>
                    <a:lnTo>
                      <a:pt x="1480792" y="0"/>
                    </a:lnTo>
                    <a:cubicBezTo>
                      <a:pt x="1486195" y="0"/>
                      <a:pt x="1491378" y="2147"/>
                      <a:pt x="1495199" y="5968"/>
                    </a:cubicBezTo>
                    <a:cubicBezTo>
                      <a:pt x="1499020" y="9788"/>
                      <a:pt x="1501166" y="14971"/>
                      <a:pt x="1501166" y="20374"/>
                    </a:cubicBezTo>
                    <a:lnTo>
                      <a:pt x="1501166" y="185751"/>
                    </a:lnTo>
                    <a:cubicBezTo>
                      <a:pt x="1501166" y="191155"/>
                      <a:pt x="1499020" y="196337"/>
                      <a:pt x="1495199" y="200158"/>
                    </a:cubicBezTo>
                    <a:cubicBezTo>
                      <a:pt x="1491378" y="203979"/>
                      <a:pt x="1486195" y="206125"/>
                      <a:pt x="1480792" y="206125"/>
                    </a:cubicBezTo>
                    <a:lnTo>
                      <a:pt x="20374" y="206125"/>
                    </a:lnTo>
                    <a:cubicBezTo>
                      <a:pt x="14971" y="206125"/>
                      <a:pt x="9788" y="203979"/>
                      <a:pt x="5968" y="200158"/>
                    </a:cubicBezTo>
                    <a:cubicBezTo>
                      <a:pt x="2147" y="196337"/>
                      <a:pt x="0" y="191155"/>
                      <a:pt x="0" y="185751"/>
                    </a:cubicBezTo>
                    <a:lnTo>
                      <a:pt x="0" y="20374"/>
                    </a:lnTo>
                    <a:cubicBezTo>
                      <a:pt x="0" y="14971"/>
                      <a:pt x="2147" y="9788"/>
                      <a:pt x="5968" y="5968"/>
                    </a:cubicBezTo>
                    <a:cubicBezTo>
                      <a:pt x="9788" y="2147"/>
                      <a:pt x="14971" y="0"/>
                      <a:pt x="20374" y="0"/>
                    </a:cubicBezTo>
                    <a:close/>
                  </a:path>
                </a:pathLst>
              </a:custGeom>
              <a:solidFill>
                <a:srgbClr val="222222"/>
              </a:solidFill>
            </p:spPr>
          </p:sp>
          <p:sp>
            <p:nvSpPr>
              <p:cNvPr name="TextBox 20" id="20"/>
              <p:cNvSpPr txBox="true"/>
              <p:nvPr/>
            </p:nvSpPr>
            <p:spPr>
              <a:xfrm>
                <a:off x="0" y="-38100"/>
                <a:ext cx="1501166" cy="2442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sp>
          <p:nvSpPr>
            <p:cNvPr name="TextBox 21" id="21"/>
            <p:cNvSpPr txBox="true"/>
            <p:nvPr/>
          </p:nvSpPr>
          <p:spPr>
            <a:xfrm rot="0">
              <a:off x="8903688" y="838445"/>
              <a:ext cx="224631" cy="49381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079"/>
                </a:lnSpc>
              </a:pPr>
              <a:r>
                <a:rPr lang="en-US" sz="2199">
                  <a:solidFill>
                    <a:srgbClr val="9B9B9B"/>
                  </a:solidFill>
                  <a:latin typeface="Lucida Console"/>
                  <a:ea typeface="Lucida Console"/>
                  <a:cs typeface="Lucida Console"/>
                  <a:sym typeface="Lucida Console"/>
                </a:rPr>
                <a:t>X</a:t>
              </a:r>
            </a:p>
          </p:txBody>
        </p:sp>
        <p:sp>
          <p:nvSpPr>
            <p:cNvPr name="TextBox 22" id="22"/>
            <p:cNvSpPr txBox="true"/>
            <p:nvPr/>
          </p:nvSpPr>
          <p:spPr>
            <a:xfrm rot="0">
              <a:off x="2069427" y="763092"/>
              <a:ext cx="6834261" cy="56917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640"/>
                </a:lnSpc>
              </a:pPr>
              <a:r>
                <a:rPr lang="en-US" sz="2600">
                  <a:solidFill>
                    <a:srgbClr val="E2E8E8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tipos_dados_enumerados.py</a:t>
              </a: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1459671" y="1555115"/>
            <a:ext cx="16576040" cy="67576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‘’’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Por fim, podemos usar o nosso novo tipo fazendo nome do tipo + ponto (.) + NOME DO VALOR (similar ao tipo composto):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‘’’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</a:t>
            </a: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# Associando a uma variavel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 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minha_variavel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: </a:t>
            </a:r>
            <a:r>
              <a:rPr lang="en-US" sz="2799">
                <a:solidFill>
                  <a:srgbClr val="0BFFA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MeuTipoEnumerado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= </a:t>
            </a:r>
            <a:r>
              <a:rPr lang="en-US" sz="2799">
                <a:solidFill>
                  <a:srgbClr val="0BFFA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MeuTipoEnumerado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VALOR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</a:t>
            </a:r>
          </a:p>
          <a:p>
            <a:pPr algn="l">
              <a:lnSpc>
                <a:spcPts val="4899"/>
              </a:lnSpc>
            </a:pP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 </a:t>
            </a: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# Fazendo comparação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 </a:t>
            </a:r>
            <a:r>
              <a:rPr lang="en-US" sz="2799">
                <a:solidFill>
                  <a:srgbClr val="B45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if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variavel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== </a:t>
            </a:r>
            <a:r>
              <a:rPr lang="en-US" sz="2799">
                <a:solidFill>
                  <a:srgbClr val="0BFFA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MeuTipoEnumerado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VALOR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: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...     * codígo *</a:t>
            </a:r>
          </a:p>
          <a:p>
            <a:pPr algn="l">
              <a:lnSpc>
                <a:spcPts val="4899"/>
              </a:lnSpc>
            </a:pPr>
          </a:p>
        </p:txBody>
      </p:sp>
    </p:spTree>
  </p:cSld>
  <p:clrMapOvr>
    <a:masterClrMapping/>
  </p:clrMapOvr>
</p:sld>
</file>

<file path=ppt/slides/slide30.xml><?xml version="1.0" encoding="utf-8"?>
<p:sld xmlns:p="http://schemas.openxmlformats.org/presentationml/2006/main" xmlns:a="http://schemas.openxmlformats.org/drawingml/2006/main">
  <p:cSld>
    <p:bg>
      <p:bgPr>
        <a:solidFill>
          <a:srgbClr val="2222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69299" y="-93824"/>
            <a:ext cx="18426598" cy="10380824"/>
            <a:chOff x="0" y="0"/>
            <a:chExt cx="24568798" cy="13841099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568074"/>
              <a:ext cx="1868196" cy="13273025"/>
              <a:chOff x="0" y="0"/>
              <a:chExt cx="369026" cy="2621832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369026" cy="2621832"/>
              </a:xfrm>
              <a:custGeom>
                <a:avLst/>
                <a:gdLst/>
                <a:ahLst/>
                <a:cxnLst/>
                <a:rect r="r" b="b" t="t" l="l"/>
                <a:pathLst>
                  <a:path h="2621832" w="369026">
                    <a:moveTo>
                      <a:pt x="0" y="0"/>
                    </a:moveTo>
                    <a:lnTo>
                      <a:pt x="369026" y="0"/>
                    </a:lnTo>
                    <a:lnTo>
                      <a:pt x="369026" y="2621832"/>
                    </a:lnTo>
                    <a:lnTo>
                      <a:pt x="0" y="2621832"/>
                    </a:lnTo>
                    <a:close/>
                  </a:path>
                </a:pathLst>
              </a:custGeom>
              <a:solidFill>
                <a:srgbClr val="222222"/>
              </a:solidFill>
              <a:ln w="38100" cap="sq">
                <a:solidFill>
                  <a:srgbClr val="444444"/>
                </a:solidFill>
                <a:prstDash val="solid"/>
                <a:miter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161925"/>
                <a:ext cx="369026" cy="278375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r">
                  <a:lnSpc>
                    <a:spcPts val="5039"/>
                  </a:lnSpc>
                </a:pP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2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3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4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5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6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7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8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9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10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11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12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13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14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15 </a:t>
                </a: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61599" y="0"/>
              <a:ext cx="24507199" cy="1471299"/>
              <a:chOff x="0" y="0"/>
              <a:chExt cx="4840928" cy="290627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4840928" cy="290627"/>
              </a:xfrm>
              <a:custGeom>
                <a:avLst/>
                <a:gdLst/>
                <a:ahLst/>
                <a:cxnLst/>
                <a:rect r="r" b="b" t="t" l="l"/>
                <a:pathLst>
                  <a:path h="290627" w="4840928">
                    <a:moveTo>
                      <a:pt x="0" y="0"/>
                    </a:moveTo>
                    <a:lnTo>
                      <a:pt x="4840928" y="0"/>
                    </a:lnTo>
                    <a:lnTo>
                      <a:pt x="4840928" y="290627"/>
                    </a:lnTo>
                    <a:lnTo>
                      <a:pt x="0" y="290627"/>
                    </a:lnTo>
                    <a:close/>
                  </a:path>
                </a:pathLst>
              </a:custGeom>
              <a:solidFill>
                <a:srgbClr val="444444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4840928" cy="32872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302597" y="554790"/>
              <a:ext cx="361720" cy="361720"/>
              <a:chOff x="0" y="0"/>
              <a:chExt cx="812800" cy="812800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E85050"/>
              </a:solidFill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816759" y="554790"/>
              <a:ext cx="361720" cy="361720"/>
              <a:chOff x="0" y="0"/>
              <a:chExt cx="812800" cy="81280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4D074"/>
              </a:solidFill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1330879" y="554790"/>
              <a:ext cx="361720" cy="361720"/>
              <a:chOff x="0" y="0"/>
              <a:chExt cx="812800" cy="81280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56D673"/>
              </a:solidFill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8" id="18"/>
            <p:cNvGrpSpPr/>
            <p:nvPr/>
          </p:nvGrpSpPr>
          <p:grpSpPr>
            <a:xfrm rot="0">
              <a:off x="1868196" y="554790"/>
              <a:ext cx="7599654" cy="1043510"/>
              <a:chOff x="0" y="0"/>
              <a:chExt cx="1501166" cy="206125"/>
            </a:xfrm>
          </p:grpSpPr>
          <p:sp>
            <p:nvSpPr>
              <p:cNvPr name="Freeform 19" id="19"/>
              <p:cNvSpPr/>
              <p:nvPr/>
            </p:nvSpPr>
            <p:spPr>
              <a:xfrm flipH="false" flipV="false" rot="0">
                <a:off x="0" y="0"/>
                <a:ext cx="1501166" cy="206125"/>
              </a:xfrm>
              <a:custGeom>
                <a:avLst/>
                <a:gdLst/>
                <a:ahLst/>
                <a:cxnLst/>
                <a:rect r="r" b="b" t="t" l="l"/>
                <a:pathLst>
                  <a:path h="206125" w="1501166">
                    <a:moveTo>
                      <a:pt x="20374" y="0"/>
                    </a:moveTo>
                    <a:lnTo>
                      <a:pt x="1480792" y="0"/>
                    </a:lnTo>
                    <a:cubicBezTo>
                      <a:pt x="1486195" y="0"/>
                      <a:pt x="1491378" y="2147"/>
                      <a:pt x="1495199" y="5968"/>
                    </a:cubicBezTo>
                    <a:cubicBezTo>
                      <a:pt x="1499020" y="9788"/>
                      <a:pt x="1501166" y="14971"/>
                      <a:pt x="1501166" y="20374"/>
                    </a:cubicBezTo>
                    <a:lnTo>
                      <a:pt x="1501166" y="185751"/>
                    </a:lnTo>
                    <a:cubicBezTo>
                      <a:pt x="1501166" y="191155"/>
                      <a:pt x="1499020" y="196337"/>
                      <a:pt x="1495199" y="200158"/>
                    </a:cubicBezTo>
                    <a:cubicBezTo>
                      <a:pt x="1491378" y="203979"/>
                      <a:pt x="1486195" y="206125"/>
                      <a:pt x="1480792" y="206125"/>
                    </a:cubicBezTo>
                    <a:lnTo>
                      <a:pt x="20374" y="206125"/>
                    </a:lnTo>
                    <a:cubicBezTo>
                      <a:pt x="14971" y="206125"/>
                      <a:pt x="9788" y="203979"/>
                      <a:pt x="5968" y="200158"/>
                    </a:cubicBezTo>
                    <a:cubicBezTo>
                      <a:pt x="2147" y="196337"/>
                      <a:pt x="0" y="191155"/>
                      <a:pt x="0" y="185751"/>
                    </a:cubicBezTo>
                    <a:lnTo>
                      <a:pt x="0" y="20374"/>
                    </a:lnTo>
                    <a:cubicBezTo>
                      <a:pt x="0" y="14971"/>
                      <a:pt x="2147" y="9788"/>
                      <a:pt x="5968" y="5968"/>
                    </a:cubicBezTo>
                    <a:cubicBezTo>
                      <a:pt x="9788" y="2147"/>
                      <a:pt x="14971" y="0"/>
                      <a:pt x="20374" y="0"/>
                    </a:cubicBezTo>
                    <a:close/>
                  </a:path>
                </a:pathLst>
              </a:custGeom>
              <a:solidFill>
                <a:srgbClr val="222222"/>
              </a:solidFill>
            </p:spPr>
          </p:sp>
          <p:sp>
            <p:nvSpPr>
              <p:cNvPr name="TextBox 20" id="20"/>
              <p:cNvSpPr txBox="true"/>
              <p:nvPr/>
            </p:nvSpPr>
            <p:spPr>
              <a:xfrm>
                <a:off x="0" y="-38100"/>
                <a:ext cx="1501166" cy="2442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sp>
          <p:nvSpPr>
            <p:cNvPr name="TextBox 21" id="21"/>
            <p:cNvSpPr txBox="true"/>
            <p:nvPr/>
          </p:nvSpPr>
          <p:spPr>
            <a:xfrm rot="0">
              <a:off x="8903688" y="838445"/>
              <a:ext cx="224631" cy="49381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079"/>
                </a:lnSpc>
              </a:pPr>
              <a:r>
                <a:rPr lang="en-US" sz="2199">
                  <a:solidFill>
                    <a:srgbClr val="9B9B9B"/>
                  </a:solidFill>
                  <a:latin typeface="Lucida Console"/>
                  <a:ea typeface="Lucida Console"/>
                  <a:cs typeface="Lucida Console"/>
                  <a:sym typeface="Lucida Console"/>
                </a:rPr>
                <a:t>X</a:t>
              </a:r>
            </a:p>
          </p:txBody>
        </p:sp>
        <p:sp>
          <p:nvSpPr>
            <p:cNvPr name="TextBox 22" id="22"/>
            <p:cNvSpPr txBox="true"/>
            <p:nvPr/>
          </p:nvSpPr>
          <p:spPr>
            <a:xfrm rot="0">
              <a:off x="2069427" y="763092"/>
              <a:ext cx="6834261" cy="56917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640"/>
                </a:lnSpc>
              </a:pPr>
              <a:r>
                <a:rPr lang="en-US" sz="2600">
                  <a:solidFill>
                    <a:srgbClr val="E2E8E8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tipos_dados_enumerados.py</a:t>
              </a: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1459671" y="1555115"/>
            <a:ext cx="16576040" cy="49002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# Vamos aplicar o que aprendemos na nossa função de cores do semáforo:</a:t>
            </a:r>
          </a:p>
          <a:p>
            <a:pPr algn="l">
              <a:lnSpc>
                <a:spcPts val="4899"/>
              </a:lnSpc>
            </a:pP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 </a:t>
            </a:r>
            <a:r>
              <a:rPr lang="en-US" sz="2799">
                <a:solidFill>
                  <a:srgbClr val="38B6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from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enum </a:t>
            </a:r>
            <a:r>
              <a:rPr lang="en-US" sz="2799">
                <a:solidFill>
                  <a:srgbClr val="38B6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import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Enum, auto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 </a:t>
            </a:r>
            <a:r>
              <a:rPr lang="en-US" sz="2799">
                <a:solidFill>
                  <a:srgbClr val="38B6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class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</a:t>
            </a:r>
            <a:r>
              <a:rPr lang="en-US" sz="2799">
                <a:solidFill>
                  <a:srgbClr val="0BFFA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Cor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(Enum):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...     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VERMELHO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= </a:t>
            </a:r>
            <a:r>
              <a:rPr lang="en-US" sz="2799">
                <a:solidFill>
                  <a:srgbClr val="F4D074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auto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()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...     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AMARELO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= </a:t>
            </a:r>
            <a:r>
              <a:rPr lang="en-US" sz="2799">
                <a:solidFill>
                  <a:srgbClr val="F4D074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auto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()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...     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VERDE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= </a:t>
            </a:r>
            <a:r>
              <a:rPr lang="en-US" sz="2799">
                <a:solidFill>
                  <a:srgbClr val="F4D074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auto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()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...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8971280" y="1555115"/>
            <a:ext cx="16576040" cy="73767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99"/>
              </a:lnSpc>
            </a:pPr>
          </a:p>
          <a:p>
            <a:pPr algn="l">
              <a:lnSpc>
                <a:spcPts val="4899"/>
              </a:lnSpc>
            </a:pP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 </a:t>
            </a:r>
            <a:r>
              <a:rPr lang="en-US" sz="2799">
                <a:solidFill>
                  <a:srgbClr val="38B6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def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</a:t>
            </a:r>
            <a:r>
              <a:rPr lang="en-US" sz="2799">
                <a:solidFill>
                  <a:srgbClr val="F4D074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proxima_cor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(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cor_atual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: </a:t>
            </a:r>
            <a:r>
              <a:rPr lang="en-US" sz="2799">
                <a:solidFill>
                  <a:srgbClr val="0BFFA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Cor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) -&gt; </a:t>
            </a:r>
            <a:r>
              <a:rPr lang="en-US" sz="2799">
                <a:solidFill>
                  <a:srgbClr val="0BFFA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Cor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: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...     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proxima_cor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: </a:t>
            </a:r>
            <a:r>
              <a:rPr lang="en-US" sz="2799">
                <a:solidFill>
                  <a:srgbClr val="0BFFA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Cor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...     </a:t>
            </a:r>
            <a:r>
              <a:rPr lang="en-US" sz="2799">
                <a:solidFill>
                  <a:srgbClr val="B45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if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cor_atual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== </a:t>
            </a:r>
            <a:r>
              <a:rPr lang="en-US" sz="2799">
                <a:solidFill>
                  <a:srgbClr val="0BFFA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Cor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VERMELHO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: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...         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proxima_cor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= </a:t>
            </a:r>
            <a:r>
              <a:rPr lang="en-US" sz="2799">
                <a:solidFill>
                  <a:srgbClr val="0BFFA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Cor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VERDE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...     </a:t>
            </a:r>
            <a:r>
              <a:rPr lang="en-US" sz="2799">
                <a:solidFill>
                  <a:srgbClr val="B45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elif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cor_atual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== </a:t>
            </a:r>
            <a:r>
              <a:rPr lang="en-US" sz="2799">
                <a:solidFill>
                  <a:srgbClr val="0BFFA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Cor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VERDE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: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...         </a:t>
            </a:r>
            <a:r>
              <a:rPr lang="en-US" sz="2799">
                <a:solidFill>
                  <a:srgbClr val="0BFFA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proxima_cor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= </a:t>
            </a:r>
            <a:r>
              <a:rPr lang="en-US" sz="2799">
                <a:solidFill>
                  <a:srgbClr val="0BFFA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Cor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AMARELO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...     </a:t>
            </a:r>
            <a:r>
              <a:rPr lang="en-US" sz="2799">
                <a:solidFill>
                  <a:srgbClr val="B45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else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:</a:t>
            </a: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# Cor atual é amarelo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...        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proxima_cor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= </a:t>
            </a:r>
            <a:r>
              <a:rPr lang="en-US" sz="2799">
                <a:solidFill>
                  <a:srgbClr val="0BFFA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Cor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VERMELHO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...     </a:t>
            </a:r>
            <a:r>
              <a:rPr lang="en-US" sz="2799">
                <a:solidFill>
                  <a:srgbClr val="38B6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return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proxima_cor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...</a:t>
            </a:r>
          </a:p>
        </p:txBody>
      </p:sp>
    </p:spTree>
  </p:cSld>
  <p:clrMapOvr>
    <a:masterClrMapping/>
  </p:clrMapOvr>
</p:sld>
</file>

<file path=ppt/slides/slide31.xml><?xml version="1.0" encoding="utf-8"?>
<p:sld xmlns:p="http://schemas.openxmlformats.org/presentationml/2006/main" xmlns:a="http://schemas.openxmlformats.org/drawingml/2006/main">
  <p:cSld>
    <p:bg>
      <p:bgPr>
        <a:solidFill>
          <a:srgbClr val="2222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69299" y="-93824"/>
            <a:ext cx="18426598" cy="10380824"/>
            <a:chOff x="0" y="0"/>
            <a:chExt cx="24568798" cy="13841099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568074"/>
              <a:ext cx="1868196" cy="13273025"/>
              <a:chOff x="0" y="0"/>
              <a:chExt cx="369026" cy="2621832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369026" cy="2621832"/>
              </a:xfrm>
              <a:custGeom>
                <a:avLst/>
                <a:gdLst/>
                <a:ahLst/>
                <a:cxnLst/>
                <a:rect r="r" b="b" t="t" l="l"/>
                <a:pathLst>
                  <a:path h="2621832" w="369026">
                    <a:moveTo>
                      <a:pt x="0" y="0"/>
                    </a:moveTo>
                    <a:lnTo>
                      <a:pt x="369026" y="0"/>
                    </a:lnTo>
                    <a:lnTo>
                      <a:pt x="369026" y="2621832"/>
                    </a:lnTo>
                    <a:lnTo>
                      <a:pt x="0" y="2621832"/>
                    </a:lnTo>
                    <a:close/>
                  </a:path>
                </a:pathLst>
              </a:custGeom>
              <a:solidFill>
                <a:srgbClr val="222222"/>
              </a:solidFill>
              <a:ln w="38100" cap="sq">
                <a:solidFill>
                  <a:srgbClr val="444444"/>
                </a:solidFill>
                <a:prstDash val="solid"/>
                <a:miter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161925"/>
                <a:ext cx="369026" cy="278375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r">
                  <a:lnSpc>
                    <a:spcPts val="5039"/>
                  </a:lnSpc>
                </a:pP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2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3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4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5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6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7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8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9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10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11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12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13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14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15 </a:t>
                </a: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61599" y="0"/>
              <a:ext cx="24507199" cy="1471299"/>
              <a:chOff x="0" y="0"/>
              <a:chExt cx="4840928" cy="290627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4840928" cy="290627"/>
              </a:xfrm>
              <a:custGeom>
                <a:avLst/>
                <a:gdLst/>
                <a:ahLst/>
                <a:cxnLst/>
                <a:rect r="r" b="b" t="t" l="l"/>
                <a:pathLst>
                  <a:path h="290627" w="4840928">
                    <a:moveTo>
                      <a:pt x="0" y="0"/>
                    </a:moveTo>
                    <a:lnTo>
                      <a:pt x="4840928" y="0"/>
                    </a:lnTo>
                    <a:lnTo>
                      <a:pt x="4840928" y="290627"/>
                    </a:lnTo>
                    <a:lnTo>
                      <a:pt x="0" y="290627"/>
                    </a:lnTo>
                    <a:close/>
                  </a:path>
                </a:pathLst>
              </a:custGeom>
              <a:solidFill>
                <a:srgbClr val="444444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4840928" cy="32872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302597" y="554790"/>
              <a:ext cx="361720" cy="361720"/>
              <a:chOff x="0" y="0"/>
              <a:chExt cx="812800" cy="812800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E85050"/>
              </a:solidFill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816759" y="554790"/>
              <a:ext cx="361720" cy="361720"/>
              <a:chOff x="0" y="0"/>
              <a:chExt cx="812800" cy="81280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4D074"/>
              </a:solidFill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1330879" y="554790"/>
              <a:ext cx="361720" cy="361720"/>
              <a:chOff x="0" y="0"/>
              <a:chExt cx="812800" cy="81280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56D673"/>
              </a:solidFill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8" id="18"/>
            <p:cNvGrpSpPr/>
            <p:nvPr/>
          </p:nvGrpSpPr>
          <p:grpSpPr>
            <a:xfrm rot="0">
              <a:off x="1868196" y="554790"/>
              <a:ext cx="7599654" cy="1043510"/>
              <a:chOff x="0" y="0"/>
              <a:chExt cx="1501166" cy="206125"/>
            </a:xfrm>
          </p:grpSpPr>
          <p:sp>
            <p:nvSpPr>
              <p:cNvPr name="Freeform 19" id="19"/>
              <p:cNvSpPr/>
              <p:nvPr/>
            </p:nvSpPr>
            <p:spPr>
              <a:xfrm flipH="false" flipV="false" rot="0">
                <a:off x="0" y="0"/>
                <a:ext cx="1501166" cy="206125"/>
              </a:xfrm>
              <a:custGeom>
                <a:avLst/>
                <a:gdLst/>
                <a:ahLst/>
                <a:cxnLst/>
                <a:rect r="r" b="b" t="t" l="l"/>
                <a:pathLst>
                  <a:path h="206125" w="1501166">
                    <a:moveTo>
                      <a:pt x="20374" y="0"/>
                    </a:moveTo>
                    <a:lnTo>
                      <a:pt x="1480792" y="0"/>
                    </a:lnTo>
                    <a:cubicBezTo>
                      <a:pt x="1486195" y="0"/>
                      <a:pt x="1491378" y="2147"/>
                      <a:pt x="1495199" y="5968"/>
                    </a:cubicBezTo>
                    <a:cubicBezTo>
                      <a:pt x="1499020" y="9788"/>
                      <a:pt x="1501166" y="14971"/>
                      <a:pt x="1501166" y="20374"/>
                    </a:cubicBezTo>
                    <a:lnTo>
                      <a:pt x="1501166" y="185751"/>
                    </a:lnTo>
                    <a:cubicBezTo>
                      <a:pt x="1501166" y="191155"/>
                      <a:pt x="1499020" y="196337"/>
                      <a:pt x="1495199" y="200158"/>
                    </a:cubicBezTo>
                    <a:cubicBezTo>
                      <a:pt x="1491378" y="203979"/>
                      <a:pt x="1486195" y="206125"/>
                      <a:pt x="1480792" y="206125"/>
                    </a:cubicBezTo>
                    <a:lnTo>
                      <a:pt x="20374" y="206125"/>
                    </a:lnTo>
                    <a:cubicBezTo>
                      <a:pt x="14971" y="206125"/>
                      <a:pt x="9788" y="203979"/>
                      <a:pt x="5968" y="200158"/>
                    </a:cubicBezTo>
                    <a:cubicBezTo>
                      <a:pt x="2147" y="196337"/>
                      <a:pt x="0" y="191155"/>
                      <a:pt x="0" y="185751"/>
                    </a:cubicBezTo>
                    <a:lnTo>
                      <a:pt x="0" y="20374"/>
                    </a:lnTo>
                    <a:cubicBezTo>
                      <a:pt x="0" y="14971"/>
                      <a:pt x="2147" y="9788"/>
                      <a:pt x="5968" y="5968"/>
                    </a:cubicBezTo>
                    <a:cubicBezTo>
                      <a:pt x="9788" y="2147"/>
                      <a:pt x="14971" y="0"/>
                      <a:pt x="20374" y="0"/>
                    </a:cubicBezTo>
                    <a:close/>
                  </a:path>
                </a:pathLst>
              </a:custGeom>
              <a:solidFill>
                <a:srgbClr val="222222"/>
              </a:solidFill>
            </p:spPr>
          </p:sp>
          <p:sp>
            <p:nvSpPr>
              <p:cNvPr name="TextBox 20" id="20"/>
              <p:cNvSpPr txBox="true"/>
              <p:nvPr/>
            </p:nvSpPr>
            <p:spPr>
              <a:xfrm>
                <a:off x="0" y="-38100"/>
                <a:ext cx="1501166" cy="2442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sp>
          <p:nvSpPr>
            <p:cNvPr name="TextBox 21" id="21"/>
            <p:cNvSpPr txBox="true"/>
            <p:nvPr/>
          </p:nvSpPr>
          <p:spPr>
            <a:xfrm rot="0">
              <a:off x="8903688" y="838445"/>
              <a:ext cx="224631" cy="49381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079"/>
                </a:lnSpc>
              </a:pPr>
              <a:r>
                <a:rPr lang="en-US" sz="2199">
                  <a:solidFill>
                    <a:srgbClr val="9B9B9B"/>
                  </a:solidFill>
                  <a:latin typeface="Lucida Console"/>
                  <a:ea typeface="Lucida Console"/>
                  <a:cs typeface="Lucida Console"/>
                  <a:sym typeface="Lucida Console"/>
                </a:rPr>
                <a:t>X</a:t>
              </a:r>
            </a:p>
          </p:txBody>
        </p:sp>
        <p:sp>
          <p:nvSpPr>
            <p:cNvPr name="TextBox 22" id="22"/>
            <p:cNvSpPr txBox="true"/>
            <p:nvPr/>
          </p:nvSpPr>
          <p:spPr>
            <a:xfrm rot="0">
              <a:off x="2069427" y="763092"/>
              <a:ext cx="6834261" cy="56917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640"/>
                </a:lnSpc>
              </a:pPr>
              <a:r>
                <a:rPr lang="en-US" sz="2600">
                  <a:solidFill>
                    <a:srgbClr val="E2E8E8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tipos_dados_enumerados.py</a:t>
              </a: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1459671" y="2174240"/>
            <a:ext cx="16576040" cy="55194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‘’’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Dica: Se precisarmos do nome de um valor de um tipo enumerado como string, podemos usar .name() após o valor para obtê-la: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‘’’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 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cor_atual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: </a:t>
            </a:r>
            <a:r>
              <a:rPr lang="en-US" sz="2799">
                <a:solidFill>
                  <a:srgbClr val="0BFFA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Cor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= </a:t>
            </a:r>
            <a:r>
              <a:rPr lang="en-US" sz="2799">
                <a:solidFill>
                  <a:srgbClr val="0BFFA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Cor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VERMELHO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 </a:t>
            </a:r>
            <a:r>
              <a:rPr lang="en-US" sz="2799">
                <a:solidFill>
                  <a:srgbClr val="F4D074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print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(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"A cor atual é "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+ 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cor_atual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</a:t>
            </a:r>
            <a:r>
              <a:rPr lang="en-US" sz="2799">
                <a:solidFill>
                  <a:srgbClr val="F4D074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name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())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“A cor atual é VERMELHO”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 </a:t>
            </a:r>
            <a:r>
              <a:rPr lang="en-US" sz="2799">
                <a:solidFill>
                  <a:srgbClr val="F4D074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print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(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"Eu gosto da cor " 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+ </a:t>
            </a:r>
            <a:r>
              <a:rPr lang="en-US" sz="2799">
                <a:solidFill>
                  <a:srgbClr val="0BFFA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Cor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VERDE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</a:t>
            </a:r>
            <a:r>
              <a:rPr lang="en-US" sz="2799">
                <a:solidFill>
                  <a:srgbClr val="F4D074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name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())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“Eu gosto da cor VERDE”</a:t>
            </a:r>
          </a:p>
        </p:txBody>
      </p:sp>
    </p:spTree>
  </p:cSld>
  <p:clrMapOvr>
    <a:masterClrMapping/>
  </p:clrMapOvr>
</p:sld>
</file>

<file path=ppt/slides/slide32.xml><?xml version="1.0" encoding="utf-8"?>
<p:sld xmlns:p="http://schemas.openxmlformats.org/presentationml/2006/main" xmlns:a="http://schemas.openxmlformats.org/drawingml/2006/main">
  <p:cSld>
    <p:bg>
      <p:bgPr>
        <a:solidFill>
          <a:srgbClr val="2222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01924" y="-93824"/>
            <a:ext cx="18426598" cy="10380824"/>
            <a:chOff x="0" y="0"/>
            <a:chExt cx="24568798" cy="13841099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568074"/>
              <a:ext cx="1868196" cy="13273025"/>
              <a:chOff x="0" y="0"/>
              <a:chExt cx="369026" cy="2621832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369026" cy="2621832"/>
              </a:xfrm>
              <a:custGeom>
                <a:avLst/>
                <a:gdLst/>
                <a:ahLst/>
                <a:cxnLst/>
                <a:rect r="r" b="b" t="t" l="l"/>
                <a:pathLst>
                  <a:path h="2621832" w="369026">
                    <a:moveTo>
                      <a:pt x="0" y="0"/>
                    </a:moveTo>
                    <a:lnTo>
                      <a:pt x="369026" y="0"/>
                    </a:lnTo>
                    <a:lnTo>
                      <a:pt x="369026" y="2621832"/>
                    </a:lnTo>
                    <a:lnTo>
                      <a:pt x="0" y="2621832"/>
                    </a:lnTo>
                    <a:close/>
                  </a:path>
                </a:pathLst>
              </a:custGeom>
              <a:solidFill>
                <a:srgbClr val="222222"/>
              </a:solidFill>
              <a:ln w="38100" cap="sq">
                <a:solidFill>
                  <a:srgbClr val="444444"/>
                </a:solidFill>
                <a:prstDash val="solid"/>
                <a:miter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161925"/>
                <a:ext cx="369026" cy="278375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r">
                  <a:lnSpc>
                    <a:spcPts val="5039"/>
                  </a:lnSpc>
                </a:pP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2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3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4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5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6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7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8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9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10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11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12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13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14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15 </a:t>
                </a: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61599" y="0"/>
              <a:ext cx="24507199" cy="1471299"/>
              <a:chOff x="0" y="0"/>
              <a:chExt cx="4840928" cy="290627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4840928" cy="290627"/>
              </a:xfrm>
              <a:custGeom>
                <a:avLst/>
                <a:gdLst/>
                <a:ahLst/>
                <a:cxnLst/>
                <a:rect r="r" b="b" t="t" l="l"/>
                <a:pathLst>
                  <a:path h="290627" w="4840928">
                    <a:moveTo>
                      <a:pt x="0" y="0"/>
                    </a:moveTo>
                    <a:lnTo>
                      <a:pt x="4840928" y="0"/>
                    </a:lnTo>
                    <a:lnTo>
                      <a:pt x="4840928" y="290627"/>
                    </a:lnTo>
                    <a:lnTo>
                      <a:pt x="0" y="290627"/>
                    </a:lnTo>
                    <a:close/>
                  </a:path>
                </a:pathLst>
              </a:custGeom>
              <a:solidFill>
                <a:srgbClr val="444444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4840928" cy="32872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302597" y="554790"/>
              <a:ext cx="361720" cy="361720"/>
              <a:chOff x="0" y="0"/>
              <a:chExt cx="812800" cy="812800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E85050"/>
              </a:solidFill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816759" y="554790"/>
              <a:ext cx="361720" cy="361720"/>
              <a:chOff x="0" y="0"/>
              <a:chExt cx="812800" cy="81280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4D074"/>
              </a:solidFill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1330879" y="554790"/>
              <a:ext cx="361720" cy="361720"/>
              <a:chOff x="0" y="0"/>
              <a:chExt cx="812800" cy="81280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56D673"/>
              </a:solidFill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8" id="18"/>
            <p:cNvGrpSpPr/>
            <p:nvPr/>
          </p:nvGrpSpPr>
          <p:grpSpPr>
            <a:xfrm rot="0">
              <a:off x="1868196" y="554790"/>
              <a:ext cx="4087749" cy="1043510"/>
              <a:chOff x="0" y="0"/>
              <a:chExt cx="807457" cy="206125"/>
            </a:xfrm>
          </p:grpSpPr>
          <p:sp>
            <p:nvSpPr>
              <p:cNvPr name="Freeform 19" id="19"/>
              <p:cNvSpPr/>
              <p:nvPr/>
            </p:nvSpPr>
            <p:spPr>
              <a:xfrm flipH="false" flipV="false" rot="0">
                <a:off x="0" y="0"/>
                <a:ext cx="807457" cy="206125"/>
              </a:xfrm>
              <a:custGeom>
                <a:avLst/>
                <a:gdLst/>
                <a:ahLst/>
                <a:cxnLst/>
                <a:rect r="r" b="b" t="t" l="l"/>
                <a:pathLst>
                  <a:path h="206125" w="807457">
                    <a:moveTo>
                      <a:pt x="37879" y="0"/>
                    </a:moveTo>
                    <a:lnTo>
                      <a:pt x="769578" y="0"/>
                    </a:lnTo>
                    <a:cubicBezTo>
                      <a:pt x="779624" y="0"/>
                      <a:pt x="789259" y="3991"/>
                      <a:pt x="796362" y="11094"/>
                    </a:cubicBezTo>
                    <a:cubicBezTo>
                      <a:pt x="803466" y="18198"/>
                      <a:pt x="807457" y="27833"/>
                      <a:pt x="807457" y="37879"/>
                    </a:cubicBezTo>
                    <a:lnTo>
                      <a:pt x="807457" y="168247"/>
                    </a:lnTo>
                    <a:cubicBezTo>
                      <a:pt x="807457" y="189167"/>
                      <a:pt x="790498" y="206125"/>
                      <a:pt x="769578" y="206125"/>
                    </a:cubicBezTo>
                    <a:lnTo>
                      <a:pt x="37879" y="206125"/>
                    </a:lnTo>
                    <a:cubicBezTo>
                      <a:pt x="27833" y="206125"/>
                      <a:pt x="18198" y="202135"/>
                      <a:pt x="11094" y="195031"/>
                    </a:cubicBezTo>
                    <a:cubicBezTo>
                      <a:pt x="3991" y="187927"/>
                      <a:pt x="0" y="178293"/>
                      <a:pt x="0" y="168247"/>
                    </a:cubicBezTo>
                    <a:lnTo>
                      <a:pt x="0" y="37879"/>
                    </a:lnTo>
                    <a:cubicBezTo>
                      <a:pt x="0" y="27833"/>
                      <a:pt x="3991" y="18198"/>
                      <a:pt x="11094" y="11094"/>
                    </a:cubicBezTo>
                    <a:cubicBezTo>
                      <a:pt x="18198" y="3991"/>
                      <a:pt x="27833" y="0"/>
                      <a:pt x="37879" y="0"/>
                    </a:cubicBezTo>
                    <a:close/>
                  </a:path>
                </a:pathLst>
              </a:custGeom>
              <a:solidFill>
                <a:srgbClr val="222222"/>
              </a:solidFill>
            </p:spPr>
          </p:sp>
          <p:sp>
            <p:nvSpPr>
              <p:cNvPr name="TextBox 20" id="20"/>
              <p:cNvSpPr txBox="true"/>
              <p:nvPr/>
            </p:nvSpPr>
            <p:spPr>
              <a:xfrm>
                <a:off x="0" y="-38100"/>
                <a:ext cx="807457" cy="2442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sp>
          <p:nvSpPr>
            <p:cNvPr name="TextBox 21" id="21"/>
            <p:cNvSpPr txBox="true"/>
            <p:nvPr/>
          </p:nvSpPr>
          <p:spPr>
            <a:xfrm rot="0">
              <a:off x="5423710" y="838445"/>
              <a:ext cx="224631" cy="49381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079"/>
                </a:lnSpc>
              </a:pPr>
              <a:r>
                <a:rPr lang="en-US" sz="2199">
                  <a:solidFill>
                    <a:srgbClr val="9B9B9B"/>
                  </a:solidFill>
                  <a:latin typeface="Lucida Console"/>
                  <a:ea typeface="Lucida Console"/>
                  <a:cs typeface="Lucida Console"/>
                  <a:sym typeface="Lucida Console"/>
                </a:rPr>
                <a:t>X</a:t>
              </a:r>
            </a:p>
          </p:txBody>
        </p:sp>
        <p:sp>
          <p:nvSpPr>
            <p:cNvPr name="TextBox 22" id="22"/>
            <p:cNvSpPr txBox="true"/>
            <p:nvPr/>
          </p:nvSpPr>
          <p:spPr>
            <a:xfrm rot="0">
              <a:off x="2069427" y="763092"/>
              <a:ext cx="3307285" cy="56917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640"/>
                </a:lnSpc>
              </a:pPr>
              <a:r>
                <a:rPr lang="en-US" sz="2600">
                  <a:solidFill>
                    <a:srgbClr val="E2E8E8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exercicio.py</a:t>
              </a: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1459671" y="2169477"/>
            <a:ext cx="16576040" cy="79959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‘’’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Você é um game dev de uma empresa de jogos onde está sendo desenvolvido o jogo “Ilha de Esgard”, um jogo RPG de “dark fantasy”, e você ficou responsável por desenvolver o código do jogador!</a:t>
            </a:r>
          </a:p>
          <a:p>
            <a:pPr algn="l">
              <a:lnSpc>
                <a:spcPts val="4899"/>
              </a:lnSpc>
            </a:pP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Você deve criar um jogador, que possui uma classe (que pode ser mago, guerreiro, arqueiro ou tanque), nível, experiência (que pode aumentar e ao chegar em um certo ponto zera para aumentar o nível) e vida.</a:t>
            </a:r>
          </a:p>
          <a:p>
            <a:pPr algn="l">
              <a:lnSpc>
                <a:spcPts val="4899"/>
              </a:lnSpc>
            </a:pP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Faça funções para criar um jogador, aumentar a experiência, para aumentar o nível quando ela passar de um ponto limite, e uma função para dar dano no jogador.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‘’’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459671" y="1123950"/>
            <a:ext cx="16576040" cy="7727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650"/>
              </a:lnSpc>
            </a:pPr>
            <a:r>
              <a:rPr lang="en-US" sz="3800" b="true">
                <a:solidFill>
                  <a:srgbClr val="42A458"/>
                </a:solidFill>
                <a:latin typeface="Roboto Mono Bold"/>
                <a:ea typeface="Roboto Mono Bold"/>
                <a:cs typeface="Roboto Mono Bold"/>
                <a:sym typeface="Roboto Mono Bold"/>
              </a:rPr>
              <a:t># Jogo RPG</a:t>
            </a:r>
          </a:p>
        </p:txBody>
      </p:sp>
    </p:spTree>
  </p:cSld>
  <p:clrMapOvr>
    <a:masterClrMapping/>
  </p:clrMapOvr>
</p:sld>
</file>

<file path=ppt/slides/slide3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222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01924" y="-93824"/>
            <a:ext cx="18426598" cy="10380824"/>
            <a:chOff x="0" y="0"/>
            <a:chExt cx="24568798" cy="13841099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568074"/>
              <a:ext cx="1868196" cy="13273025"/>
              <a:chOff x="0" y="0"/>
              <a:chExt cx="369026" cy="2621832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369026" cy="2621832"/>
              </a:xfrm>
              <a:custGeom>
                <a:avLst/>
                <a:gdLst/>
                <a:ahLst/>
                <a:cxnLst/>
                <a:rect r="r" b="b" t="t" l="l"/>
                <a:pathLst>
                  <a:path h="2621832" w="369026">
                    <a:moveTo>
                      <a:pt x="0" y="0"/>
                    </a:moveTo>
                    <a:lnTo>
                      <a:pt x="369026" y="0"/>
                    </a:lnTo>
                    <a:lnTo>
                      <a:pt x="369026" y="2621832"/>
                    </a:lnTo>
                    <a:lnTo>
                      <a:pt x="0" y="2621832"/>
                    </a:lnTo>
                    <a:close/>
                  </a:path>
                </a:pathLst>
              </a:custGeom>
              <a:solidFill>
                <a:srgbClr val="222222"/>
              </a:solidFill>
              <a:ln w="38100" cap="sq">
                <a:solidFill>
                  <a:srgbClr val="444444"/>
                </a:solidFill>
                <a:prstDash val="solid"/>
                <a:miter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161925"/>
                <a:ext cx="369026" cy="278375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r">
                  <a:lnSpc>
                    <a:spcPts val="5039"/>
                  </a:lnSpc>
                </a:pP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2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3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4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5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6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7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8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9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10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11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12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13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14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15 </a:t>
                </a: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61599" y="0"/>
              <a:ext cx="24507199" cy="1471299"/>
              <a:chOff x="0" y="0"/>
              <a:chExt cx="4840928" cy="290627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4840928" cy="290627"/>
              </a:xfrm>
              <a:custGeom>
                <a:avLst/>
                <a:gdLst/>
                <a:ahLst/>
                <a:cxnLst/>
                <a:rect r="r" b="b" t="t" l="l"/>
                <a:pathLst>
                  <a:path h="290627" w="4840928">
                    <a:moveTo>
                      <a:pt x="0" y="0"/>
                    </a:moveTo>
                    <a:lnTo>
                      <a:pt x="4840928" y="0"/>
                    </a:lnTo>
                    <a:lnTo>
                      <a:pt x="4840928" y="290627"/>
                    </a:lnTo>
                    <a:lnTo>
                      <a:pt x="0" y="290627"/>
                    </a:lnTo>
                    <a:close/>
                  </a:path>
                </a:pathLst>
              </a:custGeom>
              <a:solidFill>
                <a:srgbClr val="444444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4840928" cy="32872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302597" y="554790"/>
              <a:ext cx="361720" cy="361720"/>
              <a:chOff x="0" y="0"/>
              <a:chExt cx="812800" cy="812800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E85050"/>
              </a:solidFill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816759" y="554790"/>
              <a:ext cx="361720" cy="361720"/>
              <a:chOff x="0" y="0"/>
              <a:chExt cx="812800" cy="81280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4D074"/>
              </a:solidFill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1330879" y="554790"/>
              <a:ext cx="361720" cy="361720"/>
              <a:chOff x="0" y="0"/>
              <a:chExt cx="812800" cy="81280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56D673"/>
              </a:solidFill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8" id="18"/>
            <p:cNvGrpSpPr/>
            <p:nvPr/>
          </p:nvGrpSpPr>
          <p:grpSpPr>
            <a:xfrm rot="0">
              <a:off x="1868196" y="554790"/>
              <a:ext cx="5414469" cy="1043510"/>
              <a:chOff x="0" y="0"/>
              <a:chExt cx="1069525" cy="206125"/>
            </a:xfrm>
          </p:grpSpPr>
          <p:sp>
            <p:nvSpPr>
              <p:cNvPr name="Freeform 19" id="19"/>
              <p:cNvSpPr/>
              <p:nvPr/>
            </p:nvSpPr>
            <p:spPr>
              <a:xfrm flipH="false" flipV="false" rot="0">
                <a:off x="0" y="0"/>
                <a:ext cx="1069525" cy="206125"/>
              </a:xfrm>
              <a:custGeom>
                <a:avLst/>
                <a:gdLst/>
                <a:ahLst/>
                <a:cxnLst/>
                <a:rect r="r" b="b" t="t" l="l"/>
                <a:pathLst>
                  <a:path h="206125" w="1069525">
                    <a:moveTo>
                      <a:pt x="28597" y="0"/>
                    </a:moveTo>
                    <a:lnTo>
                      <a:pt x="1040927" y="0"/>
                    </a:lnTo>
                    <a:cubicBezTo>
                      <a:pt x="1056721" y="0"/>
                      <a:pt x="1069525" y="12803"/>
                      <a:pt x="1069525" y="28597"/>
                    </a:cubicBezTo>
                    <a:lnTo>
                      <a:pt x="1069525" y="177528"/>
                    </a:lnTo>
                    <a:cubicBezTo>
                      <a:pt x="1069525" y="193322"/>
                      <a:pt x="1056721" y="206125"/>
                      <a:pt x="1040927" y="206125"/>
                    </a:cubicBezTo>
                    <a:lnTo>
                      <a:pt x="28597" y="206125"/>
                    </a:lnTo>
                    <a:cubicBezTo>
                      <a:pt x="12803" y="206125"/>
                      <a:pt x="0" y="193322"/>
                      <a:pt x="0" y="177528"/>
                    </a:cubicBezTo>
                    <a:lnTo>
                      <a:pt x="0" y="28597"/>
                    </a:lnTo>
                    <a:cubicBezTo>
                      <a:pt x="0" y="12803"/>
                      <a:pt x="12803" y="0"/>
                      <a:pt x="28597" y="0"/>
                    </a:cubicBezTo>
                    <a:close/>
                  </a:path>
                </a:pathLst>
              </a:custGeom>
              <a:solidFill>
                <a:srgbClr val="222222"/>
              </a:solidFill>
            </p:spPr>
          </p:sp>
          <p:sp>
            <p:nvSpPr>
              <p:cNvPr name="TextBox 20" id="20"/>
              <p:cNvSpPr txBox="true"/>
              <p:nvPr/>
            </p:nvSpPr>
            <p:spPr>
              <a:xfrm>
                <a:off x="0" y="-38100"/>
                <a:ext cx="1069525" cy="2442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sp>
          <p:nvSpPr>
            <p:cNvPr name="TextBox 21" id="21"/>
            <p:cNvSpPr txBox="true"/>
            <p:nvPr/>
          </p:nvSpPr>
          <p:spPr>
            <a:xfrm rot="0">
              <a:off x="6724300" y="838445"/>
              <a:ext cx="224631" cy="49381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079"/>
                </a:lnSpc>
              </a:pPr>
              <a:r>
                <a:rPr lang="en-US" sz="2199">
                  <a:solidFill>
                    <a:srgbClr val="9B9B9B"/>
                  </a:solidFill>
                  <a:latin typeface="Lucida Console"/>
                  <a:ea typeface="Lucida Console"/>
                  <a:cs typeface="Lucida Console"/>
                  <a:sym typeface="Lucida Console"/>
                </a:rPr>
                <a:t>X</a:t>
              </a:r>
            </a:p>
          </p:txBody>
        </p:sp>
        <p:sp>
          <p:nvSpPr>
            <p:cNvPr name="TextBox 22" id="22"/>
            <p:cNvSpPr txBox="true"/>
            <p:nvPr/>
          </p:nvSpPr>
          <p:spPr>
            <a:xfrm rot="0">
              <a:off x="2069427" y="763092"/>
              <a:ext cx="4732891" cy="56917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640"/>
                </a:lnSpc>
              </a:pPr>
              <a:r>
                <a:rPr lang="en-US" sz="2600">
                  <a:solidFill>
                    <a:srgbClr val="E2E8E8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agradecimentos.py</a:t>
              </a:r>
            </a:p>
          </p:txBody>
        </p:sp>
      </p:grpSp>
      <p:sp>
        <p:nvSpPr>
          <p:cNvPr name="Freeform 23" id="23"/>
          <p:cNvSpPr/>
          <p:nvPr/>
        </p:nvSpPr>
        <p:spPr>
          <a:xfrm flipH="false" flipV="false" rot="0">
            <a:off x="7115468" y="5186603"/>
            <a:ext cx="4057064" cy="4071697"/>
          </a:xfrm>
          <a:custGeom>
            <a:avLst/>
            <a:gdLst/>
            <a:ahLst/>
            <a:cxnLst/>
            <a:rect r="r" b="b" t="t" l="l"/>
            <a:pathLst>
              <a:path h="4071697" w="4057064">
                <a:moveTo>
                  <a:pt x="0" y="0"/>
                </a:moveTo>
                <a:lnTo>
                  <a:pt x="4057064" y="0"/>
                </a:lnTo>
                <a:lnTo>
                  <a:pt x="4057064" y="4071697"/>
                </a:lnTo>
                <a:lnTo>
                  <a:pt x="0" y="407169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0820" t="-10422" r="-10820" b="-10781"/>
            </a:stretch>
          </a:blipFill>
        </p:spPr>
      </p:sp>
      <p:sp>
        <p:nvSpPr>
          <p:cNvPr name="TextBox 24" id="24"/>
          <p:cNvSpPr txBox="true"/>
          <p:nvPr/>
        </p:nvSpPr>
        <p:spPr>
          <a:xfrm rot="0">
            <a:off x="1459671" y="2400300"/>
            <a:ext cx="16576040" cy="10655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100"/>
              </a:lnSpc>
            </a:pPr>
            <a:r>
              <a:rPr lang="en-US" sz="5200" b="true">
                <a:solidFill>
                  <a:srgbClr val="42A458"/>
                </a:solidFill>
                <a:latin typeface="Roboto Mono Bold"/>
                <a:ea typeface="Roboto Mono Bold"/>
                <a:cs typeface="Roboto Mono Bold"/>
                <a:sym typeface="Roboto Mono Bold"/>
              </a:rPr>
              <a:t>#           </a:t>
            </a:r>
            <a:r>
              <a:rPr lang="en-US" sz="5200" b="true">
                <a:solidFill>
                  <a:srgbClr val="42A458"/>
                </a:solidFill>
                <a:latin typeface="Roboto Mono Bold"/>
                <a:ea typeface="Roboto Mono Bold"/>
                <a:cs typeface="Roboto Mono Bold"/>
                <a:sym typeface="Roboto Mono Bold"/>
              </a:rPr>
              <a:t>MUITO OBRIGADO!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459671" y="4332490"/>
            <a:ext cx="16576040" cy="5664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#                        Pesquisa de Feedback :)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DAHTVhKsb-4</dc:identifier>
  <dcterms:modified xsi:type="dcterms:W3CDTF">2011-08-01T06:04:30Z</dcterms:modified>
  <cp:revision>1</cp:revision>
  <dc:title>Slides Capacitação Python Dia 4</dc:title>
</cp:coreProperties>
</file>