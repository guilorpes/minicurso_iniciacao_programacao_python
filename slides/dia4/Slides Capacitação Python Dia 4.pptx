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JetBrains Mono" charset="1" panose="02010509020102050004"/>
      <p:regular r:id="rId39"/>
    </p:embeddedFont>
    <p:embeddedFont>
      <p:font typeface="Lucida Console" charset="1" panose="020B0609040504020204"/>
      <p:regular r:id="rId40"/>
    </p:embeddedFont>
    <p:embeddedFont>
      <p:font typeface="Roboto Mono" charset="1" panose="00000000000000000000"/>
      <p:regular r:id="rId41"/>
    </p:embeddedFont>
    <p:embeddedFont>
      <p:font typeface="Roboto Mono Bold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5082789" cy="1043510"/>
              <a:chOff x="0" y="0"/>
              <a:chExt cx="1004008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4008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004008">
                    <a:moveTo>
                      <a:pt x="30463" y="0"/>
                    </a:moveTo>
                    <a:lnTo>
                      <a:pt x="973544" y="0"/>
                    </a:lnTo>
                    <a:cubicBezTo>
                      <a:pt x="990369" y="0"/>
                      <a:pt x="1004008" y="13639"/>
                      <a:pt x="1004008" y="30463"/>
                    </a:cubicBezTo>
                    <a:lnTo>
                      <a:pt x="1004008" y="175662"/>
                    </a:lnTo>
                    <a:cubicBezTo>
                      <a:pt x="1004008" y="192486"/>
                      <a:pt x="990369" y="206125"/>
                      <a:pt x="973544" y="206125"/>
                    </a:cubicBezTo>
                    <a:lnTo>
                      <a:pt x="30463" y="206125"/>
                    </a:lnTo>
                    <a:cubicBezTo>
                      <a:pt x="13639" y="206125"/>
                      <a:pt x="0" y="192486"/>
                      <a:pt x="0" y="175662"/>
                    </a:cubicBezTo>
                    <a:lnTo>
                      <a:pt x="0" y="30463"/>
                    </a:lnTo>
                    <a:cubicBezTo>
                      <a:pt x="0" y="13639"/>
                      <a:pt x="13639" y="0"/>
                      <a:pt x="30463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04008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47702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4610634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revisao_dia_3.py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819150"/>
            <a:ext cx="16576040" cy="1142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56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Revisão do Dia 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2179002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Listas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pop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append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insert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71280" y="2179002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Laços de Repetição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for i in lista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5082789" cy="1043510"/>
              <a:chOff x="0" y="0"/>
              <a:chExt cx="1004008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4008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004008">
                    <a:moveTo>
                      <a:pt x="30463" y="0"/>
                    </a:moveTo>
                    <a:lnTo>
                      <a:pt x="973544" y="0"/>
                    </a:lnTo>
                    <a:cubicBezTo>
                      <a:pt x="990369" y="0"/>
                      <a:pt x="1004008" y="13639"/>
                      <a:pt x="1004008" y="30463"/>
                    </a:cubicBezTo>
                    <a:lnTo>
                      <a:pt x="1004008" y="175662"/>
                    </a:lnTo>
                    <a:cubicBezTo>
                      <a:pt x="1004008" y="192486"/>
                      <a:pt x="990369" y="206125"/>
                      <a:pt x="973544" y="206125"/>
                    </a:cubicBezTo>
                    <a:lnTo>
                      <a:pt x="30463" y="206125"/>
                    </a:lnTo>
                    <a:cubicBezTo>
                      <a:pt x="13639" y="206125"/>
                      <a:pt x="0" y="192486"/>
                      <a:pt x="0" y="175662"/>
                    </a:cubicBezTo>
                    <a:lnTo>
                      <a:pt x="0" y="30463"/>
                    </a:lnTo>
                    <a:cubicBezTo>
                      <a:pt x="0" y="13639"/>
                      <a:pt x="13639" y="0"/>
                      <a:pt x="30463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04008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47702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4610634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revisao_dia_3.py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67180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for i in range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1280" y="1567180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while *condição*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&lt;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(lst):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(lst[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2 0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1 1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8 2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5 3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soma</a:t>
            </a:r>
          </a:p>
          <a:p>
            <a:pPr algn="just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2897604" cy="1043510"/>
              <a:chOff x="0" y="0"/>
              <a:chExt cx="5723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723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572366">
                    <a:moveTo>
                      <a:pt x="53437" y="0"/>
                    </a:moveTo>
                    <a:lnTo>
                      <a:pt x="518929" y="0"/>
                    </a:lnTo>
                    <a:cubicBezTo>
                      <a:pt x="548442" y="0"/>
                      <a:pt x="572366" y="23924"/>
                      <a:pt x="572366" y="53437"/>
                    </a:cubicBezTo>
                    <a:lnTo>
                      <a:pt x="572366" y="152689"/>
                    </a:lnTo>
                    <a:cubicBezTo>
                      <a:pt x="572366" y="182201"/>
                      <a:pt x="548442" y="206125"/>
                      <a:pt x="518929" y="206125"/>
                    </a:cubicBezTo>
                    <a:lnTo>
                      <a:pt x="53437" y="206125"/>
                    </a:lnTo>
                    <a:cubicBezTo>
                      <a:pt x="39264" y="206125"/>
                      <a:pt x="25673" y="200495"/>
                      <a:pt x="15651" y="190474"/>
                    </a:cubicBezTo>
                    <a:cubicBezTo>
                      <a:pt x="5630" y="180453"/>
                      <a:pt x="0" y="166861"/>
                      <a:pt x="0" y="152689"/>
                    </a:cubicBezTo>
                    <a:lnTo>
                      <a:pt x="0" y="53437"/>
                    </a:lnTo>
                    <a:cubicBezTo>
                      <a:pt x="0" y="39264"/>
                      <a:pt x="5630" y="25673"/>
                      <a:pt x="15651" y="15651"/>
                    </a:cubicBezTo>
                    <a:cubicBezTo>
                      <a:pt x="25673" y="5630"/>
                      <a:pt x="39264" y="0"/>
                      <a:pt x="53437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723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338873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340163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dia_4.py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0146" y="2786380"/>
            <a:ext cx="16576040" cy="613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Nós já vimos anteriormente como utilizar laços de repetição, mas como faríamos para reaproveitar uma mesma lógica em diferentes partes do programa de forma eficiente?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Vamos supor que o operador de multiplicação (*) não existisse na linguagem Python e que precisássemos fazer uma multiplicação por 2 em nosso programa. 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Como fazer isso?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000125"/>
            <a:ext cx="16576040" cy="90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Dia 4 – Funções e Tipos de Dados Personalizados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2897604" cy="1043510"/>
              <a:chOff x="0" y="0"/>
              <a:chExt cx="5723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723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572366">
                    <a:moveTo>
                      <a:pt x="53437" y="0"/>
                    </a:moveTo>
                    <a:lnTo>
                      <a:pt x="518929" y="0"/>
                    </a:lnTo>
                    <a:cubicBezTo>
                      <a:pt x="548442" y="0"/>
                      <a:pt x="572366" y="23924"/>
                      <a:pt x="572366" y="53437"/>
                    </a:cubicBezTo>
                    <a:lnTo>
                      <a:pt x="572366" y="152689"/>
                    </a:lnTo>
                    <a:cubicBezTo>
                      <a:pt x="572366" y="182201"/>
                      <a:pt x="548442" y="206125"/>
                      <a:pt x="518929" y="206125"/>
                    </a:cubicBezTo>
                    <a:lnTo>
                      <a:pt x="53437" y="206125"/>
                    </a:lnTo>
                    <a:cubicBezTo>
                      <a:pt x="39264" y="206125"/>
                      <a:pt x="25673" y="200495"/>
                      <a:pt x="15651" y="190474"/>
                    </a:cubicBezTo>
                    <a:cubicBezTo>
                      <a:pt x="5630" y="180453"/>
                      <a:pt x="0" y="166861"/>
                      <a:pt x="0" y="152689"/>
                    </a:cubicBezTo>
                    <a:lnTo>
                      <a:pt x="0" y="53437"/>
                    </a:lnTo>
                    <a:cubicBezTo>
                      <a:pt x="0" y="39264"/>
                      <a:pt x="5630" y="25673"/>
                      <a:pt x="15651" y="15651"/>
                    </a:cubicBezTo>
                    <a:cubicBezTo>
                      <a:pt x="25673" y="5630"/>
                      <a:pt x="39264" y="0"/>
                      <a:pt x="53437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5723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338873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340163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dia_4.py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0146" y="938530"/>
            <a:ext cx="16576040" cy="92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Bem, esse problema é bem simples de resolvermos. Como a multiplicação é uma sequência de somas e queremos multiplicar um número por 2, basta somarmos ele com ele mesmo.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n: int = int(input("Digite um número inteiro: "))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dobro: int = n + n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print("O dobro de " + str(n) + " é " + str(dobro))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Certo, agora imagine que a gente precise realizar diversas multiplicações que sejam maiores que o dobro. Provavelmente, ficar escrevendo n + n + n + ... + n o tempo todo pode ser meio incômodo e não é muito semântico, ou seja, não fica claro que o objetivo é calcular uma multiplicação.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Sendo assim, como resolver esse problema?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64750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Uma forma de resolvermos esse problema é com funções!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 conceito de função resume-se a um pedaço de código ao qual damos um nome e que podemos reutilizar quantas vezes quisermos no nosso programa.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Separar o nosso programa em múltiplas funções possui diversos benefícios: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Reduz a quantidade de código repetido.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Facilita a leitura e a manutenção do código, além de agilizar a busca e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correção de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bugs.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Encapsula as partes do nosso programa, separando-o em pequenos trechos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isolados que garantem maior estabilidade e menor chance de erros.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000125"/>
            <a:ext cx="16576040" cy="90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Funções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0146" y="2177290"/>
            <a:ext cx="16576040" cy="86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Uma função em Python é definida usando a palavra reservada def e possui as seguintes partes: nome, parâmetros, tipo de retorno e o corpo da função.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parâmetros são as variáveis que declaramos para receber os valores de entrada que a função precisa para trabalhar. 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def nome_funcao(parametro1: tipo1, parametro2: tipo2) -&gt; tipo_retorno: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# * corpo função *  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return valor_retorno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Após a execução da lógica no corpo da função, usamos a palavra return para retornar o valor final que a nossa função calculou.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000125"/>
            <a:ext cx="16576040" cy="90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Estrutura e Parâmetros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86815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Vejamos como podemos implementar a função de multiplicar que mencionamos no início: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vezes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multiplicado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vezes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multiplicado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27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multiplicado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23315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Agora podemos multiplicar um número da seguinte forma: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"Digite o número que deseja multiplicar: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vezes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"Por quantas vezes deseja multiplicar: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Multiplicando o valor de n pelo valor de vezes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vezes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+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X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vezes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+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=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multiplicado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Mas espera, nós já não usamos n, vezes e multiplicado como nome de variáveis antes na função? Isso não pode gerar algum problema?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786380"/>
            <a:ext cx="16576040" cy="613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resposta é não!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Existe um conceito chamado escopo de variáveis, que garante que nenhuma variável dentro de uma função possa ser acessada fora dela.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Isso significa que as variáveis que definimos na função não podem ser usadas fora dela, sendo assim variáveis com o mesmo nome dentro e fora de uma função são completamente diferentes!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000125"/>
            <a:ext cx="16576040" cy="90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Escopo de Variáveis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7655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Exemplo: criar uma função que receba o nome de uma pessoa e exiba “bom dia” para essa pessoa.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Esse é um caso específico onde uma função não possui valor de retorno, pois não há a necessidade de se retornar nada, apenas exibir a mensagem de bom dia usando print.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Como definimos o tipo de retorno e o que colocamos no return da nossa função?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Simples: nada!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65353"/>
            <a:ext cx="16576040" cy="86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bom_dia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r>
              <a:rPr lang="en-US" sz="2799">
                <a:solidFill>
                  <a:srgbClr val="E7F2F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"Bom dia,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"!"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Melhor ainda, nem precisamos colocar um return na nossa função, já que ele não será usado.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bom_dia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None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"Bom dia,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"!"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nome_usuario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"Digite o seu nome: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bom_dia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nome_usuario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65353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Vamos criar uma nova função. Dessa vez, ela deve receber um tempo em segundos e retornar seu equivalente em horas, minutos e segundos, de forma que minutos e segundos nunca sejam maiores ou iguais a 60.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Problema: como vamos retornar 3 valores distintos em uma única função?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Uma possível solução seria retornar eles em uma lista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tempo: list[int] = [horas, minutos, segundos]! 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Vamos tentar.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65353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converte_tempo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Calcula horas (1 hora = 3600 segundos)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//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3600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%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3600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remove as horas já separadas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Calcula minutos (1 minutos = 60 segundos)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//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 restante do tempo são os segundos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%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3443900" cy="1043510"/>
              <a:chOff x="0" y="0"/>
              <a:chExt cx="68027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8027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680277">
                    <a:moveTo>
                      <a:pt x="44960" y="0"/>
                    </a:moveTo>
                    <a:lnTo>
                      <a:pt x="635316" y="0"/>
                    </a:lnTo>
                    <a:cubicBezTo>
                      <a:pt x="660147" y="0"/>
                      <a:pt x="680277" y="20129"/>
                      <a:pt x="680277" y="44960"/>
                    </a:cubicBezTo>
                    <a:lnTo>
                      <a:pt x="680277" y="161165"/>
                    </a:lnTo>
                    <a:cubicBezTo>
                      <a:pt x="680277" y="185996"/>
                      <a:pt x="660147" y="206125"/>
                      <a:pt x="635316" y="206125"/>
                    </a:cubicBezTo>
                    <a:lnTo>
                      <a:pt x="44960" y="206125"/>
                    </a:lnTo>
                    <a:cubicBezTo>
                      <a:pt x="20129" y="206125"/>
                      <a:pt x="0" y="185996"/>
                      <a:pt x="0" y="161165"/>
                    </a:cubicBezTo>
                    <a:lnTo>
                      <a:pt x="0" y="44960"/>
                    </a:lnTo>
                    <a:cubicBezTo>
                      <a:pt x="0" y="20129"/>
                      <a:pt x="20129" y="0"/>
                      <a:pt x="44960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8027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840259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2866949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funcoes.py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65353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Nossa solução parece adequada?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Não, pois o objetivo de uma lista é armazenar elementos de uma mesma natureza, ou seja, que representem a mesma coisa.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Entretanto, o retorno da nossa função é uma lista de 3 coisas diferentes (horas, minutos, segundos) que, apesar de serem unidades de tempo, são formas distintas de representá-lo. Em resumo, não são a mesma coisa, logo não é adequado guardá-los em uma mesma lista.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Como podemos resolver esse problema?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64750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 tipo composto é um tipo de dado personalizado que podemos criar e que pode unir pequenos dados para representar um dado maior.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exemplo, no nosso caso, podemos c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riar um tipo composto chamado Tempo que é composto (daí o nome) por horas, minutos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segundos.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 tipo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composto em Python é chamado de dataclass e é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necessário imp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ortar es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 funcionalidade para dentro do nosso programa no início dele. A linha é simples: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from dataclasses import dataclass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000125"/>
            <a:ext cx="16576040" cy="90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Dados Compostos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938530"/>
            <a:ext cx="16576040" cy="92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 criar nosso tipo composto podemos seguir o seguinte modelo: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@dataclass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class NomeDoTipo: # Nomes de tipos são escritos em PascalCase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c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ampo1: tipo1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campo2: tipo2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...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Cada campo funciona como se fosse uma variável interna do tipo e ela deve ser obrigatoriamente preenchida quando criarmos ele.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 tipo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composto é um tipo de dado personalizado que pod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emos cri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 e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que pode unir pequenos dados para representar um dado maior.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93290"/>
            <a:ext cx="16576040" cy="613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Para usarmos o tipo composto que criamos podemos fazer da seguinte forma: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NomeDoTipo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...)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Salvando em uma variável nova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minha_variavel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NomeDoTipo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NomeDoTipo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...)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Observação importante: a ordem dos valores que inserimos quando criamos nosso dado deve s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 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mesma ordem de quando criamos o tipo.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83765"/>
            <a:ext cx="16576040" cy="613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Vamos adaptar nossa função de converter tempo para usar tipo composto: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dataclasses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dataclass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@dataclass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964565"/>
            <a:ext cx="16576040" cy="8615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converte_tempo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Calcula horas (1 hora = 3600 segundos)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//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3600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%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3600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remove as horas já separadas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Calcula minutos (1 minutos = 60 segundos)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//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 restante do tempo são os segundos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%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802890"/>
            <a:ext cx="16576040" cy="428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erto, mas como podem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consultar os dados internos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de um tipo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composto?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 fazer isso, podemos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usar o n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ome da variável + ponto (.) + nome do campo: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variavel_do_tipo.nome_do_campo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77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74165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Vamos fazer uma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nova função que recebe um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 usando o tipo Tempo que criamos e que exibe uma mensagem personalizada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para 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usuário.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exibe_tempo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+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horas,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+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" minutos e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+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 segundos"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935990"/>
            <a:ext cx="16576040" cy="923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 fim, também podemos mudar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os valores de um campo específico da variável que con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tém o dado composto.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 isso, fazemos a mesma coisa que no acesso ao dado (nome da variável + ponto +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nome do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campo)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exibe_tempo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Exibe: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8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horas, 15 minutos e 20 segundos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horas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ibe_tempo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Exibe: 4 horas, 15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 e 20 segundos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minutos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segundos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exibe_tempo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meu_tempo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Exibe: 8 horas, 5 minutos e 0 segundos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83765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ontinuando 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prática de uso de funçõe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s, vamos criar uma função que recebe a cor atual do semáforo e retorna 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próxima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cor.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V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erm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elho -&gt; Verde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Verde -&gt; Amar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Amarelo -&gt; Vermelho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 q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ue forma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podemos representar a cor da e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ntrada e da saída da função?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5115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Uma string com o nome da cor deve servir: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"vermelho"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"verde"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"verde"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"amarelo"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Cor atual é amarelo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"vermelho"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5115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Será que usar uma string para representar a cor foi uma boa decisão?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Imagine que por um erro de digitação a pessoa que vai usar a função sem querer digite “vremelho” ao invés de “vermelho”.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 pior, que sem querer a pessoa que faz a função fez com que ela retornasse “vere” no lugar de “verde” porque o teclado falhou e ela não percebeu.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Esse tipo de problema pode gerar erros silenciosos no nosso programa que podem nos custar uma quantidade de tempo muito maior do que queríamos para corrigir um bug bobo desses.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228953" cy="1043510"/>
              <a:chOff x="0" y="0"/>
              <a:chExt cx="1427941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27941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427941">
                    <a:moveTo>
                      <a:pt x="21419" y="0"/>
                    </a:moveTo>
                    <a:lnTo>
                      <a:pt x="1406522" y="0"/>
                    </a:lnTo>
                    <a:cubicBezTo>
                      <a:pt x="1418352" y="0"/>
                      <a:pt x="1427941" y="9590"/>
                      <a:pt x="1427941" y="21419"/>
                    </a:cubicBezTo>
                    <a:lnTo>
                      <a:pt x="1427941" y="184706"/>
                    </a:lnTo>
                    <a:cubicBezTo>
                      <a:pt x="1427941" y="196536"/>
                      <a:pt x="1418352" y="206125"/>
                      <a:pt x="1406522" y="206125"/>
                    </a:cubicBezTo>
                    <a:lnTo>
                      <a:pt x="21419" y="206125"/>
                    </a:lnTo>
                    <a:cubicBezTo>
                      <a:pt x="9590" y="206125"/>
                      <a:pt x="0" y="196536"/>
                      <a:pt x="0" y="184706"/>
                    </a:cubicBezTo>
                    <a:lnTo>
                      <a:pt x="0" y="21419"/>
                    </a:lnTo>
                    <a:cubicBezTo>
                      <a:pt x="0" y="9590"/>
                      <a:pt x="9590" y="0"/>
                      <a:pt x="2141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27941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575472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513262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tipos_dados_compostos.py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5115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Além disso, ter uma função que recebe uma string e retorna outra não é nada semântico para nossa função, porque uma string é uma cadeia qualquer de caracteres.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Porém, nossa função só trabalha com 3 strings específicas: “vermelho”, “verde” e “amarelo”.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Seria muito melhor se pudéssemos dizer que a entrada e a saída da nossa função são apenas cores.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Como podemos corrigir esses dois problemas do nosso código?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599654" cy="1043510"/>
              <a:chOff x="0" y="0"/>
              <a:chExt cx="15011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011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501166">
                    <a:moveTo>
                      <a:pt x="20374" y="0"/>
                    </a:moveTo>
                    <a:lnTo>
                      <a:pt x="1480792" y="0"/>
                    </a:lnTo>
                    <a:cubicBezTo>
                      <a:pt x="1486195" y="0"/>
                      <a:pt x="1491378" y="2147"/>
                      <a:pt x="1495199" y="5968"/>
                    </a:cubicBezTo>
                    <a:cubicBezTo>
                      <a:pt x="1499020" y="9788"/>
                      <a:pt x="1501166" y="14971"/>
                      <a:pt x="1501166" y="20374"/>
                    </a:cubicBezTo>
                    <a:lnTo>
                      <a:pt x="1501166" y="185751"/>
                    </a:lnTo>
                    <a:cubicBezTo>
                      <a:pt x="1501166" y="191155"/>
                      <a:pt x="1499020" y="196337"/>
                      <a:pt x="1495199" y="200158"/>
                    </a:cubicBezTo>
                    <a:cubicBezTo>
                      <a:pt x="1491378" y="203979"/>
                      <a:pt x="1486195" y="206125"/>
                      <a:pt x="1480792" y="206125"/>
                    </a:cubicBezTo>
                    <a:lnTo>
                      <a:pt x="20374" y="206125"/>
                    </a:lnTo>
                    <a:cubicBezTo>
                      <a:pt x="14971" y="206125"/>
                      <a:pt x="9788" y="203979"/>
                      <a:pt x="5968" y="200158"/>
                    </a:cubicBezTo>
                    <a:cubicBezTo>
                      <a:pt x="2147" y="196337"/>
                      <a:pt x="0" y="191155"/>
                      <a:pt x="0" y="185751"/>
                    </a:cubicBezTo>
                    <a:lnTo>
                      <a:pt x="0" y="20374"/>
                    </a:lnTo>
                    <a:cubicBezTo>
                      <a:pt x="0" y="14971"/>
                      <a:pt x="2147" y="9788"/>
                      <a:pt x="5968" y="5968"/>
                    </a:cubicBezTo>
                    <a:cubicBezTo>
                      <a:pt x="9788" y="2147"/>
                      <a:pt x="14971" y="0"/>
                      <a:pt x="20374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011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9036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83426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tipos_dados_enumerados.py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64750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Um tipo enumerado é um tipo de dado personalizado que definimos valores específicos que ele pode assumir.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 exemplificar, pense no tipo bool, quais valores uma v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ariável desse tipo pode ter?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-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Apenas True e False, nada mais.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 criarmos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nosso tipo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enumerado também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precisamos imp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ortar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algumas funcionalidades adicionais para o nosso código: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from enum import Enum, auto 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# Perceba que o segundo Enum tem letra maiúscula!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000125"/>
            <a:ext cx="16576040" cy="902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Dados Enumerados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599654" cy="1043510"/>
              <a:chOff x="0" y="0"/>
              <a:chExt cx="15011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011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501166">
                    <a:moveTo>
                      <a:pt x="20374" y="0"/>
                    </a:moveTo>
                    <a:lnTo>
                      <a:pt x="1480792" y="0"/>
                    </a:lnTo>
                    <a:cubicBezTo>
                      <a:pt x="1486195" y="0"/>
                      <a:pt x="1491378" y="2147"/>
                      <a:pt x="1495199" y="5968"/>
                    </a:cubicBezTo>
                    <a:cubicBezTo>
                      <a:pt x="1499020" y="9788"/>
                      <a:pt x="1501166" y="14971"/>
                      <a:pt x="1501166" y="20374"/>
                    </a:cubicBezTo>
                    <a:lnTo>
                      <a:pt x="1501166" y="185751"/>
                    </a:lnTo>
                    <a:cubicBezTo>
                      <a:pt x="1501166" y="191155"/>
                      <a:pt x="1499020" y="196337"/>
                      <a:pt x="1495199" y="200158"/>
                    </a:cubicBezTo>
                    <a:cubicBezTo>
                      <a:pt x="1491378" y="203979"/>
                      <a:pt x="1486195" y="206125"/>
                      <a:pt x="1480792" y="206125"/>
                    </a:cubicBezTo>
                    <a:lnTo>
                      <a:pt x="20374" y="206125"/>
                    </a:lnTo>
                    <a:cubicBezTo>
                      <a:pt x="14971" y="206125"/>
                      <a:pt x="9788" y="203979"/>
                      <a:pt x="5968" y="200158"/>
                    </a:cubicBezTo>
                    <a:cubicBezTo>
                      <a:pt x="2147" y="196337"/>
                      <a:pt x="0" y="191155"/>
                      <a:pt x="0" y="185751"/>
                    </a:cubicBezTo>
                    <a:lnTo>
                      <a:pt x="0" y="20374"/>
                    </a:lnTo>
                    <a:cubicBezTo>
                      <a:pt x="0" y="14971"/>
                      <a:pt x="2147" y="9788"/>
                      <a:pt x="5968" y="5968"/>
                    </a:cubicBezTo>
                    <a:cubicBezTo>
                      <a:pt x="9788" y="2147"/>
                      <a:pt x="14971" y="0"/>
                      <a:pt x="20374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011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9036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83426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tipos_dados_enumerados.py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5115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Agora podemos criar o nosso próprio tipo enumerado da seguinte forma: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enum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Enum, auto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MeuTipoEnumerado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(Enum):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VALOR1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VALOR2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VALOR3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Cada valor que colocarmos no nosso tipo é um valor que ele poderá assumir.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convenção, escrevemos os nomes dos valores de um tipo enumerado em letra maiúscula.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599654" cy="1043510"/>
              <a:chOff x="0" y="0"/>
              <a:chExt cx="15011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011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501166">
                    <a:moveTo>
                      <a:pt x="20374" y="0"/>
                    </a:moveTo>
                    <a:lnTo>
                      <a:pt x="1480792" y="0"/>
                    </a:lnTo>
                    <a:cubicBezTo>
                      <a:pt x="1486195" y="0"/>
                      <a:pt x="1491378" y="2147"/>
                      <a:pt x="1495199" y="5968"/>
                    </a:cubicBezTo>
                    <a:cubicBezTo>
                      <a:pt x="1499020" y="9788"/>
                      <a:pt x="1501166" y="14971"/>
                      <a:pt x="1501166" y="20374"/>
                    </a:cubicBezTo>
                    <a:lnTo>
                      <a:pt x="1501166" y="185751"/>
                    </a:lnTo>
                    <a:cubicBezTo>
                      <a:pt x="1501166" y="191155"/>
                      <a:pt x="1499020" y="196337"/>
                      <a:pt x="1495199" y="200158"/>
                    </a:cubicBezTo>
                    <a:cubicBezTo>
                      <a:pt x="1491378" y="203979"/>
                      <a:pt x="1486195" y="206125"/>
                      <a:pt x="1480792" y="206125"/>
                    </a:cubicBezTo>
                    <a:lnTo>
                      <a:pt x="20374" y="206125"/>
                    </a:lnTo>
                    <a:cubicBezTo>
                      <a:pt x="14971" y="206125"/>
                      <a:pt x="9788" y="203979"/>
                      <a:pt x="5968" y="200158"/>
                    </a:cubicBezTo>
                    <a:cubicBezTo>
                      <a:pt x="2147" y="196337"/>
                      <a:pt x="0" y="191155"/>
                      <a:pt x="0" y="185751"/>
                    </a:cubicBezTo>
                    <a:lnTo>
                      <a:pt x="0" y="20374"/>
                    </a:lnTo>
                    <a:cubicBezTo>
                      <a:pt x="0" y="14971"/>
                      <a:pt x="2147" y="9788"/>
                      <a:pt x="5968" y="5968"/>
                    </a:cubicBezTo>
                    <a:cubicBezTo>
                      <a:pt x="9788" y="2147"/>
                      <a:pt x="14971" y="0"/>
                      <a:pt x="20374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011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9036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83426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tipos_dados_enumerados.py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5115"/>
            <a:ext cx="16576040" cy="675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fim, podemos usar o nosso novo tipo fazendo nome do tipo + ponto (.) + NOME DO VALOR (similar ao tipo composto):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Associando a uma variavel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minha_variavel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MeuTipoEnumerado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MeuTipoEnumerado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Fazendo comparação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variavel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MeuTipoEnumerado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* codígo *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599654" cy="1043510"/>
              <a:chOff x="0" y="0"/>
              <a:chExt cx="15011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011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501166">
                    <a:moveTo>
                      <a:pt x="20374" y="0"/>
                    </a:moveTo>
                    <a:lnTo>
                      <a:pt x="1480792" y="0"/>
                    </a:lnTo>
                    <a:cubicBezTo>
                      <a:pt x="1486195" y="0"/>
                      <a:pt x="1491378" y="2147"/>
                      <a:pt x="1495199" y="5968"/>
                    </a:cubicBezTo>
                    <a:cubicBezTo>
                      <a:pt x="1499020" y="9788"/>
                      <a:pt x="1501166" y="14971"/>
                      <a:pt x="1501166" y="20374"/>
                    </a:cubicBezTo>
                    <a:lnTo>
                      <a:pt x="1501166" y="185751"/>
                    </a:lnTo>
                    <a:cubicBezTo>
                      <a:pt x="1501166" y="191155"/>
                      <a:pt x="1499020" y="196337"/>
                      <a:pt x="1495199" y="200158"/>
                    </a:cubicBezTo>
                    <a:cubicBezTo>
                      <a:pt x="1491378" y="203979"/>
                      <a:pt x="1486195" y="206125"/>
                      <a:pt x="1480792" y="206125"/>
                    </a:cubicBezTo>
                    <a:lnTo>
                      <a:pt x="20374" y="206125"/>
                    </a:lnTo>
                    <a:cubicBezTo>
                      <a:pt x="14971" y="206125"/>
                      <a:pt x="9788" y="203979"/>
                      <a:pt x="5968" y="200158"/>
                    </a:cubicBezTo>
                    <a:cubicBezTo>
                      <a:pt x="2147" y="196337"/>
                      <a:pt x="0" y="191155"/>
                      <a:pt x="0" y="185751"/>
                    </a:cubicBezTo>
                    <a:lnTo>
                      <a:pt x="0" y="20374"/>
                    </a:lnTo>
                    <a:cubicBezTo>
                      <a:pt x="0" y="14971"/>
                      <a:pt x="2147" y="9788"/>
                      <a:pt x="5968" y="5968"/>
                    </a:cubicBezTo>
                    <a:cubicBezTo>
                      <a:pt x="9788" y="2147"/>
                      <a:pt x="14971" y="0"/>
                      <a:pt x="20374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011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9036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83426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tipos_dados_enumerados.py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1555115"/>
            <a:ext cx="16576040" cy="490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Vamos aplicar o que aprendemos na nossa função de cores do semáforo: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enum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Enum, auto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(Enum):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VERMELHO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AMARELO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VERDE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1280" y="1555115"/>
            <a:ext cx="16576040" cy="737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-&gt;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VERMELHO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VERDE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elif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VERDE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AMARELO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B45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# Cor atual é amarelo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  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VERMELHO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     </a:t>
            </a:r>
            <a:r>
              <a:rPr lang="en-US" sz="2799">
                <a:solidFill>
                  <a:srgbClr val="38B6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proxima_cor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...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99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7599654" cy="1043510"/>
              <a:chOff x="0" y="0"/>
              <a:chExt cx="1501166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501166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501166">
                    <a:moveTo>
                      <a:pt x="20374" y="0"/>
                    </a:moveTo>
                    <a:lnTo>
                      <a:pt x="1480792" y="0"/>
                    </a:lnTo>
                    <a:cubicBezTo>
                      <a:pt x="1486195" y="0"/>
                      <a:pt x="1491378" y="2147"/>
                      <a:pt x="1495199" y="5968"/>
                    </a:cubicBezTo>
                    <a:cubicBezTo>
                      <a:pt x="1499020" y="9788"/>
                      <a:pt x="1501166" y="14971"/>
                      <a:pt x="1501166" y="20374"/>
                    </a:cubicBezTo>
                    <a:lnTo>
                      <a:pt x="1501166" y="185751"/>
                    </a:lnTo>
                    <a:cubicBezTo>
                      <a:pt x="1501166" y="191155"/>
                      <a:pt x="1499020" y="196337"/>
                      <a:pt x="1495199" y="200158"/>
                    </a:cubicBezTo>
                    <a:cubicBezTo>
                      <a:pt x="1491378" y="203979"/>
                      <a:pt x="1486195" y="206125"/>
                      <a:pt x="1480792" y="206125"/>
                    </a:cubicBezTo>
                    <a:lnTo>
                      <a:pt x="20374" y="206125"/>
                    </a:lnTo>
                    <a:cubicBezTo>
                      <a:pt x="14971" y="206125"/>
                      <a:pt x="9788" y="203979"/>
                      <a:pt x="5968" y="200158"/>
                    </a:cubicBezTo>
                    <a:cubicBezTo>
                      <a:pt x="2147" y="196337"/>
                      <a:pt x="0" y="191155"/>
                      <a:pt x="0" y="185751"/>
                    </a:cubicBezTo>
                    <a:lnTo>
                      <a:pt x="0" y="20374"/>
                    </a:lnTo>
                    <a:cubicBezTo>
                      <a:pt x="0" y="14971"/>
                      <a:pt x="2147" y="9788"/>
                      <a:pt x="5968" y="5968"/>
                    </a:cubicBezTo>
                    <a:cubicBezTo>
                      <a:pt x="9788" y="2147"/>
                      <a:pt x="14971" y="0"/>
                      <a:pt x="20374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501166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903688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683426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tipos_dados_enumerados.py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74240"/>
            <a:ext cx="16576040" cy="551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Dica: Se precisarmos do nome de um valor de um tipo enumerado como string, podemos usar .name() após o valor para obtê-la: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VERMELHO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 cor atual é "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cor_atual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“A cor atual é VERMELHO”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&gt;&gt;&gt; 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"Eu gosto da cor " 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</a:t>
            </a:r>
            <a:r>
              <a:rPr lang="en-US" sz="2799">
                <a:solidFill>
                  <a:srgbClr val="0BFFA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A5D1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VERDE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799">
                <a:solidFill>
                  <a:srgbClr val="F4D07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name</a:t>
            </a:r>
            <a:r>
              <a:rPr lang="en-US" sz="2799">
                <a:solidFill>
                  <a:srgbClr val="E2E8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CD948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“Eu gosto da cor VERDE”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4087749" cy="1043510"/>
              <a:chOff x="0" y="0"/>
              <a:chExt cx="807457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7457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807457">
                    <a:moveTo>
                      <a:pt x="37879" y="0"/>
                    </a:moveTo>
                    <a:lnTo>
                      <a:pt x="769578" y="0"/>
                    </a:lnTo>
                    <a:cubicBezTo>
                      <a:pt x="779624" y="0"/>
                      <a:pt x="789259" y="3991"/>
                      <a:pt x="796362" y="11094"/>
                    </a:cubicBezTo>
                    <a:cubicBezTo>
                      <a:pt x="803466" y="18198"/>
                      <a:pt x="807457" y="27833"/>
                      <a:pt x="807457" y="37879"/>
                    </a:cubicBezTo>
                    <a:lnTo>
                      <a:pt x="807457" y="168247"/>
                    </a:lnTo>
                    <a:cubicBezTo>
                      <a:pt x="807457" y="189167"/>
                      <a:pt x="790498" y="206125"/>
                      <a:pt x="769578" y="206125"/>
                    </a:cubicBezTo>
                    <a:lnTo>
                      <a:pt x="37879" y="206125"/>
                    </a:lnTo>
                    <a:cubicBezTo>
                      <a:pt x="27833" y="206125"/>
                      <a:pt x="18198" y="202135"/>
                      <a:pt x="11094" y="195031"/>
                    </a:cubicBezTo>
                    <a:cubicBezTo>
                      <a:pt x="3991" y="187927"/>
                      <a:pt x="0" y="178293"/>
                      <a:pt x="0" y="168247"/>
                    </a:cubicBezTo>
                    <a:lnTo>
                      <a:pt x="0" y="37879"/>
                    </a:lnTo>
                    <a:cubicBezTo>
                      <a:pt x="0" y="27833"/>
                      <a:pt x="3991" y="18198"/>
                      <a:pt x="11094" y="11094"/>
                    </a:cubicBezTo>
                    <a:cubicBezTo>
                      <a:pt x="18198" y="3991"/>
                      <a:pt x="27833" y="0"/>
                      <a:pt x="37879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807457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42371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3307285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exercicio.py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59671" y="2169477"/>
            <a:ext cx="16576040" cy="799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Você é um game dev de uma empresa de jogos onde está sendo desenvolvido o jogo “Ilha de Esgard”, um jogo RPG de “dark fantasy”, e você ficou responsável por desenvolver o código do jogador!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Você deve criar um jogador, que possui uma classe (que pode ser mago, guerreiro, arqueiro ou tanque), nível, experiência (que pode aumentar e ao chegar em um certo ponto zera para aumentar o nível) e vida.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Faça funções para criar um jogador, aumentar a experiência, para aumentar o nível quando ela passar de um ponto limite, e uma função para dar dano no jogador.</a:t>
            </a:r>
          </a:p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‘’’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9671" y="1123950"/>
            <a:ext cx="1657604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50"/>
              </a:lnSpc>
            </a:pPr>
            <a:r>
              <a:rPr lang="en-US" sz="38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Jogo RPG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924" y="-93824"/>
            <a:ext cx="18426598" cy="10380824"/>
            <a:chOff x="0" y="0"/>
            <a:chExt cx="24568798" cy="1384109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68074"/>
              <a:ext cx="1868196" cy="13273025"/>
              <a:chOff x="0" y="0"/>
              <a:chExt cx="369026" cy="262183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9026" cy="2621832"/>
              </a:xfrm>
              <a:custGeom>
                <a:avLst/>
                <a:gdLst/>
                <a:ahLst/>
                <a:cxnLst/>
                <a:rect r="r" b="b" t="t" l="l"/>
                <a:pathLst>
                  <a:path h="2621832" w="369026">
                    <a:moveTo>
                      <a:pt x="0" y="0"/>
                    </a:moveTo>
                    <a:lnTo>
                      <a:pt x="369026" y="0"/>
                    </a:lnTo>
                    <a:lnTo>
                      <a:pt x="369026" y="2621832"/>
                    </a:lnTo>
                    <a:lnTo>
                      <a:pt x="0" y="2621832"/>
                    </a:lnTo>
                    <a:close/>
                  </a:path>
                </a:pathLst>
              </a:custGeom>
              <a:solidFill>
                <a:srgbClr val="222222"/>
              </a:solidFill>
              <a:ln w="38100" cap="sq">
                <a:solidFill>
                  <a:srgbClr val="44444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369026" cy="27837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r">
                  <a:lnSpc>
                    <a:spcPts val="5039"/>
                  </a:lnSpc>
                </a:pP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5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6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7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8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9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10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11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12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13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14 </a:t>
                </a:r>
              </a:p>
              <a:p>
                <a:pPr algn="r">
                  <a:lnSpc>
                    <a:spcPts val="4899"/>
                  </a:lnSpc>
                </a:pPr>
                <a:r>
                  <a:rPr lang="en-US" sz="2799">
                    <a:solidFill>
                      <a:srgbClr val="9B9B9B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15 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61599" y="0"/>
              <a:ext cx="24507199" cy="1471299"/>
              <a:chOff x="0" y="0"/>
              <a:chExt cx="4840928" cy="29062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40928" cy="290627"/>
              </a:xfrm>
              <a:custGeom>
                <a:avLst/>
                <a:gdLst/>
                <a:ahLst/>
                <a:cxnLst/>
                <a:rect r="r" b="b" t="t" l="l"/>
                <a:pathLst>
                  <a:path h="290627" w="4840928">
                    <a:moveTo>
                      <a:pt x="0" y="0"/>
                    </a:moveTo>
                    <a:lnTo>
                      <a:pt x="4840928" y="0"/>
                    </a:lnTo>
                    <a:lnTo>
                      <a:pt x="4840928" y="290627"/>
                    </a:lnTo>
                    <a:lnTo>
                      <a:pt x="0" y="290627"/>
                    </a:lnTo>
                    <a:close/>
                  </a:path>
                </a:pathLst>
              </a:custGeom>
              <a:solidFill>
                <a:srgbClr val="4444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40928" cy="3287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2597" y="554790"/>
              <a:ext cx="361720" cy="361720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505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6759" y="554790"/>
              <a:ext cx="361720" cy="36172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4D074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30879" y="554790"/>
              <a:ext cx="361720" cy="36172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6D673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868196" y="554790"/>
              <a:ext cx="5414469" cy="1043510"/>
              <a:chOff x="0" y="0"/>
              <a:chExt cx="1069525" cy="2061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69525" cy="206125"/>
              </a:xfrm>
              <a:custGeom>
                <a:avLst/>
                <a:gdLst/>
                <a:ahLst/>
                <a:cxnLst/>
                <a:rect r="r" b="b" t="t" l="l"/>
                <a:pathLst>
                  <a:path h="206125" w="1069525">
                    <a:moveTo>
                      <a:pt x="28597" y="0"/>
                    </a:moveTo>
                    <a:lnTo>
                      <a:pt x="1040927" y="0"/>
                    </a:lnTo>
                    <a:cubicBezTo>
                      <a:pt x="1056721" y="0"/>
                      <a:pt x="1069525" y="12803"/>
                      <a:pt x="1069525" y="28597"/>
                    </a:cubicBezTo>
                    <a:lnTo>
                      <a:pt x="1069525" y="177528"/>
                    </a:lnTo>
                    <a:cubicBezTo>
                      <a:pt x="1069525" y="193322"/>
                      <a:pt x="1056721" y="206125"/>
                      <a:pt x="1040927" y="206125"/>
                    </a:cubicBezTo>
                    <a:lnTo>
                      <a:pt x="28597" y="206125"/>
                    </a:lnTo>
                    <a:cubicBezTo>
                      <a:pt x="12803" y="206125"/>
                      <a:pt x="0" y="193322"/>
                      <a:pt x="0" y="177528"/>
                    </a:cubicBezTo>
                    <a:lnTo>
                      <a:pt x="0" y="28597"/>
                    </a:lnTo>
                    <a:cubicBezTo>
                      <a:pt x="0" y="12803"/>
                      <a:pt x="12803" y="0"/>
                      <a:pt x="28597" y="0"/>
                    </a:cubicBezTo>
                    <a:close/>
                  </a:path>
                </a:pathLst>
              </a:custGeom>
              <a:solidFill>
                <a:srgbClr val="222222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69525" cy="24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724300" y="838445"/>
              <a:ext cx="224631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9B9B9B"/>
                  </a:solidFill>
                  <a:latin typeface="Lucida Console"/>
                  <a:ea typeface="Lucida Console"/>
                  <a:cs typeface="Lucida Console"/>
                  <a:sym typeface="Lucida Console"/>
                </a:rPr>
                <a:t>X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9427" y="763092"/>
              <a:ext cx="4732891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E2E8E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agradecimentos.py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115468" y="5186603"/>
            <a:ext cx="4057064" cy="4071697"/>
          </a:xfrm>
          <a:custGeom>
            <a:avLst/>
            <a:gdLst/>
            <a:ahLst/>
            <a:cxnLst/>
            <a:rect r="r" b="b" t="t" l="l"/>
            <a:pathLst>
              <a:path h="4071697" w="4057064">
                <a:moveTo>
                  <a:pt x="0" y="0"/>
                </a:moveTo>
                <a:lnTo>
                  <a:pt x="4057064" y="0"/>
                </a:lnTo>
                <a:lnTo>
                  <a:pt x="4057064" y="4071697"/>
                </a:lnTo>
                <a:lnTo>
                  <a:pt x="0" y="4071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20" t="-10422" r="-10820" b="-10781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59671" y="2400300"/>
            <a:ext cx="16576040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52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#           </a:t>
            </a:r>
            <a:r>
              <a:rPr lang="en-US" sz="5200" b="true">
                <a:solidFill>
                  <a:srgbClr val="42A458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MUITO OBRIGADO!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9671" y="4332490"/>
            <a:ext cx="1657604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2799">
                <a:solidFill>
                  <a:srgbClr val="42A4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                       Pesquisa de Feedback 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DAHTVhKsb-4</dc:identifier>
  <dcterms:modified xsi:type="dcterms:W3CDTF">2011-08-01T06:04:30Z</dcterms:modified>
  <cp:revision>1</cp:revision>
  <dc:title>Slides Capacitação Python Dia 4</dc:title>
</cp:coreProperties>
</file>